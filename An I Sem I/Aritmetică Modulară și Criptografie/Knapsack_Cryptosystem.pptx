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6" d="100"/>
          <a:sy n="106" d="100"/>
        </p:scale>
        <p:origin x="176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98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661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8749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44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5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97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92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0381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718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17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366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5979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780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4979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6032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9276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241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42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ro.wikipedia.org/wiki/Problema_rucsacului" TargetMode="External"/><Relationship Id="rId2" Type="http://schemas.openxmlformats.org/officeDocument/2006/relationships/hyperlink" Target="https://www.geeksforgeeks.org/computer-networks/knapsack-encryption-algorithm-in-cryptography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knapsack-encryption-algorithm-in-cryptography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4E43EB-867C-4B35-9A5C-E435157C7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C0F5DA-B59F-4F13-8BB8-FFD8F2C57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9CEA1DEC-CC9E-4776-9E08-048A15BFA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19429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CE399CF-F4B8-4832-A8CB-B93F6B1EF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122264" y="751601"/>
            <a:ext cx="6053670" cy="5354799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1F23E73A-FDC8-462C-83C1-3AA8961449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565" y="1130603"/>
            <a:ext cx="2506831" cy="4596794"/>
          </a:xfrm>
        </p:spPr>
        <p:txBody>
          <a:bodyPr anchor="ctr">
            <a:normAutofit/>
          </a:bodyPr>
          <a:lstStyle/>
          <a:p>
            <a:r>
              <a:rPr lang="en-US" sz="2600">
                <a:solidFill>
                  <a:srgbClr val="EBEBEB"/>
                </a:solidFill>
              </a:rPr>
              <a:t>Knapsack Cryptosystem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7557" y="437513"/>
            <a:ext cx="4126961" cy="595432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/>
          </a:p>
          <a:p>
            <a:pPr marL="0" indent="0">
              <a:buNone/>
            </a:pPr>
            <a:r>
              <a:rPr lang="en-US" sz="1700"/>
              <a:t>Busnatu Flavia-Paula</a:t>
            </a:r>
          </a:p>
          <a:p>
            <a:pPr marL="0" indent="0">
              <a:buNone/>
            </a:pPr>
            <a:r>
              <a:rPr lang="en-US" sz="1700"/>
              <a:t>Peter Oana-Miruna</a:t>
            </a:r>
          </a:p>
          <a:p>
            <a:pPr marL="0" indent="0">
              <a:buNone/>
            </a:pPr>
            <a:r>
              <a:rPr lang="en-US" sz="1700"/>
              <a:t>Georgescu Ioana Maria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Cuprins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Introducere</a:t>
            </a:r>
          </a:p>
          <a:p>
            <a:r>
              <a:t>Problema rucsacului</a:t>
            </a:r>
          </a:p>
          <a:p>
            <a:r>
              <a:t>Ideea criptosistemului</a:t>
            </a:r>
          </a:p>
          <a:p>
            <a:r>
              <a:t>Criptare și decriptare</a:t>
            </a:r>
          </a:p>
          <a:p>
            <a:r>
              <a:t>Securitate</a:t>
            </a:r>
          </a:p>
          <a:p>
            <a:r>
              <a:t>Concluzii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Introducere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Algoritmul</a:t>
            </a:r>
            <a:r>
              <a:rPr lang="en-US" dirty="0"/>
              <a:t> de </a:t>
            </a:r>
            <a:r>
              <a:rPr lang="en-US" dirty="0" err="1"/>
              <a:t>Criptare</a:t>
            </a:r>
            <a:r>
              <a:rPr lang="en-US" dirty="0"/>
              <a:t> Knapsack, </a:t>
            </a:r>
            <a:r>
              <a:rPr lang="en-US" dirty="0" err="1"/>
              <a:t>cunoscut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sub </a:t>
            </a:r>
            <a:r>
              <a:rPr lang="en-US" dirty="0" err="1"/>
              <a:t>numele</a:t>
            </a:r>
            <a:r>
              <a:rPr lang="en-US" dirty="0"/>
              <a:t> de </a:t>
            </a:r>
            <a:r>
              <a:rPr lang="en-US" dirty="0" err="1"/>
              <a:t>criptosistemul</a:t>
            </a:r>
            <a:r>
              <a:rPr lang="en-US" dirty="0"/>
              <a:t> Merkle-Hellman,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unul</a:t>
            </a:r>
            <a:r>
              <a:rPr lang="en-US" dirty="0"/>
              <a:t> </a:t>
            </a:r>
            <a:r>
              <a:rPr lang="en-US" dirty="0" err="1"/>
              <a:t>dintre</a:t>
            </a:r>
            <a:r>
              <a:rPr lang="en-US" dirty="0"/>
              <a:t> </a:t>
            </a:r>
            <a:r>
              <a:rPr lang="en-US" dirty="0" err="1"/>
              <a:t>cele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vechi</a:t>
            </a:r>
            <a:r>
              <a:rPr lang="en-US" dirty="0"/>
              <a:t> </a:t>
            </a:r>
            <a:r>
              <a:rPr lang="en-US" dirty="0" err="1"/>
              <a:t>criptosisteme</a:t>
            </a:r>
            <a:r>
              <a:rPr lang="en-US" dirty="0"/>
              <a:t> cu </a:t>
            </a:r>
            <a:r>
              <a:rPr lang="en-US" dirty="0" err="1"/>
              <a:t>cheie</a:t>
            </a:r>
            <a:r>
              <a:rPr lang="en-US" dirty="0"/>
              <a:t> </a:t>
            </a:r>
            <a:r>
              <a:rPr lang="en-US" dirty="0" err="1"/>
              <a:t>publică</a:t>
            </a:r>
            <a:r>
              <a:rPr lang="en-US" dirty="0"/>
              <a:t>. </a:t>
            </a:r>
          </a:p>
          <a:p>
            <a:r>
              <a:rPr lang="en-US" dirty="0" err="1"/>
              <a:t>Dezvoltat</a:t>
            </a:r>
            <a:r>
              <a:rPr lang="en-US" dirty="0"/>
              <a:t> de Ralph Merkle </a:t>
            </a:r>
            <a:r>
              <a:rPr lang="en-US" dirty="0" err="1"/>
              <a:t>și</a:t>
            </a:r>
            <a:r>
              <a:rPr lang="en-US" dirty="0"/>
              <a:t> Martin Hellman </a:t>
            </a:r>
            <a:r>
              <a:rPr lang="en-US" dirty="0" err="1"/>
              <a:t>în</a:t>
            </a:r>
            <a:r>
              <a:rPr lang="en-US" dirty="0"/>
              <a:t> 1978, </a:t>
            </a:r>
            <a:r>
              <a:rPr lang="en-US" dirty="0" err="1"/>
              <a:t>acesta</a:t>
            </a:r>
            <a:r>
              <a:rPr lang="en-US" dirty="0"/>
              <a:t> </a:t>
            </a:r>
            <a:r>
              <a:rPr lang="en-US" dirty="0" err="1"/>
              <a:t>folosește</a:t>
            </a:r>
            <a:r>
              <a:rPr lang="en-US" dirty="0"/>
              <a:t>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rucsacului</a:t>
            </a:r>
            <a:r>
              <a:rPr lang="en-US" dirty="0"/>
              <a:t>, o </a:t>
            </a:r>
            <a:r>
              <a:rPr lang="en-US" dirty="0" err="1"/>
              <a:t>problemă</a:t>
            </a:r>
            <a:r>
              <a:rPr lang="en-US" dirty="0"/>
              <a:t> </a:t>
            </a:r>
            <a:r>
              <a:rPr lang="en-US" dirty="0" err="1"/>
              <a:t>clasică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combinatorică</a:t>
            </a:r>
            <a:r>
              <a:rPr lang="en-US" dirty="0"/>
              <a:t>,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securiza</a:t>
            </a:r>
            <a:r>
              <a:rPr lang="en-US" dirty="0"/>
              <a:t> </a:t>
            </a:r>
            <a:r>
              <a:rPr lang="en-US" dirty="0" err="1"/>
              <a:t>datele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comunicațiile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F70C2B8F-6B1B-46D5-86E6-40F36C69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8" name="Freeform 5">
            <a:extLst>
              <a:ext uri="{FF2B5EF4-FFF2-40B4-BE49-F238E27FC236}">
                <a16:creationId xmlns:a16="http://schemas.microsoft.com/office/drawing/2014/main" id="{DB521824-592C-476A-AB0A-CA0C6D1F3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11338" y="1881194"/>
            <a:ext cx="3299407" cy="330693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A2749EFA-8EE4-4EB8-9424-8E593B932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3706465" y="1335800"/>
            <a:ext cx="6053670" cy="4186400"/>
          </a:xfrm>
          <a:custGeom>
            <a:avLst/>
            <a:gdLst>
              <a:gd name="connsiteX0" fmla="*/ 6053670 w 6053670"/>
              <a:gd name="connsiteY0" fmla="*/ 1098 h 5581866"/>
              <a:gd name="connsiteX1" fmla="*/ 6053670 w 6053670"/>
              <a:gd name="connsiteY1" fmla="*/ 514028 h 5581866"/>
              <a:gd name="connsiteX2" fmla="*/ 6053670 w 6053670"/>
              <a:gd name="connsiteY2" fmla="*/ 1254558 h 5581866"/>
              <a:gd name="connsiteX3" fmla="*/ 6053670 w 6053670"/>
              <a:gd name="connsiteY3" fmla="*/ 5581866 h 5581866"/>
              <a:gd name="connsiteX4" fmla="*/ 0 w 6053670"/>
              <a:gd name="connsiteY4" fmla="*/ 5581866 h 5581866"/>
              <a:gd name="connsiteX5" fmla="*/ 0 w 6053670"/>
              <a:gd name="connsiteY5" fmla="*/ 1249853 h 5581866"/>
              <a:gd name="connsiteX6" fmla="*/ 0 w 6053670"/>
              <a:gd name="connsiteY6" fmla="*/ 514028 h 5581866"/>
              <a:gd name="connsiteX7" fmla="*/ 0 w 6053670"/>
              <a:gd name="connsiteY7" fmla="*/ 0 h 5581866"/>
              <a:gd name="connsiteX8" fmla="*/ 35717 w 6053670"/>
              <a:gd name="connsiteY8" fmla="*/ 5488 h 5581866"/>
              <a:gd name="connsiteX9" fmla="*/ 140445 w 6053670"/>
              <a:gd name="connsiteY9" fmla="*/ 21641 h 5581866"/>
              <a:gd name="connsiteX10" fmla="*/ 216722 w 6053670"/>
              <a:gd name="connsiteY10" fmla="*/ 32932 h 5581866"/>
              <a:gd name="connsiteX11" fmla="*/ 307527 w 6053670"/>
              <a:gd name="connsiteY11" fmla="*/ 44850 h 5581866"/>
              <a:gd name="connsiteX12" fmla="*/ 415282 w 6053670"/>
              <a:gd name="connsiteY12" fmla="*/ 59121 h 5581866"/>
              <a:gd name="connsiteX13" fmla="*/ 534539 w 6053670"/>
              <a:gd name="connsiteY13" fmla="*/ 74175 h 5581866"/>
              <a:gd name="connsiteX14" fmla="*/ 668931 w 6053670"/>
              <a:gd name="connsiteY14" fmla="*/ 90014 h 5581866"/>
              <a:gd name="connsiteX15" fmla="*/ 815430 w 6053670"/>
              <a:gd name="connsiteY15" fmla="*/ 106794 h 5581866"/>
              <a:gd name="connsiteX16" fmla="*/ 974641 w 6053670"/>
              <a:gd name="connsiteY16" fmla="*/ 123574 h 5581866"/>
              <a:gd name="connsiteX17" fmla="*/ 1144144 w 6053670"/>
              <a:gd name="connsiteY17" fmla="*/ 140667 h 5581866"/>
              <a:gd name="connsiteX18" fmla="*/ 1326965 w 6053670"/>
              <a:gd name="connsiteY18" fmla="*/ 156506 h 5581866"/>
              <a:gd name="connsiteX19" fmla="*/ 1518261 w 6053670"/>
              <a:gd name="connsiteY19" fmla="*/ 171717 h 5581866"/>
              <a:gd name="connsiteX20" fmla="*/ 1720453 w 6053670"/>
              <a:gd name="connsiteY20" fmla="*/ 185518 h 5581866"/>
              <a:gd name="connsiteX21" fmla="*/ 1931121 w 6053670"/>
              <a:gd name="connsiteY21" fmla="*/ 198690 h 5581866"/>
              <a:gd name="connsiteX22" fmla="*/ 2150869 w 6053670"/>
              <a:gd name="connsiteY22" fmla="*/ 211079 h 5581866"/>
              <a:gd name="connsiteX23" fmla="*/ 2263467 w 6053670"/>
              <a:gd name="connsiteY23" fmla="*/ 215470 h 5581866"/>
              <a:gd name="connsiteX24" fmla="*/ 2378487 w 6053670"/>
              <a:gd name="connsiteY24" fmla="*/ 220332 h 5581866"/>
              <a:gd name="connsiteX25" fmla="*/ 2495323 w 6053670"/>
              <a:gd name="connsiteY25" fmla="*/ 224879 h 5581866"/>
              <a:gd name="connsiteX26" fmla="*/ 2612764 w 6053670"/>
              <a:gd name="connsiteY26" fmla="*/ 227859 h 5581866"/>
              <a:gd name="connsiteX27" fmla="*/ 2732627 w 6053670"/>
              <a:gd name="connsiteY27" fmla="*/ 230525 h 5581866"/>
              <a:gd name="connsiteX28" fmla="*/ 2853700 w 6053670"/>
              <a:gd name="connsiteY28" fmla="*/ 233348 h 5581866"/>
              <a:gd name="connsiteX29" fmla="*/ 2977195 w 6053670"/>
              <a:gd name="connsiteY29" fmla="*/ 235229 h 5581866"/>
              <a:gd name="connsiteX30" fmla="*/ 3101900 w 6053670"/>
              <a:gd name="connsiteY30" fmla="*/ 235229 h 5581866"/>
              <a:gd name="connsiteX31" fmla="*/ 3227817 w 6053670"/>
              <a:gd name="connsiteY31" fmla="*/ 236170 h 5581866"/>
              <a:gd name="connsiteX32" fmla="*/ 3354944 w 6053670"/>
              <a:gd name="connsiteY32" fmla="*/ 235229 h 5581866"/>
              <a:gd name="connsiteX33" fmla="*/ 3483887 w 6053670"/>
              <a:gd name="connsiteY33" fmla="*/ 233348 h 5581866"/>
              <a:gd name="connsiteX34" fmla="*/ 3612830 w 6053670"/>
              <a:gd name="connsiteY34" fmla="*/ 231623 h 5581866"/>
              <a:gd name="connsiteX35" fmla="*/ 3743589 w 6053670"/>
              <a:gd name="connsiteY35" fmla="*/ 227859 h 5581866"/>
              <a:gd name="connsiteX36" fmla="*/ 3875559 w 6053670"/>
              <a:gd name="connsiteY36" fmla="*/ 223938 h 5581866"/>
              <a:gd name="connsiteX37" fmla="*/ 4007529 w 6053670"/>
              <a:gd name="connsiteY37" fmla="*/ 219391 h 5581866"/>
              <a:gd name="connsiteX38" fmla="*/ 4140710 w 6053670"/>
              <a:gd name="connsiteY38" fmla="*/ 212961 h 5581866"/>
              <a:gd name="connsiteX39" fmla="*/ 4275102 w 6053670"/>
              <a:gd name="connsiteY39" fmla="*/ 205277 h 5581866"/>
              <a:gd name="connsiteX40" fmla="*/ 4410098 w 6053670"/>
              <a:gd name="connsiteY40" fmla="*/ 197907 h 5581866"/>
              <a:gd name="connsiteX41" fmla="*/ 4545096 w 6053670"/>
              <a:gd name="connsiteY41" fmla="*/ 188498 h 5581866"/>
              <a:gd name="connsiteX42" fmla="*/ 4681909 w 6053670"/>
              <a:gd name="connsiteY42" fmla="*/ 177207 h 5581866"/>
              <a:gd name="connsiteX43" fmla="*/ 4816905 w 6053670"/>
              <a:gd name="connsiteY43" fmla="*/ 165916 h 5581866"/>
              <a:gd name="connsiteX44" fmla="*/ 4954323 w 6053670"/>
              <a:gd name="connsiteY44" fmla="*/ 152899 h 5581866"/>
              <a:gd name="connsiteX45" fmla="*/ 5092347 w 6053670"/>
              <a:gd name="connsiteY45" fmla="*/ 138629 h 5581866"/>
              <a:gd name="connsiteX46" fmla="*/ 5228555 w 6053670"/>
              <a:gd name="connsiteY46" fmla="*/ 123574 h 5581866"/>
              <a:gd name="connsiteX47" fmla="*/ 5366578 w 6053670"/>
              <a:gd name="connsiteY47" fmla="*/ 106010 h 5581866"/>
              <a:gd name="connsiteX48" fmla="*/ 5503997 w 6053670"/>
              <a:gd name="connsiteY48" fmla="*/ 87192 h 5581866"/>
              <a:gd name="connsiteX49" fmla="*/ 5642020 w 6053670"/>
              <a:gd name="connsiteY49" fmla="*/ 68530 h 5581866"/>
              <a:gd name="connsiteX50" fmla="*/ 5779438 w 6053670"/>
              <a:gd name="connsiteY50" fmla="*/ 46733 h 5581866"/>
              <a:gd name="connsiteX51" fmla="*/ 5916251 w 6053670"/>
              <a:gd name="connsiteY51" fmla="*/ 24464 h 5581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5581866">
                <a:moveTo>
                  <a:pt x="6053670" y="1098"/>
                </a:moveTo>
                <a:lnTo>
                  <a:pt x="6053670" y="514028"/>
                </a:lnTo>
                <a:lnTo>
                  <a:pt x="6053670" y="1254558"/>
                </a:lnTo>
                <a:lnTo>
                  <a:pt x="6053670" y="5581866"/>
                </a:lnTo>
                <a:lnTo>
                  <a:pt x="0" y="5581866"/>
                </a:lnTo>
                <a:lnTo>
                  <a:pt x="0" y="1249853"/>
                </a:lnTo>
                <a:lnTo>
                  <a:pt x="0" y="514028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0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89" y="227859"/>
                </a:lnTo>
                <a:lnTo>
                  <a:pt x="3875559" y="223938"/>
                </a:lnTo>
                <a:lnTo>
                  <a:pt x="4007529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2" name="Freeform 5">
            <a:extLst>
              <a:ext uri="{FF2B5EF4-FFF2-40B4-BE49-F238E27FC236}">
                <a16:creationId xmlns:a16="http://schemas.microsoft.com/office/drawing/2014/main" id="{B5C860C9-D4F9-4350-80DA-0D1CD36C77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9144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9323" y="629265"/>
            <a:ext cx="3849329" cy="1622322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Problema Rucsacului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A7A94BB-F9BD-256A-6AF6-C3FBFEC6BF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127" y="1866952"/>
            <a:ext cx="3621530" cy="314167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38A90C8-AE0E-4EBA-9AF8-EEDB20602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28359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9323" y="2418735"/>
            <a:ext cx="3849329" cy="381174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Problema rucsacului este o problemă de optimizare combinatorică 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Dat un set de numere întregi pozitive și o valoare țintă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Obiectiv: să se determine dacă există o submulțime a numerelor a cărei sumă este exact valoarea țintă</a:t>
            </a:r>
          </a:p>
          <a:p>
            <a:pPr>
              <a:lnSpc>
                <a:spcPct val="90000"/>
              </a:lnSpc>
            </a:pPr>
            <a:r>
              <a:rPr lang="en-US">
                <a:solidFill>
                  <a:srgbClr val="FFFFFF"/>
                </a:solidFill>
              </a:rPr>
              <a:t>În forma generală este o problemă </a:t>
            </a:r>
            <a:r>
              <a:rPr lang="en-US" b="1">
                <a:solidFill>
                  <a:srgbClr val="FFFFFF"/>
                </a:solidFill>
              </a:rPr>
              <a:t>NP-completă</a:t>
            </a:r>
            <a:r>
              <a:rPr lang="en-US">
                <a:solidFill>
                  <a:srgbClr val="FFFFFF"/>
                </a:solidFill>
              </a:rPr>
              <a:t>, deci dificil de rezolvat eficient pentru dimensiuni mari</a:t>
            </a:r>
          </a:p>
          <a:p>
            <a:pPr>
              <a:lnSpc>
                <a:spcPct val="90000"/>
              </a:lnSpc>
            </a:pPr>
            <a:endParaRPr lang="en-US">
              <a:solidFill>
                <a:srgbClr val="FFFFFF"/>
              </a:solidFill>
            </a:endParaRPr>
          </a:p>
          <a:p>
            <a:pPr>
              <a:lnSpc>
                <a:spcPct val="90000"/>
              </a:lnSpc>
            </a:pPr>
            <a:endParaRPr lang="en-US">
              <a:solidFill>
                <a:srgbClr val="FFFFFF"/>
              </a:solidFill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Tipuri de Knapsack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1" y="2489200"/>
            <a:ext cx="6677155" cy="3530600"/>
          </a:xfrm>
        </p:spPr>
        <p:txBody>
          <a:bodyPr/>
          <a:lstStyle/>
          <a:p>
            <a:r>
              <a:rPr lang="en-US" dirty="0"/>
              <a:t>Knapsack general – </a:t>
            </a:r>
            <a:r>
              <a:rPr lang="en-US" dirty="0" err="1"/>
              <a:t>dificil</a:t>
            </a:r>
            <a:r>
              <a:rPr lang="en-US" dirty="0"/>
              <a:t> de </a:t>
            </a:r>
            <a:r>
              <a:rPr lang="en-US" dirty="0" err="1"/>
              <a:t>rezolvat</a:t>
            </a:r>
            <a:endParaRPr dirty="0"/>
          </a:p>
          <a:p>
            <a:r>
              <a:rPr lang="en-US" dirty="0"/>
              <a:t>Knapsack </a:t>
            </a:r>
            <a:r>
              <a:rPr lang="en-US" dirty="0" err="1"/>
              <a:t>supercrescător</a:t>
            </a:r>
            <a:r>
              <a:rPr lang="en-US" dirty="0"/>
              <a:t> – </a:t>
            </a:r>
            <a:r>
              <a:rPr lang="en-US" dirty="0" err="1"/>
              <a:t>ușor</a:t>
            </a:r>
            <a:r>
              <a:rPr lang="en-US" dirty="0"/>
              <a:t> de </a:t>
            </a:r>
            <a:r>
              <a:rPr lang="en-US" dirty="0" err="1"/>
              <a:t>rezolvat</a:t>
            </a:r>
            <a:endParaRPr dirty="0"/>
          </a:p>
          <a:p>
            <a:r>
              <a:rPr lang="sv-SE" dirty="0"/>
              <a:t>Knapsack binar (0/1) – fiecare element este ales sau nu</a:t>
            </a:r>
          </a:p>
          <a:p>
            <a:r>
              <a:rPr lang="en-US" dirty="0" err="1"/>
              <a:t>Criptosistemul</a:t>
            </a:r>
            <a:r>
              <a:rPr lang="en-US" dirty="0"/>
              <a:t> Knapsack </a:t>
            </a:r>
            <a:r>
              <a:rPr lang="en-US" dirty="0" err="1"/>
              <a:t>folosește</a:t>
            </a:r>
            <a:r>
              <a:rPr lang="en-US" dirty="0"/>
              <a:t> </a:t>
            </a:r>
            <a:r>
              <a:rPr lang="en-US" dirty="0" err="1"/>
              <a:t>varianta</a:t>
            </a:r>
            <a:r>
              <a:rPr lang="en-US" dirty="0"/>
              <a:t> </a:t>
            </a:r>
            <a:r>
              <a:rPr lang="en-US" dirty="0" err="1"/>
              <a:t>supercrescătoare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Knapsack Supercrescător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6649994" cy="3530600"/>
          </a:xfrm>
        </p:spPr>
        <p:txBody>
          <a:bodyPr/>
          <a:lstStyle/>
          <a:p>
            <a:r>
              <a:rPr lang="en-US" dirty="0"/>
              <a:t>O </a:t>
            </a:r>
            <a:r>
              <a:rPr lang="en-US" dirty="0" err="1"/>
              <a:t>secvență</a:t>
            </a:r>
            <a:r>
              <a:rPr lang="en-US" dirty="0"/>
              <a:t> de </a:t>
            </a:r>
            <a:r>
              <a:rPr lang="en-US" dirty="0" err="1"/>
              <a:t>numere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fiecare</a:t>
            </a:r>
            <a:r>
              <a:rPr lang="en-US" dirty="0"/>
              <a:t> element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mare </a:t>
            </a:r>
            <a:r>
              <a:rPr lang="en-US" dirty="0" err="1"/>
              <a:t>decât</a:t>
            </a:r>
            <a:r>
              <a:rPr lang="en-US" dirty="0"/>
              <a:t>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tuturor</a:t>
            </a:r>
            <a:r>
              <a:rPr lang="en-US" dirty="0"/>
              <a:t> </a:t>
            </a:r>
            <a:r>
              <a:rPr lang="en-US" dirty="0" err="1"/>
              <a:t>celor</a:t>
            </a:r>
            <a:r>
              <a:rPr lang="en-US" dirty="0"/>
              <a:t> </a:t>
            </a:r>
            <a:r>
              <a:rPr lang="en-US" dirty="0" err="1"/>
              <a:t>precedente</a:t>
            </a:r>
            <a:endParaRPr lang="en-US" dirty="0"/>
          </a:p>
          <a:p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tip de </a:t>
            </a:r>
            <a:r>
              <a:rPr lang="en-US" dirty="0" err="1"/>
              <a:t>secvență</a:t>
            </a:r>
            <a:r>
              <a:rPr lang="en-US" dirty="0"/>
              <a:t> </a:t>
            </a:r>
            <a:r>
              <a:rPr lang="en-US" dirty="0" err="1"/>
              <a:t>există</a:t>
            </a:r>
            <a:r>
              <a:rPr lang="en-US" dirty="0"/>
              <a:t> un </a:t>
            </a:r>
            <a:r>
              <a:rPr lang="en-US" dirty="0" err="1"/>
              <a:t>algoritm</a:t>
            </a:r>
            <a:r>
              <a:rPr lang="en-US" dirty="0"/>
              <a:t> greedy </a:t>
            </a:r>
            <a:r>
              <a:rPr lang="en-US" dirty="0" err="1"/>
              <a:t>eficient</a:t>
            </a:r>
            <a:endParaRPr lang="en-US" dirty="0"/>
          </a:p>
          <a:p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Ideea de Bază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privată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knapsack </a:t>
            </a:r>
            <a:r>
              <a:rPr lang="en-US" dirty="0" err="1"/>
              <a:t>supercrescător</a:t>
            </a:r>
            <a:endParaRPr lang="en-US" dirty="0"/>
          </a:p>
          <a:p>
            <a:r>
              <a:rPr lang="pt-BR" dirty="0"/>
              <a:t>Cheia publică este o versiune „mascată” a acestuia</a:t>
            </a:r>
          </a:p>
          <a:p>
            <a:r>
              <a:rPr lang="en-US" dirty="0" err="1"/>
              <a:t>Transformarea</a:t>
            </a:r>
            <a:r>
              <a:rPr lang="en-US" dirty="0"/>
              <a:t> face </a:t>
            </a:r>
            <a:r>
              <a:rPr lang="en-US" dirty="0" err="1"/>
              <a:t>problema</a:t>
            </a:r>
            <a:r>
              <a:rPr lang="en-US" dirty="0"/>
              <a:t> </a:t>
            </a:r>
            <a:r>
              <a:rPr lang="en-US" dirty="0" err="1"/>
              <a:t>dificilă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atacatori</a:t>
            </a:r>
            <a:endParaRPr lang="en-US" dirty="0"/>
          </a:p>
          <a:p>
            <a:r>
              <a:rPr lang="en-US" dirty="0"/>
              <a:t>Doar </a:t>
            </a:r>
            <a:r>
              <a:rPr lang="en-US" dirty="0" err="1"/>
              <a:t>posesorul</a:t>
            </a:r>
            <a:r>
              <a:rPr lang="en-US" dirty="0"/>
              <a:t> </a:t>
            </a:r>
            <a:r>
              <a:rPr lang="en-US" dirty="0" err="1"/>
              <a:t>cheii</a:t>
            </a:r>
            <a:r>
              <a:rPr lang="en-US" dirty="0"/>
              <a:t> private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decripta</a:t>
            </a:r>
            <a:r>
              <a:rPr lang="en-US" dirty="0"/>
              <a:t> </a:t>
            </a:r>
            <a:r>
              <a:rPr lang="en-US" dirty="0" err="1"/>
              <a:t>eficient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Generarea Cheilor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 </a:t>
            </a:r>
            <a:r>
              <a:rPr lang="en-US" dirty="0" err="1"/>
              <a:t>alege</a:t>
            </a:r>
            <a:r>
              <a:rPr lang="en-US" dirty="0"/>
              <a:t> un knapsack </a:t>
            </a:r>
            <a:r>
              <a:rPr lang="en-US" dirty="0" err="1"/>
              <a:t>supercrescător</a:t>
            </a:r>
            <a:r>
              <a:rPr lang="en-US" dirty="0"/>
              <a:t> (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privată</a:t>
            </a:r>
            <a:r>
              <a:rPr lang="en-US" dirty="0"/>
              <a:t>)</a:t>
            </a:r>
          </a:p>
          <a:p>
            <a:r>
              <a:rPr lang="it-IT" dirty="0"/>
              <a:t>Se alege un modul M mai mare decât suma elementelor</a:t>
            </a:r>
          </a:p>
          <a:p>
            <a:r>
              <a:rPr lang="it-IT" dirty="0"/>
              <a:t>Se alege un număr W coprim cu M</a:t>
            </a:r>
          </a:p>
          <a:p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publică</a:t>
            </a:r>
            <a:r>
              <a:rPr lang="en-US" dirty="0"/>
              <a:t> se </a:t>
            </a:r>
            <a:r>
              <a:rPr lang="en-US" dirty="0" err="1"/>
              <a:t>obține</a:t>
            </a:r>
            <a:r>
              <a:rPr lang="en-US" dirty="0"/>
              <a:t> </a:t>
            </a:r>
            <a:r>
              <a:rPr lang="en-US" dirty="0" err="1"/>
              <a:t>folosind</a:t>
            </a:r>
            <a:r>
              <a:rPr lang="en-US" dirty="0"/>
              <a:t> </a:t>
            </a:r>
            <a:r>
              <a:rPr lang="en-US" dirty="0" err="1"/>
              <a:t>operații</a:t>
            </a:r>
            <a:r>
              <a:rPr lang="en-US" dirty="0"/>
              <a:t> modulo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Criptarea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Mesajul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reprezentat</a:t>
            </a:r>
            <a:r>
              <a:rPr lang="en-US" dirty="0"/>
              <a:t> sub forma </a:t>
            </a:r>
            <a:r>
              <a:rPr lang="en-US" dirty="0" err="1"/>
              <a:t>unui</a:t>
            </a:r>
            <a:r>
              <a:rPr lang="en-US" dirty="0"/>
              <a:t> vector </a:t>
            </a:r>
            <a:r>
              <a:rPr lang="en-US" dirty="0" err="1"/>
              <a:t>binar</a:t>
            </a:r>
            <a:endParaRPr lang="en-US" dirty="0"/>
          </a:p>
          <a:p>
            <a:r>
              <a:rPr lang="en-US" dirty="0" err="1"/>
              <a:t>Fiecare</a:t>
            </a:r>
            <a:r>
              <a:rPr lang="en-US" dirty="0"/>
              <a:t> bit </a:t>
            </a:r>
            <a:r>
              <a:rPr lang="en-US" dirty="0" err="1"/>
              <a:t>corespunde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element din </a:t>
            </a:r>
            <a:r>
              <a:rPr lang="en-US" dirty="0" err="1"/>
              <a:t>cheia</a:t>
            </a:r>
            <a:r>
              <a:rPr lang="en-US" dirty="0"/>
              <a:t> </a:t>
            </a:r>
            <a:r>
              <a:rPr lang="en-US" dirty="0" err="1"/>
              <a:t>publică</a:t>
            </a:r>
            <a:endParaRPr lang="en-US" dirty="0"/>
          </a:p>
          <a:p>
            <a:r>
              <a:rPr lang="en-US" dirty="0"/>
              <a:t>Se </a:t>
            </a:r>
            <a:r>
              <a:rPr lang="en-US" dirty="0" err="1"/>
              <a:t>calculează</a:t>
            </a:r>
            <a:r>
              <a:rPr lang="en-US" dirty="0"/>
              <a:t> o </a:t>
            </a:r>
            <a:r>
              <a:rPr lang="en-US" dirty="0" err="1"/>
              <a:t>sumă</a:t>
            </a:r>
            <a:r>
              <a:rPr lang="en-US" dirty="0"/>
              <a:t> </a:t>
            </a:r>
            <a:r>
              <a:rPr lang="en-US" dirty="0" err="1"/>
              <a:t>ponderată</a:t>
            </a:r>
            <a:endParaRPr lang="en-US" dirty="0"/>
          </a:p>
          <a:p>
            <a:r>
              <a:rPr lang="en-US" dirty="0" err="1"/>
              <a:t>Rezultatul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</a:t>
            </a:r>
            <a:r>
              <a:rPr lang="en-US" dirty="0" err="1"/>
              <a:t>criptat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Decriptarea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Se folosește cheia privată și inversul lui W modulo M</a:t>
            </a:r>
          </a:p>
          <a:p>
            <a:r>
              <a:rPr lang="en-US" dirty="0"/>
              <a:t>Se </a:t>
            </a:r>
            <a:r>
              <a:rPr lang="en-US" dirty="0" err="1"/>
              <a:t>obține</a:t>
            </a:r>
            <a:r>
              <a:rPr lang="en-US" dirty="0"/>
              <a:t> o </a:t>
            </a:r>
            <a:r>
              <a:rPr lang="en-US" dirty="0" err="1"/>
              <a:t>sumă</a:t>
            </a:r>
            <a:r>
              <a:rPr lang="en-US" dirty="0"/>
              <a:t> </a:t>
            </a:r>
            <a:r>
              <a:rPr lang="en-US" dirty="0" err="1"/>
              <a:t>asociată</a:t>
            </a:r>
            <a:r>
              <a:rPr lang="en-US" dirty="0"/>
              <a:t> knapsack-</a:t>
            </a:r>
            <a:r>
              <a:rPr lang="en-US" dirty="0" err="1"/>
              <a:t>ului</a:t>
            </a:r>
            <a:r>
              <a:rPr lang="en-US" dirty="0"/>
              <a:t> </a:t>
            </a:r>
            <a:r>
              <a:rPr lang="en-US" dirty="0" err="1"/>
              <a:t>supercrescător</a:t>
            </a:r>
            <a:endParaRPr lang="it-IT" dirty="0"/>
          </a:p>
          <a:p>
            <a:r>
              <a:rPr lang="en-US" dirty="0"/>
              <a:t>Se </a:t>
            </a:r>
            <a:r>
              <a:rPr lang="en-US" dirty="0" err="1"/>
              <a:t>aplică</a:t>
            </a:r>
            <a:r>
              <a:rPr lang="en-US" dirty="0"/>
              <a:t> </a:t>
            </a:r>
            <a:r>
              <a:rPr lang="en-US" dirty="0" err="1"/>
              <a:t>algoritmul</a:t>
            </a:r>
            <a:r>
              <a:rPr lang="en-US" dirty="0"/>
              <a:t> greedy</a:t>
            </a:r>
          </a:p>
          <a:p>
            <a:r>
              <a:rPr lang="en-US" dirty="0"/>
              <a:t>Se </a:t>
            </a:r>
            <a:r>
              <a:rPr lang="en-US" dirty="0" err="1"/>
              <a:t>reconstruiește</a:t>
            </a:r>
            <a:r>
              <a:rPr lang="en-US" dirty="0"/>
              <a:t> </a:t>
            </a:r>
            <a:r>
              <a:rPr lang="en-US" dirty="0" err="1"/>
              <a:t>mesajul</a:t>
            </a:r>
            <a:r>
              <a:rPr lang="en-US" dirty="0"/>
              <a:t> original</a:t>
            </a: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Exemplu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Cheie privată: (2,3,7,14,30)</a:t>
            </a:r>
          </a:p>
          <a:p>
            <a:r>
              <a:t>Mesaj: 10101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Avantaje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Concept </a:t>
            </a:r>
            <a:r>
              <a:rPr lang="en-US" dirty="0" err="1"/>
              <a:t>matematic</a:t>
            </a:r>
            <a:r>
              <a:rPr lang="en-US" dirty="0"/>
              <a:t> </a:t>
            </a:r>
            <a:r>
              <a:rPr lang="en-US" dirty="0" err="1"/>
              <a:t>relativ</a:t>
            </a:r>
            <a:r>
              <a:rPr lang="en-US" dirty="0"/>
              <a:t> </a:t>
            </a:r>
            <a:r>
              <a:rPr lang="en-US" dirty="0" err="1"/>
              <a:t>simplu</a:t>
            </a:r>
            <a:endParaRPr dirty="0"/>
          </a:p>
          <a:p>
            <a:r>
              <a:rPr lang="en-US" dirty="0" err="1"/>
              <a:t>Criptare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decriptare</a:t>
            </a:r>
            <a:r>
              <a:rPr lang="en-US" dirty="0"/>
              <a:t> </a:t>
            </a:r>
            <a:r>
              <a:rPr lang="en-US" dirty="0" err="1"/>
              <a:t>rapide</a:t>
            </a:r>
            <a:endParaRPr dirty="0"/>
          </a:p>
          <a:p>
            <a:r>
              <a:rPr lang="en-US" dirty="0" err="1"/>
              <a:t>Importanță</a:t>
            </a:r>
            <a:r>
              <a:rPr lang="en-US" dirty="0"/>
              <a:t> </a:t>
            </a:r>
            <a:r>
              <a:rPr lang="en-US" dirty="0" err="1"/>
              <a:t>istorică</a:t>
            </a:r>
            <a:r>
              <a:rPr lang="en-US" dirty="0"/>
              <a:t> </a:t>
            </a:r>
            <a:r>
              <a:rPr lang="en-US" dirty="0" err="1"/>
              <a:t>majoră</a:t>
            </a:r>
            <a:endParaRPr lang="en-US" dirty="0"/>
          </a:p>
          <a:p>
            <a:r>
              <a:rPr lang="en-US" dirty="0"/>
              <a:t>Bun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scopuri</a:t>
            </a:r>
            <a:r>
              <a:rPr lang="en-US" dirty="0"/>
              <a:t> </a:t>
            </a:r>
            <a:r>
              <a:rPr lang="en-US" dirty="0" err="1"/>
              <a:t>educaționale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Dezavantaje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considerat</a:t>
            </a:r>
            <a:r>
              <a:rPr lang="en-US" dirty="0"/>
              <a:t> </a:t>
            </a:r>
            <a:r>
              <a:rPr lang="en-US" dirty="0" err="1"/>
              <a:t>sigur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present</a:t>
            </a:r>
          </a:p>
          <a:p>
            <a:r>
              <a:rPr lang="en-US" dirty="0" err="1"/>
              <a:t>Vulnerabil</a:t>
            </a:r>
            <a:r>
              <a:rPr lang="en-US" dirty="0"/>
              <a:t> la </a:t>
            </a:r>
            <a:r>
              <a:rPr lang="en-US" dirty="0" err="1"/>
              <a:t>atacuri</a:t>
            </a:r>
            <a:r>
              <a:rPr lang="en-US" dirty="0"/>
              <a:t> </a:t>
            </a:r>
            <a:r>
              <a:rPr lang="en-US" dirty="0" err="1"/>
              <a:t>criptanalitice</a:t>
            </a:r>
            <a:endParaRPr lang="en-US" dirty="0"/>
          </a:p>
          <a:p>
            <a:r>
              <a:rPr lang="it-IT" dirty="0"/>
              <a:t>Structura poate fi descoperită de un atacator</a:t>
            </a:r>
          </a:p>
          <a:p>
            <a:r>
              <a:rPr lang="en-US" dirty="0"/>
              <a:t>Nu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folosit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aplicații</a:t>
            </a:r>
            <a:r>
              <a:rPr lang="en-US" dirty="0"/>
              <a:t> modern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Concluzii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Knapsack Cryptosystem nu </a:t>
            </a:r>
            <a:r>
              <a:rPr lang="en-US" dirty="0" err="1"/>
              <a:t>mai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sigur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utilizare</a:t>
            </a:r>
            <a:r>
              <a:rPr lang="en-US" dirty="0"/>
              <a:t> </a:t>
            </a:r>
            <a:r>
              <a:rPr lang="en-US" dirty="0" err="1"/>
              <a:t>practică</a:t>
            </a:r>
            <a:endParaRPr lang="en-US" dirty="0"/>
          </a:p>
          <a:p>
            <a:r>
              <a:rPr lang="en-US" dirty="0"/>
              <a:t>Are </a:t>
            </a:r>
            <a:r>
              <a:rPr lang="en-US" dirty="0" err="1"/>
              <a:t>valoare</a:t>
            </a:r>
            <a:r>
              <a:rPr lang="en-US" dirty="0"/>
              <a:t> </a:t>
            </a:r>
            <a:r>
              <a:rPr lang="en-US" dirty="0" err="1"/>
              <a:t>istorică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educațională</a:t>
            </a:r>
            <a:endParaRPr lang="en-US" dirty="0"/>
          </a:p>
          <a:p>
            <a:r>
              <a:rPr lang="en-US" dirty="0"/>
              <a:t>Este util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înțelegerea</a:t>
            </a:r>
            <a:r>
              <a:rPr lang="en-US" dirty="0"/>
              <a:t> </a:t>
            </a:r>
            <a:r>
              <a:rPr lang="en-US" dirty="0" err="1"/>
              <a:t>criptografiei</a:t>
            </a:r>
            <a:r>
              <a:rPr lang="en-US" dirty="0"/>
              <a:t> </a:t>
            </a:r>
            <a:r>
              <a:rPr lang="en-US" dirty="0" err="1"/>
              <a:t>asimetrice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Bibliografie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Knapsack Encryption Algorithm in Cryptography – </a:t>
            </a:r>
            <a:r>
              <a:rPr lang="en-US" dirty="0" err="1">
                <a:hlinkClick r:id="rId2"/>
              </a:rPr>
              <a:t>GeeksforGeeks</a:t>
            </a:r>
            <a:endParaRPr dirty="0"/>
          </a:p>
          <a:p>
            <a:r>
              <a:rPr lang="en-US" dirty="0" err="1">
                <a:hlinkClick r:id="rId3"/>
              </a:rPr>
              <a:t>Problema</a:t>
            </a:r>
            <a:r>
              <a:rPr lang="en-US" dirty="0">
                <a:hlinkClick r:id="rId3"/>
              </a:rPr>
              <a:t> </a:t>
            </a:r>
            <a:r>
              <a:rPr lang="en-US" dirty="0" err="1">
                <a:hlinkClick r:id="rId3"/>
              </a:rPr>
              <a:t>rucsacului</a:t>
            </a:r>
            <a:r>
              <a:rPr lang="en-US" dirty="0">
                <a:hlinkClick r:id="rId3"/>
              </a:rPr>
              <a:t> – Wikipedia</a:t>
            </a:r>
            <a:endParaRPr lang="en-US" dirty="0"/>
          </a:p>
          <a:p>
            <a:r>
              <a:rPr lang="en-US" dirty="0">
                <a:hlinkClick r:id="rId4"/>
              </a:rPr>
              <a:t>Knapsack Encryption Algorithm in Cryptography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104</TotalTime>
  <Words>396</Words>
  <Application>Microsoft Office PowerPoint</Application>
  <PresentationFormat>On-screen Show (4:3)</PresentationFormat>
  <Paragraphs>69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Ion Boardroom</vt:lpstr>
      <vt:lpstr>Knapsack Cryptosystem</vt:lpstr>
      <vt:lpstr>Cuprins</vt:lpstr>
      <vt:lpstr>Introducere</vt:lpstr>
      <vt:lpstr>Problema Rucsacului</vt:lpstr>
      <vt:lpstr>Tipuri de Knapsack</vt:lpstr>
      <vt:lpstr>Knapsack Supercrescător</vt:lpstr>
      <vt:lpstr>Ideea de Bază</vt:lpstr>
      <vt:lpstr>Generarea Cheilor</vt:lpstr>
      <vt:lpstr>Criptarea</vt:lpstr>
      <vt:lpstr>Decriptarea</vt:lpstr>
      <vt:lpstr>Exemplu</vt:lpstr>
      <vt:lpstr>Avantaje</vt:lpstr>
      <vt:lpstr>Dezavantaje</vt:lpstr>
      <vt:lpstr>Concluzii</vt:lpstr>
      <vt:lpstr>Bibliografie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Flavia Paula</cp:lastModifiedBy>
  <cp:revision>2</cp:revision>
  <dcterms:created xsi:type="dcterms:W3CDTF">2013-01-27T09:14:16Z</dcterms:created>
  <dcterms:modified xsi:type="dcterms:W3CDTF">2026-01-25T14:18:30Z</dcterms:modified>
  <cp:category/>
</cp:coreProperties>
</file>