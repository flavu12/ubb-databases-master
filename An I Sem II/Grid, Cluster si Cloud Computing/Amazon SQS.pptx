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Atkinson Hyperlegible" panose="020B0604020202020204" charset="0"/>
      <p:regular r:id="rId13"/>
    </p:embeddedFont>
    <p:embeddedFont>
      <p:font typeface="Atkinson Hyperlegible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78562" autoAdjust="0"/>
  </p:normalViewPr>
  <p:slideViewPr>
    <p:cSldViewPr>
      <p:cViewPr varScale="1">
        <p:scale>
          <a:sx n="43" d="100"/>
          <a:sy n="43" d="100"/>
        </p:scale>
        <p:origin x="1157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ADC9A9-C233-455C-AF86-02109C101542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42CAF0-3F4E-4EA3-A02D-EF4365BBF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520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42CAF0-3F4E-4EA3-A02D-EF4365BBF70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9178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Amazon Simple Queue Service </a:t>
            </a:r>
            <a:r>
              <a:rPr lang="en-US" dirty="0" err="1"/>
              <a:t>este</a:t>
            </a:r>
            <a:r>
              <a:rPr lang="en-US" dirty="0"/>
              <a:t> un </a:t>
            </a:r>
            <a:r>
              <a:rPr lang="en-US" dirty="0" err="1"/>
              <a:t>serviciu</a:t>
            </a:r>
            <a:r>
              <a:rPr lang="en-US" dirty="0"/>
              <a:t> </a:t>
            </a:r>
            <a:r>
              <a:rPr lang="en-US" dirty="0" err="1"/>
              <a:t>complet</a:t>
            </a:r>
            <a:r>
              <a:rPr lang="en-US" dirty="0"/>
              <a:t> </a:t>
            </a:r>
            <a:r>
              <a:rPr lang="en-US" dirty="0" err="1"/>
              <a:t>gestionat</a:t>
            </a:r>
            <a:r>
              <a:rPr lang="en-US" dirty="0"/>
              <a:t> de tip message queue.</a:t>
            </a:r>
          </a:p>
          <a:p>
            <a:r>
              <a:rPr lang="en-US" dirty="0" err="1"/>
              <a:t>Rolul</a:t>
            </a:r>
            <a:r>
              <a:rPr lang="en-US" dirty="0"/>
              <a:t> </a:t>
            </a:r>
            <a:r>
              <a:rPr lang="en-US" dirty="0" err="1"/>
              <a:t>său</a:t>
            </a:r>
            <a:r>
              <a:rPr lang="en-US" dirty="0"/>
              <a:t> principal </a:t>
            </a:r>
            <a:r>
              <a:rPr lang="en-US" dirty="0" err="1"/>
              <a:t>este</a:t>
            </a:r>
            <a:r>
              <a:rPr lang="en-US" dirty="0"/>
              <a:t> de a </a:t>
            </a:r>
            <a:r>
              <a:rPr lang="en-US" dirty="0" err="1"/>
              <a:t>permite</a:t>
            </a:r>
            <a:r>
              <a:rPr lang="en-US" dirty="0"/>
              <a:t> </a:t>
            </a:r>
            <a:r>
              <a:rPr lang="en-US" dirty="0" err="1"/>
              <a:t>aplicațiilor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comunice</a:t>
            </a:r>
            <a:r>
              <a:rPr lang="en-US" dirty="0"/>
              <a:t> </a:t>
            </a:r>
            <a:r>
              <a:rPr lang="en-US" dirty="0" err="1"/>
              <a:t>între</a:t>
            </a:r>
            <a:r>
              <a:rPr lang="en-US" dirty="0"/>
              <a:t> </a:t>
            </a:r>
            <a:r>
              <a:rPr lang="en-US" dirty="0" err="1"/>
              <a:t>ele</a:t>
            </a:r>
            <a:r>
              <a:rPr lang="en-US" dirty="0"/>
              <a:t> </a:t>
            </a:r>
            <a:r>
              <a:rPr lang="en-US" dirty="0" err="1"/>
              <a:t>fără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fie </a:t>
            </a:r>
            <a:r>
              <a:rPr lang="en-US" dirty="0" err="1"/>
              <a:t>conectate</a:t>
            </a:r>
            <a:r>
              <a:rPr lang="en-US" dirty="0"/>
              <a:t> direct.</a:t>
            </a:r>
          </a:p>
          <a:p>
            <a:r>
              <a:rPr lang="en-US" dirty="0" err="1"/>
              <a:t>În</a:t>
            </a:r>
            <a:r>
              <a:rPr lang="en-US" dirty="0"/>
              <a:t> loc ca </a:t>
            </a:r>
            <a:r>
              <a:rPr lang="en-US" dirty="0" err="1"/>
              <a:t>două</a:t>
            </a:r>
            <a:r>
              <a:rPr lang="en-US" dirty="0"/>
              <a:t> </a:t>
            </a:r>
            <a:r>
              <a:rPr lang="en-US" dirty="0" err="1"/>
              <a:t>servicii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comunice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timp</a:t>
            </a:r>
            <a:r>
              <a:rPr lang="en-US" dirty="0"/>
              <a:t> real, </a:t>
            </a:r>
            <a:r>
              <a:rPr lang="en-US" dirty="0" err="1"/>
              <a:t>mesajele</a:t>
            </a:r>
            <a:r>
              <a:rPr lang="en-US" dirty="0"/>
              <a:t> sunt </a:t>
            </a:r>
            <a:r>
              <a:rPr lang="en-US" dirty="0" err="1"/>
              <a:t>trimise</a:t>
            </a:r>
            <a:r>
              <a:rPr lang="en-US" dirty="0"/>
              <a:t> </a:t>
            </a:r>
            <a:r>
              <a:rPr lang="en-US" dirty="0" err="1"/>
              <a:t>într</a:t>
            </a:r>
            <a:r>
              <a:rPr lang="en-US" dirty="0"/>
              <a:t>-o </a:t>
            </a:r>
            <a:r>
              <a:rPr lang="en-US" dirty="0" err="1"/>
              <a:t>coadă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procesate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târziu</a:t>
            </a:r>
            <a:r>
              <a:rPr lang="en-US" dirty="0"/>
              <a:t>.</a:t>
            </a:r>
          </a:p>
          <a:p>
            <a:r>
              <a:rPr lang="en-US" dirty="0" err="1"/>
              <a:t>Acest</a:t>
            </a:r>
            <a:r>
              <a:rPr lang="en-US" dirty="0"/>
              <a:t> </a:t>
            </a:r>
            <a:r>
              <a:rPr lang="en-US" dirty="0" err="1"/>
              <a:t>lucru</a:t>
            </a:r>
            <a:r>
              <a:rPr lang="en-US" dirty="0"/>
              <a:t> </a:t>
            </a:r>
            <a:r>
              <a:rPr lang="en-US" dirty="0" err="1"/>
              <a:t>ajută</a:t>
            </a:r>
            <a:r>
              <a:rPr lang="en-US" dirty="0"/>
              <a:t> </a:t>
            </a:r>
            <a:r>
              <a:rPr lang="en-US" dirty="0" err="1"/>
              <a:t>aplicațiile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fie </a:t>
            </a:r>
            <a:r>
              <a:rPr lang="en-US" dirty="0" err="1"/>
              <a:t>mai</a:t>
            </a:r>
            <a:r>
              <a:rPr lang="en-US" dirty="0"/>
              <a:t> stabile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eficiente</a:t>
            </a:r>
            <a:r>
              <a:rPr lang="en-US" dirty="0"/>
              <a:t>, </a:t>
            </a:r>
            <a:r>
              <a:rPr lang="en-US" dirty="0" err="1"/>
              <a:t>mai</a:t>
            </a:r>
            <a:r>
              <a:rPr lang="en-US" dirty="0"/>
              <a:t> ales </a:t>
            </a:r>
            <a:r>
              <a:rPr lang="en-US" dirty="0" err="1"/>
              <a:t>atunci</a:t>
            </a:r>
            <a:r>
              <a:rPr lang="en-US" dirty="0"/>
              <a:t> </a:t>
            </a:r>
            <a:r>
              <a:rPr lang="en-US" dirty="0" err="1"/>
              <a:t>când</a:t>
            </a:r>
            <a:r>
              <a:rPr lang="en-US" dirty="0"/>
              <a:t> </a:t>
            </a:r>
            <a:r>
              <a:rPr lang="en-US" dirty="0" err="1"/>
              <a:t>există</a:t>
            </a:r>
            <a:r>
              <a:rPr lang="en-US" dirty="0"/>
              <a:t> </a:t>
            </a:r>
            <a:r>
              <a:rPr lang="en-US" dirty="0" err="1"/>
              <a:t>foarte</a:t>
            </a:r>
            <a:r>
              <a:rPr lang="en-US" dirty="0"/>
              <a:t> </a:t>
            </a:r>
            <a:r>
              <a:rPr lang="en-US" dirty="0" err="1"/>
              <a:t>mult</a:t>
            </a:r>
            <a:r>
              <a:rPr lang="en-US" dirty="0"/>
              <a:t> </a:t>
            </a:r>
            <a:r>
              <a:rPr lang="en-US" dirty="0" err="1"/>
              <a:t>trafic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42CAF0-3F4E-4EA3-A02D-EF4365BBF70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1761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AWS SQS </a:t>
            </a:r>
            <a:r>
              <a:rPr lang="en-US" dirty="0" err="1"/>
              <a:t>funcționează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stocarea</a:t>
            </a:r>
            <a:r>
              <a:rPr lang="en-US" dirty="0"/>
              <a:t> </a:t>
            </a:r>
            <a:r>
              <a:rPr lang="en-US" dirty="0" err="1"/>
              <a:t>mesajelor</a:t>
            </a:r>
            <a:r>
              <a:rPr lang="en-US" dirty="0"/>
              <a:t> </a:t>
            </a:r>
            <a:r>
              <a:rPr lang="en-US" dirty="0" err="1"/>
              <a:t>într</a:t>
            </a:r>
            <a:r>
              <a:rPr lang="en-US" dirty="0"/>
              <a:t>-un queue </a:t>
            </a:r>
            <a:r>
              <a:rPr lang="en-US" dirty="0" err="1"/>
              <a:t>până</a:t>
            </a:r>
            <a:r>
              <a:rPr lang="en-US" dirty="0"/>
              <a:t> </a:t>
            </a:r>
            <a:r>
              <a:rPr lang="en-US" dirty="0" err="1"/>
              <a:t>când</a:t>
            </a:r>
            <a:r>
              <a:rPr lang="en-US" dirty="0"/>
              <a:t> </a:t>
            </a:r>
            <a:r>
              <a:rPr lang="en-US" dirty="0" err="1"/>
              <a:t>acestea</a:t>
            </a:r>
            <a:r>
              <a:rPr lang="en-US" dirty="0"/>
              <a:t> sunt </a:t>
            </a:r>
            <a:r>
              <a:rPr lang="en-US" dirty="0" err="1"/>
              <a:t>procesate</a:t>
            </a:r>
            <a:r>
              <a:rPr lang="en-US" dirty="0"/>
              <a:t> de o </a:t>
            </a:r>
            <a:r>
              <a:rPr lang="en-US" dirty="0" err="1"/>
              <a:t>altă</a:t>
            </a:r>
            <a:r>
              <a:rPr lang="en-US" dirty="0"/>
              <a:t> </a:t>
            </a:r>
            <a:r>
              <a:rPr lang="en-US" dirty="0" err="1"/>
              <a:t>aplicație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serviciu</a:t>
            </a:r>
            <a:r>
              <a:rPr lang="en-US" dirty="0"/>
              <a:t>.</a:t>
            </a:r>
          </a:p>
          <a:p>
            <a:r>
              <a:rPr lang="en-US" dirty="0"/>
              <a:t>O </a:t>
            </a:r>
            <a:r>
              <a:rPr lang="en-US" dirty="0" err="1"/>
              <a:t>aplicație</a:t>
            </a:r>
            <a:r>
              <a:rPr lang="en-US" dirty="0"/>
              <a:t> </a:t>
            </a:r>
            <a:r>
              <a:rPr lang="en-US" dirty="0" err="1"/>
              <a:t>numită</a:t>
            </a:r>
            <a:r>
              <a:rPr lang="en-US" dirty="0"/>
              <a:t> producer </a:t>
            </a:r>
            <a:r>
              <a:rPr lang="en-US" dirty="0" err="1"/>
              <a:t>trimite</a:t>
            </a:r>
            <a:r>
              <a:rPr lang="en-US" dirty="0"/>
              <a:t> </a:t>
            </a:r>
            <a:r>
              <a:rPr lang="en-US" dirty="0" err="1"/>
              <a:t>mesajul</a:t>
            </a:r>
            <a:r>
              <a:rPr lang="en-US" dirty="0"/>
              <a:t> </a:t>
            </a:r>
            <a:r>
              <a:rPr lang="en-US" dirty="0" err="1"/>
              <a:t>către</a:t>
            </a:r>
            <a:r>
              <a:rPr lang="en-US" dirty="0"/>
              <a:t> queue, </a:t>
            </a:r>
            <a:r>
              <a:rPr lang="en-US" dirty="0" err="1"/>
              <a:t>iar</a:t>
            </a:r>
            <a:r>
              <a:rPr lang="en-US" dirty="0"/>
              <a:t> o </a:t>
            </a:r>
            <a:r>
              <a:rPr lang="en-US" dirty="0" err="1"/>
              <a:t>altă</a:t>
            </a:r>
            <a:r>
              <a:rPr lang="en-US" dirty="0"/>
              <a:t> </a:t>
            </a:r>
            <a:r>
              <a:rPr lang="en-US" dirty="0" err="1"/>
              <a:t>aplicație</a:t>
            </a:r>
            <a:r>
              <a:rPr lang="en-US" dirty="0"/>
              <a:t> </a:t>
            </a:r>
            <a:r>
              <a:rPr lang="en-US" dirty="0" err="1"/>
              <a:t>numită</a:t>
            </a:r>
            <a:r>
              <a:rPr lang="en-US" dirty="0"/>
              <a:t> consumer </a:t>
            </a:r>
            <a:r>
              <a:rPr lang="en-US" dirty="0" err="1"/>
              <a:t>îl</a:t>
            </a:r>
            <a:r>
              <a:rPr lang="en-US" dirty="0"/>
              <a:t> </a:t>
            </a:r>
            <a:r>
              <a:rPr lang="en-US" dirty="0" err="1"/>
              <a:t>preia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îl</a:t>
            </a:r>
            <a:r>
              <a:rPr lang="en-US" dirty="0"/>
              <a:t> </a:t>
            </a:r>
            <a:r>
              <a:rPr lang="en-US" dirty="0" err="1"/>
              <a:t>procesează</a:t>
            </a:r>
            <a:r>
              <a:rPr lang="en-US" dirty="0"/>
              <a:t>.</a:t>
            </a:r>
          </a:p>
          <a:p>
            <a:r>
              <a:rPr lang="en-US" dirty="0" err="1"/>
              <a:t>Acest</a:t>
            </a:r>
            <a:r>
              <a:rPr lang="en-US" dirty="0"/>
              <a:t> </a:t>
            </a:r>
            <a:r>
              <a:rPr lang="en-US" dirty="0" err="1"/>
              <a:t>proces</a:t>
            </a:r>
            <a:r>
              <a:rPr lang="en-US" dirty="0"/>
              <a:t> se </a:t>
            </a:r>
            <a:r>
              <a:rPr lang="en-US" dirty="0" err="1"/>
              <a:t>numește</a:t>
            </a:r>
            <a:r>
              <a:rPr lang="en-US" dirty="0"/>
              <a:t> </a:t>
            </a:r>
            <a:r>
              <a:rPr lang="en-US" dirty="0" err="1"/>
              <a:t>comunicare</a:t>
            </a:r>
            <a:r>
              <a:rPr lang="en-US" dirty="0"/>
              <a:t> </a:t>
            </a:r>
            <a:r>
              <a:rPr lang="en-US" dirty="0" err="1"/>
              <a:t>asincronă</a:t>
            </a:r>
            <a:r>
              <a:rPr lang="en-US" dirty="0"/>
              <a:t>, </a:t>
            </a:r>
            <a:r>
              <a:rPr lang="en-US" dirty="0" err="1"/>
              <a:t>deoarece</a:t>
            </a:r>
            <a:r>
              <a:rPr lang="en-US" dirty="0"/>
              <a:t> </a:t>
            </a:r>
            <a:r>
              <a:rPr lang="en-US" dirty="0" err="1"/>
              <a:t>aplicațiile</a:t>
            </a:r>
            <a:r>
              <a:rPr lang="en-US" dirty="0"/>
              <a:t> nu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aștepte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după</a:t>
            </a:r>
            <a:r>
              <a:rPr lang="en-US" dirty="0"/>
              <a:t> </a:t>
            </a:r>
            <a:r>
              <a:rPr lang="en-US" dirty="0" err="1"/>
              <a:t>alta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funcționa</a:t>
            </a:r>
            <a:r>
              <a:rPr lang="en-US" dirty="0"/>
              <a:t>.</a:t>
            </a:r>
          </a:p>
          <a:p>
            <a:r>
              <a:rPr lang="en-US" dirty="0" err="1"/>
              <a:t>Astfel</a:t>
            </a:r>
            <a:r>
              <a:rPr lang="en-US" dirty="0"/>
              <a:t>, </a:t>
            </a:r>
            <a:r>
              <a:rPr lang="en-US" dirty="0" err="1"/>
              <a:t>sistemele</a:t>
            </a:r>
            <a:r>
              <a:rPr lang="en-US" dirty="0"/>
              <a:t> </a:t>
            </a:r>
            <a:r>
              <a:rPr lang="en-US" dirty="0" err="1"/>
              <a:t>devin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rapide</a:t>
            </a:r>
            <a:r>
              <a:rPr lang="en-US" dirty="0"/>
              <a:t>,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flexibile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ușor</a:t>
            </a:r>
            <a:r>
              <a:rPr lang="en-US" dirty="0"/>
              <a:t> de </a:t>
            </a:r>
            <a:r>
              <a:rPr lang="en-US" dirty="0" err="1"/>
              <a:t>scalat</a:t>
            </a:r>
            <a:r>
              <a:rPr lang="en-US" dirty="0"/>
              <a:t>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42CAF0-3F4E-4EA3-A02D-EF4365BBF70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1569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producer, de </a:t>
            </a:r>
            <a:r>
              <a:rPr lang="en-US" dirty="0" err="1"/>
              <a:t>exemplu</a:t>
            </a:r>
            <a:r>
              <a:rPr lang="en-US" dirty="0"/>
              <a:t> un web server, </a:t>
            </a:r>
            <a:r>
              <a:rPr lang="en-US" dirty="0" err="1"/>
              <a:t>trimite</a:t>
            </a:r>
            <a:r>
              <a:rPr lang="en-US" dirty="0"/>
              <a:t> </a:t>
            </a:r>
            <a:r>
              <a:rPr lang="en-US" dirty="0" err="1"/>
              <a:t>mesaje</a:t>
            </a:r>
            <a:r>
              <a:rPr lang="en-US" dirty="0"/>
              <a:t> </a:t>
            </a:r>
            <a:r>
              <a:rPr lang="en-US" dirty="0" err="1"/>
              <a:t>către</a:t>
            </a:r>
            <a:r>
              <a:rPr lang="en-US" dirty="0"/>
              <a:t> SQS queue.</a:t>
            </a:r>
          </a:p>
          <a:p>
            <a:r>
              <a:rPr lang="en-US" dirty="0" err="1"/>
              <a:t>Mesajele</a:t>
            </a:r>
            <a:r>
              <a:rPr lang="en-US" dirty="0"/>
              <a:t> sunt </a:t>
            </a:r>
            <a:r>
              <a:rPr lang="en-US" dirty="0" err="1"/>
              <a:t>stocate</a:t>
            </a:r>
            <a:r>
              <a:rPr lang="en-US" dirty="0"/>
              <a:t> pe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servere</a:t>
            </a:r>
            <a:r>
              <a:rPr lang="en-US" dirty="0"/>
              <a:t> AWS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siguranță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disponibilitate</a:t>
            </a:r>
            <a:r>
              <a:rPr lang="en-US" dirty="0"/>
              <a:t>.</a:t>
            </a:r>
          </a:p>
          <a:p>
            <a:r>
              <a:rPr lang="en-US" dirty="0"/>
              <a:t>Un consumer, cum </a:t>
            </a:r>
            <a:r>
              <a:rPr lang="en-US" dirty="0" err="1"/>
              <a:t>ar</a:t>
            </a:r>
            <a:r>
              <a:rPr lang="en-US" dirty="0"/>
              <a:t> fi o </a:t>
            </a:r>
            <a:r>
              <a:rPr lang="en-US" dirty="0" err="1"/>
              <a:t>funcție</a:t>
            </a:r>
            <a:r>
              <a:rPr lang="en-US" dirty="0"/>
              <a:t> Lambda, </a:t>
            </a:r>
            <a:r>
              <a:rPr lang="en-US" dirty="0" err="1"/>
              <a:t>preia</a:t>
            </a:r>
            <a:r>
              <a:rPr lang="en-US" dirty="0"/>
              <a:t> </a:t>
            </a:r>
            <a:r>
              <a:rPr lang="en-US" dirty="0" err="1"/>
              <a:t>mesajele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le </a:t>
            </a:r>
            <a:r>
              <a:rPr lang="en-US" dirty="0" err="1"/>
              <a:t>procesează</a:t>
            </a:r>
            <a:r>
              <a:rPr lang="en-US" dirty="0"/>
              <a:t>.</a:t>
            </a:r>
          </a:p>
          <a:p>
            <a:r>
              <a:rPr lang="en-US" dirty="0"/>
              <a:t>De </a:t>
            </a:r>
            <a:r>
              <a:rPr lang="en-US" dirty="0" err="1"/>
              <a:t>asemenea</a:t>
            </a:r>
            <a:r>
              <a:rPr lang="en-US" dirty="0"/>
              <a:t>, AWS SQS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utiliza</a:t>
            </a:r>
            <a:r>
              <a:rPr lang="en-US" dirty="0"/>
              <a:t> Dead Letter </a:t>
            </a:r>
            <a:r>
              <a:rPr lang="en-US" dirty="0" err="1"/>
              <a:t>Queues,o</a:t>
            </a:r>
            <a:r>
              <a:rPr lang="en-US" dirty="0"/>
              <a:t> </a:t>
            </a:r>
            <a:r>
              <a:rPr lang="en-US" dirty="0" err="1"/>
              <a:t>coada</a:t>
            </a:r>
            <a:r>
              <a:rPr lang="en-US" dirty="0"/>
              <a:t> </a:t>
            </a:r>
            <a:r>
              <a:rPr lang="en-US" dirty="0" err="1"/>
              <a:t>secundara</a:t>
            </a:r>
            <a:r>
              <a:rPr lang="en-US" dirty="0"/>
              <a:t>, </a:t>
            </a:r>
            <a:r>
              <a:rPr lang="en-US" dirty="0" err="1"/>
              <a:t>unde</a:t>
            </a:r>
            <a:r>
              <a:rPr lang="en-US" dirty="0"/>
              <a:t> sunt mutate </a:t>
            </a:r>
            <a:r>
              <a:rPr lang="en-US" dirty="0" err="1"/>
              <a:t>mesajele</a:t>
            </a:r>
            <a:r>
              <a:rPr lang="en-US" dirty="0"/>
              <a:t> care nu pot fi </a:t>
            </a:r>
            <a:r>
              <a:rPr lang="en-US" dirty="0" err="1"/>
              <a:t>procesate</a:t>
            </a:r>
            <a:r>
              <a:rPr lang="en-US" dirty="0"/>
              <a:t> </a:t>
            </a:r>
            <a:r>
              <a:rPr lang="en-US" dirty="0" err="1"/>
              <a:t>corect</a:t>
            </a:r>
            <a:r>
              <a:rPr lang="en-US" dirty="0"/>
              <a:t> </a:t>
            </a:r>
            <a:r>
              <a:rPr lang="en-US" dirty="0" err="1"/>
              <a:t>după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încercări</a:t>
            </a:r>
            <a:r>
              <a:rPr lang="en-US" dirty="0"/>
              <a:t>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42CAF0-3F4E-4EA3-A02D-EF4365BBF70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2655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 Queue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optimizat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performanță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scalabilitate</a:t>
            </a:r>
            <a:r>
              <a:rPr lang="en-US" dirty="0"/>
              <a:t> </a:t>
            </a:r>
            <a:r>
              <a:rPr lang="en-US" dirty="0" err="1"/>
              <a:t>foarte</a:t>
            </a:r>
            <a:r>
              <a:rPr lang="en-US" dirty="0"/>
              <a:t> mare. </a:t>
            </a:r>
          </a:p>
          <a:p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procesa</a:t>
            </a:r>
            <a:r>
              <a:rPr lang="en-US" dirty="0"/>
              <a:t> un </a:t>
            </a:r>
            <a:r>
              <a:rPr lang="en-US" dirty="0" err="1"/>
              <a:t>număr</a:t>
            </a:r>
            <a:r>
              <a:rPr lang="en-US" dirty="0"/>
              <a:t> </a:t>
            </a:r>
            <a:r>
              <a:rPr lang="en-US" dirty="0" err="1"/>
              <a:t>foarte</a:t>
            </a:r>
            <a:r>
              <a:rPr lang="en-US" dirty="0"/>
              <a:t> mare de </a:t>
            </a:r>
            <a:r>
              <a:rPr lang="en-US" dirty="0" err="1"/>
              <a:t>mesaje</a:t>
            </a:r>
            <a:r>
              <a:rPr lang="en-US" dirty="0"/>
              <a:t> pe </a:t>
            </a:r>
            <a:r>
              <a:rPr lang="en-US" dirty="0" err="1"/>
              <a:t>secundă</a:t>
            </a:r>
            <a:r>
              <a:rPr lang="en-US" dirty="0"/>
              <a:t>. </a:t>
            </a:r>
            <a:r>
              <a:rPr lang="en-US" dirty="0" err="1"/>
              <a:t>Totuși</a:t>
            </a:r>
            <a:r>
              <a:rPr lang="en-US" dirty="0"/>
              <a:t>, </a:t>
            </a:r>
            <a:r>
              <a:rPr lang="en-US" dirty="0" err="1"/>
              <a:t>mesajele</a:t>
            </a:r>
            <a:r>
              <a:rPr lang="en-US" dirty="0"/>
              <a:t> pot </a:t>
            </a:r>
            <a:r>
              <a:rPr lang="en-US" dirty="0" err="1"/>
              <a:t>ajunge</a:t>
            </a:r>
            <a:r>
              <a:rPr lang="en-US" dirty="0"/>
              <a:t> </a:t>
            </a:r>
            <a:r>
              <a:rPr lang="en-US" dirty="0" err="1"/>
              <a:t>uneori</a:t>
            </a:r>
            <a:r>
              <a:rPr lang="en-US" dirty="0"/>
              <a:t> </a:t>
            </a:r>
            <a:r>
              <a:rPr lang="en-US" dirty="0" err="1"/>
              <a:t>într</a:t>
            </a:r>
            <a:r>
              <a:rPr lang="en-US" dirty="0"/>
              <a:t>-o </a:t>
            </a:r>
            <a:r>
              <a:rPr lang="en-US" dirty="0" err="1"/>
              <a:t>ordine</a:t>
            </a:r>
            <a:r>
              <a:rPr lang="en-US" dirty="0"/>
              <a:t> </a:t>
            </a:r>
            <a:r>
              <a:rPr lang="en-US" dirty="0" err="1"/>
              <a:t>diferită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pot </a:t>
            </a:r>
            <a:r>
              <a:rPr lang="en-US" dirty="0" err="1"/>
              <a:t>exista</a:t>
            </a:r>
            <a:r>
              <a:rPr lang="en-US" dirty="0"/>
              <a:t> duplicate.</a:t>
            </a:r>
          </a:p>
          <a:p>
            <a:r>
              <a:rPr lang="en-US" dirty="0"/>
              <a:t>FIFO Queue, </a:t>
            </a:r>
            <a:r>
              <a:rPr lang="en-US" dirty="0" err="1"/>
              <a:t>adică</a:t>
            </a:r>
            <a:r>
              <a:rPr lang="en-US" dirty="0"/>
              <a:t> First In, First Out, </a:t>
            </a:r>
            <a:r>
              <a:rPr lang="en-US" dirty="0" err="1"/>
              <a:t>garantează</a:t>
            </a:r>
            <a:r>
              <a:rPr lang="en-US" dirty="0"/>
              <a:t> </a:t>
            </a:r>
            <a:r>
              <a:rPr lang="en-US" dirty="0" err="1"/>
              <a:t>că</a:t>
            </a:r>
            <a:r>
              <a:rPr lang="en-US" dirty="0"/>
              <a:t> </a:t>
            </a:r>
            <a:r>
              <a:rPr lang="en-US" dirty="0" err="1"/>
              <a:t>mesajele</a:t>
            </a:r>
            <a:r>
              <a:rPr lang="en-US" dirty="0"/>
              <a:t> sunt </a:t>
            </a:r>
            <a:r>
              <a:rPr lang="en-US" dirty="0" err="1"/>
              <a:t>procesate</a:t>
            </a:r>
            <a:r>
              <a:rPr lang="en-US" dirty="0"/>
              <a:t> exact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ordinea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care au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trimise</a:t>
            </a:r>
            <a:r>
              <a:rPr lang="en-US" dirty="0"/>
              <a:t>. De </a:t>
            </a:r>
            <a:r>
              <a:rPr lang="en-US" dirty="0" err="1"/>
              <a:t>asemenea</a:t>
            </a:r>
            <a:r>
              <a:rPr lang="en-US" dirty="0"/>
              <a:t>, </a:t>
            </a:r>
            <a:r>
              <a:rPr lang="en-US" dirty="0" err="1"/>
              <a:t>previne</a:t>
            </a:r>
            <a:r>
              <a:rPr lang="en-US" dirty="0"/>
              <a:t> </a:t>
            </a:r>
            <a:r>
              <a:rPr lang="en-US" dirty="0" err="1"/>
              <a:t>duplicatele</a:t>
            </a:r>
            <a:r>
              <a:rPr lang="en-US" dirty="0"/>
              <a:t>.</a:t>
            </a:r>
          </a:p>
          <a:p>
            <a:r>
              <a:rPr lang="en-US"/>
              <a:t>Standard </a:t>
            </a:r>
            <a:r>
              <a:rPr lang="en-US" dirty="0"/>
              <a:t>Queue </a:t>
            </a:r>
            <a:r>
              <a:rPr lang="en-US" dirty="0" err="1"/>
              <a:t>prioritizează</a:t>
            </a:r>
            <a:r>
              <a:rPr lang="en-US" dirty="0"/>
              <a:t> </a:t>
            </a:r>
            <a:r>
              <a:rPr lang="en-US" dirty="0" err="1"/>
              <a:t>viteza</a:t>
            </a:r>
            <a:r>
              <a:rPr lang="en-US" dirty="0"/>
              <a:t>, </a:t>
            </a:r>
          </a:p>
          <a:p>
            <a:r>
              <a:rPr lang="en-US" dirty="0" err="1"/>
              <a:t>iar</a:t>
            </a:r>
            <a:r>
              <a:rPr lang="en-US" dirty="0"/>
              <a:t> FIFO Queue </a:t>
            </a:r>
            <a:r>
              <a:rPr lang="en-US" dirty="0" err="1"/>
              <a:t>prioritizează</a:t>
            </a:r>
            <a:r>
              <a:rPr lang="en-US" dirty="0"/>
              <a:t> </a:t>
            </a:r>
            <a:r>
              <a:rPr lang="en-US" dirty="0" err="1"/>
              <a:t>ordinea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acuratețea</a:t>
            </a:r>
            <a:r>
              <a:rPr lang="en-US" dirty="0"/>
              <a:t>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42CAF0-3F4E-4EA3-A02D-EF4365BBF70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6434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Atunci</a:t>
            </a:r>
            <a:r>
              <a:rPr lang="en-US" dirty="0"/>
              <a:t> </a:t>
            </a:r>
            <a:r>
              <a:rPr lang="en-US" dirty="0" err="1"/>
              <a:t>când</a:t>
            </a:r>
            <a:r>
              <a:rPr lang="en-US" dirty="0"/>
              <a:t> un consumer </a:t>
            </a:r>
            <a:r>
              <a:rPr lang="en-US" dirty="0" err="1"/>
              <a:t>preia</a:t>
            </a:r>
            <a:r>
              <a:rPr lang="en-US" dirty="0"/>
              <a:t> un </a:t>
            </a:r>
            <a:r>
              <a:rPr lang="en-US" dirty="0" err="1"/>
              <a:t>mesaj</a:t>
            </a:r>
            <a:r>
              <a:rPr lang="en-US" dirty="0"/>
              <a:t>, SQS nu </a:t>
            </a:r>
            <a:r>
              <a:rPr lang="en-US" dirty="0" err="1"/>
              <a:t>îl</a:t>
            </a:r>
            <a:r>
              <a:rPr lang="en-US" dirty="0"/>
              <a:t> </a:t>
            </a:r>
            <a:r>
              <a:rPr lang="en-US" dirty="0" err="1"/>
              <a:t>șterge</a:t>
            </a:r>
            <a:r>
              <a:rPr lang="en-US" dirty="0"/>
              <a:t> </a:t>
            </a:r>
            <a:r>
              <a:rPr lang="en-US" dirty="0" err="1"/>
              <a:t>imediat</a:t>
            </a:r>
            <a:r>
              <a:rPr lang="en-US" dirty="0"/>
              <a:t>.</a:t>
            </a:r>
          </a:p>
          <a:p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schimb</a:t>
            </a:r>
            <a:r>
              <a:rPr lang="en-US" dirty="0"/>
              <a:t>, </a:t>
            </a:r>
            <a:r>
              <a:rPr lang="en-US" dirty="0" err="1"/>
              <a:t>mesajul</a:t>
            </a:r>
            <a:r>
              <a:rPr lang="en-US" dirty="0"/>
              <a:t> </a:t>
            </a:r>
            <a:r>
              <a:rPr lang="en-US" dirty="0" err="1"/>
              <a:t>devine</a:t>
            </a:r>
            <a:r>
              <a:rPr lang="en-US" dirty="0"/>
              <a:t> </a:t>
            </a:r>
            <a:r>
              <a:rPr lang="en-US" dirty="0" err="1"/>
              <a:t>invizibil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ceilalți</a:t>
            </a:r>
            <a:r>
              <a:rPr lang="en-US" dirty="0"/>
              <a:t> </a:t>
            </a:r>
            <a:r>
              <a:rPr lang="en-US" dirty="0" err="1"/>
              <a:t>consumatori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o </a:t>
            </a:r>
            <a:r>
              <a:rPr lang="en-US" dirty="0" err="1"/>
              <a:t>perioadă</a:t>
            </a:r>
            <a:r>
              <a:rPr lang="en-US" dirty="0"/>
              <a:t> </a:t>
            </a:r>
            <a:r>
              <a:rPr lang="en-US" dirty="0" err="1"/>
              <a:t>numită</a:t>
            </a:r>
            <a:r>
              <a:rPr lang="en-US" dirty="0"/>
              <a:t> Visibility Timeout.</a:t>
            </a:r>
          </a:p>
          <a:p>
            <a:r>
              <a:rPr lang="en-US" dirty="0" err="1"/>
              <a:t>Dacă</a:t>
            </a:r>
            <a:r>
              <a:rPr lang="en-US" dirty="0"/>
              <a:t> </a:t>
            </a:r>
            <a:r>
              <a:rPr lang="en-US" dirty="0" err="1"/>
              <a:t>mesajul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procesat</a:t>
            </a:r>
            <a:r>
              <a:rPr lang="en-US" dirty="0"/>
              <a:t> cu </a:t>
            </a:r>
            <a:r>
              <a:rPr lang="en-US" dirty="0" err="1"/>
              <a:t>succes</a:t>
            </a:r>
            <a:r>
              <a:rPr lang="en-US" dirty="0"/>
              <a:t>, </a:t>
            </a:r>
            <a:r>
              <a:rPr lang="en-US" dirty="0" err="1"/>
              <a:t>acesta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șters</a:t>
            </a:r>
            <a:r>
              <a:rPr lang="en-US" dirty="0"/>
              <a:t> </a:t>
            </a:r>
            <a:r>
              <a:rPr lang="en-US" dirty="0" err="1"/>
              <a:t>definitiv</a:t>
            </a:r>
            <a:r>
              <a:rPr lang="en-US" dirty="0"/>
              <a:t> din queue.</a:t>
            </a:r>
          </a:p>
          <a:p>
            <a:r>
              <a:rPr lang="en-US" dirty="0" err="1"/>
              <a:t>Dacă</a:t>
            </a:r>
            <a:r>
              <a:rPr lang="en-US" dirty="0"/>
              <a:t> </a:t>
            </a:r>
            <a:r>
              <a:rPr lang="en-US" dirty="0" err="1"/>
              <a:t>procesarea</a:t>
            </a:r>
            <a:r>
              <a:rPr lang="en-US" dirty="0"/>
              <a:t> </a:t>
            </a:r>
            <a:r>
              <a:rPr lang="en-US" dirty="0" err="1"/>
              <a:t>eșuează</a:t>
            </a:r>
            <a:r>
              <a:rPr lang="en-US" dirty="0"/>
              <a:t>, </a:t>
            </a:r>
            <a:r>
              <a:rPr lang="en-US" dirty="0" err="1"/>
              <a:t>mesajul</a:t>
            </a:r>
            <a:r>
              <a:rPr lang="en-US" dirty="0"/>
              <a:t> </a:t>
            </a:r>
            <a:r>
              <a:rPr lang="en-US" dirty="0" err="1"/>
              <a:t>reapare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queue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fi </a:t>
            </a:r>
            <a:r>
              <a:rPr lang="en-US" dirty="0" err="1"/>
              <a:t>procesat</a:t>
            </a:r>
            <a:r>
              <a:rPr lang="en-US" dirty="0"/>
              <a:t> din nou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42CAF0-3F4E-4EA3-A02D-EF4365BBF70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9628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primul</a:t>
            </a:r>
            <a:r>
              <a:rPr lang="en-US" dirty="0"/>
              <a:t> </a:t>
            </a:r>
            <a:r>
              <a:rPr lang="en-US" dirty="0" err="1"/>
              <a:t>rând</a:t>
            </a:r>
            <a:r>
              <a:rPr lang="en-US" dirty="0"/>
              <a:t>, </a:t>
            </a:r>
            <a:r>
              <a:rPr lang="en-US" dirty="0" err="1"/>
              <a:t>securitatea</a:t>
            </a:r>
            <a:r>
              <a:rPr lang="en-US" dirty="0"/>
              <a:t>. </a:t>
            </a:r>
            <a:r>
              <a:rPr lang="en-US" dirty="0" err="1"/>
              <a:t>Utilizatorii</a:t>
            </a:r>
            <a:r>
              <a:rPr lang="en-US" dirty="0"/>
              <a:t> pot </a:t>
            </a:r>
            <a:r>
              <a:rPr lang="en-US" dirty="0" err="1"/>
              <a:t>controla</a:t>
            </a:r>
            <a:r>
              <a:rPr lang="en-US" dirty="0"/>
              <a:t> cine </a:t>
            </a:r>
            <a:r>
              <a:rPr lang="en-US" dirty="0" err="1"/>
              <a:t>trimite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primește</a:t>
            </a:r>
            <a:r>
              <a:rPr lang="en-US" dirty="0"/>
              <a:t> </a:t>
            </a:r>
            <a:r>
              <a:rPr lang="en-US" dirty="0" err="1"/>
              <a:t>mesaje</a:t>
            </a:r>
            <a:r>
              <a:rPr lang="en-US" dirty="0"/>
              <a:t>.</a:t>
            </a:r>
          </a:p>
          <a:p>
            <a:r>
              <a:rPr lang="en-US" dirty="0" err="1"/>
              <a:t>În</a:t>
            </a:r>
            <a:r>
              <a:rPr lang="en-US" dirty="0"/>
              <a:t> al </a:t>
            </a:r>
            <a:r>
              <a:rPr lang="en-US" dirty="0" err="1"/>
              <a:t>doilea</a:t>
            </a:r>
            <a:r>
              <a:rPr lang="en-US" dirty="0"/>
              <a:t> </a:t>
            </a:r>
            <a:r>
              <a:rPr lang="en-US" dirty="0" err="1"/>
              <a:t>rând</a:t>
            </a:r>
            <a:r>
              <a:rPr lang="en-US" dirty="0"/>
              <a:t>, </a:t>
            </a:r>
            <a:r>
              <a:rPr lang="en-US" dirty="0" err="1"/>
              <a:t>durabilitatea</a:t>
            </a:r>
            <a:r>
              <a:rPr lang="en-US" dirty="0"/>
              <a:t>. </a:t>
            </a:r>
            <a:r>
              <a:rPr lang="en-US" dirty="0" err="1"/>
              <a:t>Mesajele</a:t>
            </a:r>
            <a:r>
              <a:rPr lang="en-US" dirty="0"/>
              <a:t> sunt </a:t>
            </a:r>
            <a:r>
              <a:rPr lang="en-US" dirty="0" err="1"/>
              <a:t>stocate</a:t>
            </a:r>
            <a:r>
              <a:rPr lang="en-US" dirty="0"/>
              <a:t> pe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servere</a:t>
            </a:r>
            <a:r>
              <a:rPr lang="en-US" dirty="0"/>
              <a:t> AWS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preveni</a:t>
            </a:r>
            <a:r>
              <a:rPr lang="en-US" dirty="0"/>
              <a:t> </a:t>
            </a:r>
            <a:r>
              <a:rPr lang="en-US" dirty="0" err="1"/>
              <a:t>pierderea</a:t>
            </a:r>
            <a:r>
              <a:rPr lang="en-US" dirty="0"/>
              <a:t> </a:t>
            </a:r>
            <a:r>
              <a:rPr lang="en-US" dirty="0" err="1"/>
              <a:t>datelor</a:t>
            </a:r>
            <a:r>
              <a:rPr lang="en-US" dirty="0"/>
              <a:t>.</a:t>
            </a:r>
          </a:p>
          <a:p>
            <a:r>
              <a:rPr lang="en-US" dirty="0"/>
              <a:t>De </a:t>
            </a:r>
            <a:r>
              <a:rPr lang="en-US" dirty="0" err="1"/>
              <a:t>asemenea</a:t>
            </a:r>
            <a:r>
              <a:rPr lang="en-US" dirty="0"/>
              <a:t>, </a:t>
            </a:r>
            <a:r>
              <a:rPr lang="en-US" dirty="0" err="1"/>
              <a:t>serviciul</a:t>
            </a:r>
            <a:r>
              <a:rPr lang="en-US" dirty="0"/>
              <a:t> </a:t>
            </a:r>
            <a:r>
              <a:rPr lang="en-US" dirty="0" err="1"/>
              <a:t>oferă</a:t>
            </a:r>
            <a:r>
              <a:rPr lang="en-US" dirty="0"/>
              <a:t> </a:t>
            </a:r>
            <a:r>
              <a:rPr lang="en-US" dirty="0" err="1"/>
              <a:t>disponibilitate</a:t>
            </a:r>
            <a:r>
              <a:rPr lang="en-US" dirty="0"/>
              <a:t> </a:t>
            </a:r>
            <a:r>
              <a:rPr lang="en-US" dirty="0" err="1"/>
              <a:t>ridicată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scalabilitate</a:t>
            </a:r>
            <a:r>
              <a:rPr lang="en-US" dirty="0"/>
              <a:t> </a:t>
            </a:r>
            <a:r>
              <a:rPr lang="en-US" dirty="0" err="1"/>
              <a:t>automată</a:t>
            </a:r>
            <a:r>
              <a:rPr lang="en-US" dirty="0"/>
              <a:t>.</a:t>
            </a:r>
          </a:p>
          <a:p>
            <a:r>
              <a:rPr lang="en-US" dirty="0"/>
              <a:t>Un alt </a:t>
            </a:r>
            <a:r>
              <a:rPr lang="en-US" dirty="0" err="1"/>
              <a:t>avantaj</a:t>
            </a:r>
            <a:r>
              <a:rPr lang="en-US" dirty="0"/>
              <a:t> important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flexibilitatea</a:t>
            </a:r>
            <a:r>
              <a:rPr lang="en-US" dirty="0"/>
              <a:t>, </a:t>
            </a:r>
            <a:r>
              <a:rPr lang="en-US" dirty="0" err="1"/>
              <a:t>deoarece</a:t>
            </a:r>
            <a:r>
              <a:rPr lang="en-US" dirty="0"/>
              <a:t> SQS </a:t>
            </a:r>
            <a:r>
              <a:rPr lang="en-US" dirty="0" err="1"/>
              <a:t>poate</a:t>
            </a:r>
            <a:r>
              <a:rPr lang="en-US" dirty="0"/>
              <a:t> fi </a:t>
            </a:r>
            <a:r>
              <a:rPr lang="en-US" dirty="0" err="1"/>
              <a:t>integrat</a:t>
            </a:r>
            <a:r>
              <a:rPr lang="en-US" dirty="0"/>
              <a:t> cu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alte</a:t>
            </a:r>
            <a:r>
              <a:rPr lang="en-US" dirty="0"/>
              <a:t> </a:t>
            </a:r>
            <a:r>
              <a:rPr lang="en-US" dirty="0" err="1"/>
              <a:t>servicii</a:t>
            </a:r>
            <a:r>
              <a:rPr lang="en-US" dirty="0"/>
              <a:t> AWS.”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42CAF0-3F4E-4EA3-A02D-EF4365BBF70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3420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hyperlink" Target="https://docs.aws.amazon.com/AWSSimpleQueueService/latest/SQSDeveloperGuide/security-iam.html" TargetMode="External"/><Relationship Id="rId7" Type="http://schemas.openxmlformats.org/officeDocument/2006/relationships/image" Target="../media/image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svg"/><Relationship Id="rId5" Type="http://schemas.openxmlformats.org/officeDocument/2006/relationships/hyperlink" Target="https://docs.aws.amazon.com/AWSSimpleQueueService/latest/SQSDeveloperGuide/sqs-client-side-buffering-request-batching.html" TargetMode="External"/><Relationship Id="rId4" Type="http://schemas.openxmlformats.org/officeDocument/2006/relationships/hyperlink" Target="https://docs.aws.amazon.com/AWSSimpleQueueService/latest/SQSDeveloperGuide/welcome.html#sqs-basic-architecture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hyperlink" Target="https://aws.amazon.com/sqs/" TargetMode="External"/><Relationship Id="rId7" Type="http://schemas.openxmlformats.org/officeDocument/2006/relationships/image" Target="../media/image2.svg"/><Relationship Id="rId2" Type="http://schemas.openxmlformats.org/officeDocument/2006/relationships/hyperlink" Target="https://www.geeksforgeeks.org/devops/aws-sqs/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svg"/><Relationship Id="rId5" Type="http://schemas.openxmlformats.org/officeDocument/2006/relationships/hyperlink" Target="https://www.datacamp.com/tutorial/amazon-sqs?dc_referrer=https%3A%2F%2Fwww.bing.com%2F" TargetMode="External"/><Relationship Id="rId4" Type="http://schemas.openxmlformats.org/officeDocument/2006/relationships/hyperlink" Target="https://docs.aws.amazon.com/AWSSimpleQueueService/latest/SQSDeveloperGuide/welcome.html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697114" y="3725570"/>
            <a:ext cx="11240436" cy="11065461"/>
          </a:xfrm>
          <a:custGeom>
            <a:avLst/>
            <a:gdLst/>
            <a:ahLst/>
            <a:cxnLst/>
            <a:rect l="l" t="t" r="r" b="b"/>
            <a:pathLst>
              <a:path w="11240436" h="11065461">
                <a:moveTo>
                  <a:pt x="0" y="0"/>
                </a:moveTo>
                <a:lnTo>
                  <a:pt x="11240436" y="0"/>
                </a:lnTo>
                <a:lnTo>
                  <a:pt x="11240436" y="11065460"/>
                </a:lnTo>
                <a:lnTo>
                  <a:pt x="0" y="110654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3481479" y="3763143"/>
            <a:ext cx="11325041" cy="1828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75"/>
              </a:lnSpc>
            </a:pPr>
            <a:r>
              <a:rPr lang="en-US" sz="5268" b="1" dirty="0">
                <a:solidFill>
                  <a:srgbClr val="00000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AWS SIMPLE QUEUE SERVICE (SQS)</a:t>
            </a:r>
          </a:p>
        </p:txBody>
      </p:sp>
      <p:sp>
        <p:nvSpPr>
          <p:cNvPr id="4" name="Freeform 4"/>
          <p:cNvSpPr/>
          <p:nvPr/>
        </p:nvSpPr>
        <p:spPr>
          <a:xfrm>
            <a:off x="-7758957" y="-6935962"/>
            <a:ext cx="11240436" cy="11065461"/>
          </a:xfrm>
          <a:custGeom>
            <a:avLst/>
            <a:gdLst/>
            <a:ahLst/>
            <a:cxnLst/>
            <a:rect l="l" t="t" r="r" b="b"/>
            <a:pathLst>
              <a:path w="11240436" h="11065461">
                <a:moveTo>
                  <a:pt x="0" y="0"/>
                </a:moveTo>
                <a:lnTo>
                  <a:pt x="11240436" y="0"/>
                </a:lnTo>
                <a:lnTo>
                  <a:pt x="11240436" y="11065460"/>
                </a:lnTo>
                <a:lnTo>
                  <a:pt x="0" y="110654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0" y="5143500"/>
            <a:ext cx="5459234" cy="5459234"/>
          </a:xfrm>
          <a:custGeom>
            <a:avLst/>
            <a:gdLst/>
            <a:ahLst/>
            <a:cxnLst/>
            <a:rect l="l" t="t" r="r" b="b"/>
            <a:pathLst>
              <a:path w="5459234" h="5459234">
                <a:moveTo>
                  <a:pt x="0" y="0"/>
                </a:moveTo>
                <a:lnTo>
                  <a:pt x="5459234" y="0"/>
                </a:lnTo>
                <a:lnTo>
                  <a:pt x="5459234" y="5459234"/>
                </a:lnTo>
                <a:lnTo>
                  <a:pt x="0" y="54592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flipH="1" flipV="1">
            <a:off x="14697114" y="-285476"/>
            <a:ext cx="4064199" cy="4064199"/>
          </a:xfrm>
          <a:custGeom>
            <a:avLst/>
            <a:gdLst/>
            <a:ahLst/>
            <a:cxnLst/>
            <a:rect l="l" t="t" r="r" b="b"/>
            <a:pathLst>
              <a:path w="4064199" h="4064199">
                <a:moveTo>
                  <a:pt x="4064199" y="4064200"/>
                </a:moveTo>
                <a:lnTo>
                  <a:pt x="0" y="4064200"/>
                </a:lnTo>
                <a:lnTo>
                  <a:pt x="0" y="0"/>
                </a:lnTo>
                <a:lnTo>
                  <a:pt x="4064199" y="0"/>
                </a:lnTo>
                <a:lnTo>
                  <a:pt x="4064199" y="40642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5337519" y="2587910"/>
            <a:ext cx="2409526" cy="2094097"/>
          </a:xfrm>
          <a:custGeom>
            <a:avLst/>
            <a:gdLst/>
            <a:ahLst/>
            <a:cxnLst/>
            <a:rect l="l" t="t" r="r" b="b"/>
            <a:pathLst>
              <a:path w="2409526" h="2094097">
                <a:moveTo>
                  <a:pt x="0" y="0"/>
                </a:moveTo>
                <a:lnTo>
                  <a:pt x="2409526" y="0"/>
                </a:lnTo>
                <a:lnTo>
                  <a:pt x="2409526" y="2094097"/>
                </a:lnTo>
                <a:lnTo>
                  <a:pt x="0" y="20940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3985812" y="5591475"/>
            <a:ext cx="11064112" cy="810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98"/>
              </a:lnSpc>
            </a:pPr>
            <a:r>
              <a:rPr lang="en-US" sz="4856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By Busnatu Flavia-Paula</a:t>
            </a:r>
          </a:p>
        </p:txBody>
      </p:sp>
      <p:sp>
        <p:nvSpPr>
          <p:cNvPr id="9" name="Freeform 9"/>
          <p:cNvSpPr/>
          <p:nvPr/>
        </p:nvSpPr>
        <p:spPr>
          <a:xfrm flipH="1">
            <a:off x="320091" y="4096451"/>
            <a:ext cx="2409526" cy="2094097"/>
          </a:xfrm>
          <a:custGeom>
            <a:avLst/>
            <a:gdLst/>
            <a:ahLst/>
            <a:cxnLst/>
            <a:rect l="l" t="t" r="r" b="b"/>
            <a:pathLst>
              <a:path w="2409526" h="2094097">
                <a:moveTo>
                  <a:pt x="2409526" y="0"/>
                </a:moveTo>
                <a:lnTo>
                  <a:pt x="0" y="0"/>
                </a:lnTo>
                <a:lnTo>
                  <a:pt x="0" y="2094098"/>
                </a:lnTo>
                <a:lnTo>
                  <a:pt x="2409526" y="2094098"/>
                </a:lnTo>
                <a:lnTo>
                  <a:pt x="240952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4014593" y="493813"/>
            <a:ext cx="2409526" cy="2094097"/>
          </a:xfrm>
          <a:custGeom>
            <a:avLst/>
            <a:gdLst/>
            <a:ahLst/>
            <a:cxnLst/>
            <a:rect l="l" t="t" r="r" b="b"/>
            <a:pathLst>
              <a:path w="2409526" h="2094097">
                <a:moveTo>
                  <a:pt x="0" y="0"/>
                </a:moveTo>
                <a:lnTo>
                  <a:pt x="2409526" y="0"/>
                </a:lnTo>
                <a:lnTo>
                  <a:pt x="2409526" y="2094097"/>
                </a:lnTo>
                <a:lnTo>
                  <a:pt x="0" y="20940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9857" y="3292863"/>
            <a:ext cx="9481552" cy="8340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6"/>
              </a:lnSpc>
            </a:pPr>
            <a:r>
              <a:rPr lang="en-US" sz="334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       Amazon Simple Queue Service is a fully managed message queuing service offered by Amazon Web Services. It allows different parts of an application to communicate with each other in a reliable and scalable way.</a:t>
            </a:r>
          </a:p>
          <a:p>
            <a:pPr algn="l">
              <a:lnSpc>
                <a:spcPts val="5096"/>
              </a:lnSpc>
            </a:pPr>
            <a:endParaRPr lang="en-US" sz="3340">
              <a:solidFill>
                <a:srgbClr val="000000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algn="l">
              <a:lnSpc>
                <a:spcPts val="4536"/>
              </a:lnSpc>
            </a:pPr>
            <a:r>
              <a:rPr lang="en-US" sz="324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     Instead of services communicating directly, messages are sent to a queue and processed later by other components. This approach helps applications remain stable and efficient, especially during periods of high traffic.</a:t>
            </a:r>
          </a:p>
          <a:p>
            <a:pPr algn="l">
              <a:lnSpc>
                <a:spcPts val="5096"/>
              </a:lnSpc>
            </a:pPr>
            <a:endParaRPr lang="en-US" sz="3240">
              <a:solidFill>
                <a:srgbClr val="000000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algn="l">
              <a:lnSpc>
                <a:spcPts val="5096"/>
              </a:lnSpc>
            </a:pPr>
            <a:r>
              <a:rPr lang="en-US" sz="364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    </a:t>
            </a:r>
          </a:p>
          <a:p>
            <a:pPr algn="l">
              <a:lnSpc>
                <a:spcPts val="5096"/>
              </a:lnSpc>
            </a:pPr>
            <a:endParaRPr lang="en-US" sz="3640">
              <a:solidFill>
                <a:srgbClr val="000000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-7758957" y="-6935962"/>
            <a:ext cx="11240436" cy="11065461"/>
          </a:xfrm>
          <a:custGeom>
            <a:avLst/>
            <a:gdLst/>
            <a:ahLst/>
            <a:cxnLst/>
            <a:rect l="l" t="t" r="r" b="b"/>
            <a:pathLst>
              <a:path w="11240436" h="11065461">
                <a:moveTo>
                  <a:pt x="0" y="0"/>
                </a:moveTo>
                <a:lnTo>
                  <a:pt x="11240436" y="0"/>
                </a:lnTo>
                <a:lnTo>
                  <a:pt x="11240436" y="11065460"/>
                </a:lnTo>
                <a:lnTo>
                  <a:pt x="0" y="110654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H="1" flipV="1">
            <a:off x="14697114" y="-285476"/>
            <a:ext cx="4064199" cy="4064199"/>
          </a:xfrm>
          <a:custGeom>
            <a:avLst/>
            <a:gdLst/>
            <a:ahLst/>
            <a:cxnLst/>
            <a:rect l="l" t="t" r="r" b="b"/>
            <a:pathLst>
              <a:path w="4064199" h="4064199">
                <a:moveTo>
                  <a:pt x="4064199" y="4064200"/>
                </a:moveTo>
                <a:lnTo>
                  <a:pt x="0" y="4064200"/>
                </a:lnTo>
                <a:lnTo>
                  <a:pt x="0" y="0"/>
                </a:lnTo>
                <a:lnTo>
                  <a:pt x="4064199" y="0"/>
                </a:lnTo>
                <a:lnTo>
                  <a:pt x="4064199" y="40642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4014593" y="493813"/>
            <a:ext cx="2409526" cy="2094097"/>
          </a:xfrm>
          <a:custGeom>
            <a:avLst/>
            <a:gdLst/>
            <a:ahLst/>
            <a:cxnLst/>
            <a:rect l="l" t="t" r="r" b="b"/>
            <a:pathLst>
              <a:path w="2409526" h="2094097">
                <a:moveTo>
                  <a:pt x="0" y="0"/>
                </a:moveTo>
                <a:lnTo>
                  <a:pt x="2409526" y="0"/>
                </a:lnTo>
                <a:lnTo>
                  <a:pt x="2409526" y="2094097"/>
                </a:lnTo>
                <a:lnTo>
                  <a:pt x="0" y="20940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0107158" y="3359538"/>
            <a:ext cx="7814870" cy="5544853"/>
          </a:xfrm>
          <a:custGeom>
            <a:avLst/>
            <a:gdLst/>
            <a:ahLst/>
            <a:cxnLst/>
            <a:rect l="l" t="t" r="r" b="b"/>
            <a:pathLst>
              <a:path w="7814870" h="5544853">
                <a:moveTo>
                  <a:pt x="0" y="0"/>
                </a:moveTo>
                <a:lnTo>
                  <a:pt x="7814870" y="0"/>
                </a:lnTo>
                <a:lnTo>
                  <a:pt x="7814870" y="5544852"/>
                </a:lnTo>
                <a:lnTo>
                  <a:pt x="0" y="55448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1636" r="-1021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4875411" y="1584699"/>
            <a:ext cx="8537178" cy="1401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sz="8192" b="1">
                <a:solidFill>
                  <a:srgbClr val="00000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WHAT IS SQS?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064997" y="1183282"/>
            <a:ext cx="12158006" cy="1404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sz="8192" b="1">
                <a:solidFill>
                  <a:srgbClr val="00000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HOW AWS SQS WORKS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43017" y="3317346"/>
            <a:ext cx="14899265" cy="2270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9574" lvl="1" indent="-349787" algn="l">
              <a:lnSpc>
                <a:spcPts val="4536"/>
              </a:lnSpc>
              <a:buFont typeface="Arial"/>
              <a:buChar char="•"/>
            </a:pPr>
            <a:r>
              <a:rPr lang="en-US" sz="324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AWS SQS works by storing messages in a queue until they are processed by another application or service. A producer application sends messages to the queue, while a consumer application retrieves and processes those messages.</a:t>
            </a:r>
          </a:p>
          <a:p>
            <a:pPr algn="l">
              <a:lnSpc>
                <a:spcPts val="4536"/>
              </a:lnSpc>
            </a:pPr>
            <a:endParaRPr lang="en-US" sz="3240">
              <a:solidFill>
                <a:srgbClr val="000000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-7758957" y="-6935962"/>
            <a:ext cx="11240436" cy="11065461"/>
          </a:xfrm>
          <a:custGeom>
            <a:avLst/>
            <a:gdLst/>
            <a:ahLst/>
            <a:cxnLst/>
            <a:rect l="l" t="t" r="r" b="b"/>
            <a:pathLst>
              <a:path w="11240436" h="11065461">
                <a:moveTo>
                  <a:pt x="0" y="0"/>
                </a:moveTo>
                <a:lnTo>
                  <a:pt x="11240436" y="0"/>
                </a:lnTo>
                <a:lnTo>
                  <a:pt x="11240436" y="11065460"/>
                </a:lnTo>
                <a:lnTo>
                  <a:pt x="0" y="110654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flipH="1" flipV="1">
            <a:off x="14697114" y="-285476"/>
            <a:ext cx="4064199" cy="4064199"/>
          </a:xfrm>
          <a:custGeom>
            <a:avLst/>
            <a:gdLst/>
            <a:ahLst/>
            <a:cxnLst/>
            <a:rect l="l" t="t" r="r" b="b"/>
            <a:pathLst>
              <a:path w="4064199" h="4064199">
                <a:moveTo>
                  <a:pt x="4064199" y="4064200"/>
                </a:moveTo>
                <a:lnTo>
                  <a:pt x="0" y="4064200"/>
                </a:lnTo>
                <a:lnTo>
                  <a:pt x="0" y="0"/>
                </a:lnTo>
                <a:lnTo>
                  <a:pt x="4064199" y="0"/>
                </a:lnTo>
                <a:lnTo>
                  <a:pt x="4064199" y="40642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503034" y="7486068"/>
            <a:ext cx="19191367" cy="4429793"/>
          </a:xfrm>
          <a:custGeom>
            <a:avLst/>
            <a:gdLst/>
            <a:ahLst/>
            <a:cxnLst/>
            <a:rect l="l" t="t" r="r" b="b"/>
            <a:pathLst>
              <a:path w="19191367" h="4429793">
                <a:moveTo>
                  <a:pt x="0" y="0"/>
                </a:moveTo>
                <a:lnTo>
                  <a:pt x="19191367" y="0"/>
                </a:lnTo>
                <a:lnTo>
                  <a:pt x="19191367" y="4429793"/>
                </a:lnTo>
                <a:lnTo>
                  <a:pt x="0" y="44297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93153" b="-2388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720043" y="5232711"/>
            <a:ext cx="14847914" cy="1698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9574" lvl="1" indent="-349787" algn="l">
              <a:lnSpc>
                <a:spcPts val="4536"/>
              </a:lnSpc>
              <a:buFont typeface="Arial"/>
              <a:buChar char="•"/>
            </a:pPr>
            <a:r>
              <a:rPr lang="en-US" sz="324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This process enables asynchronous communication. In other words, applications do not need to wait for each other to complete tasks. As a result, systems become faster, more flexible, and easier to scale.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82880"/>
            <a:ext cx="18288000" cy="9921240"/>
          </a:xfrm>
          <a:custGeom>
            <a:avLst/>
            <a:gdLst/>
            <a:ahLst/>
            <a:cxnLst/>
            <a:rect l="l" t="t" r="r" b="b"/>
            <a:pathLst>
              <a:path w="18288000" h="9921240">
                <a:moveTo>
                  <a:pt x="0" y="0"/>
                </a:moveTo>
                <a:lnTo>
                  <a:pt x="18288000" y="0"/>
                </a:lnTo>
                <a:lnTo>
                  <a:pt x="18288000" y="9921240"/>
                </a:lnTo>
                <a:lnTo>
                  <a:pt x="0" y="99212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>
            <a:off x="0" y="5143500"/>
            <a:ext cx="5459234" cy="5459234"/>
          </a:xfrm>
          <a:custGeom>
            <a:avLst/>
            <a:gdLst/>
            <a:ahLst/>
            <a:cxnLst/>
            <a:rect l="l" t="t" r="r" b="b"/>
            <a:pathLst>
              <a:path w="5459234" h="5459234">
                <a:moveTo>
                  <a:pt x="0" y="0"/>
                </a:moveTo>
                <a:lnTo>
                  <a:pt x="5459234" y="0"/>
                </a:lnTo>
                <a:lnTo>
                  <a:pt x="5459234" y="5459234"/>
                </a:lnTo>
                <a:lnTo>
                  <a:pt x="0" y="54592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03AAD9-8A61-C581-E906-08BE429679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869" y="0"/>
            <a:ext cx="15199331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758957" y="-6935962"/>
            <a:ext cx="11240436" cy="11065461"/>
          </a:xfrm>
          <a:custGeom>
            <a:avLst/>
            <a:gdLst/>
            <a:ahLst/>
            <a:cxnLst/>
            <a:rect l="l" t="t" r="r" b="b"/>
            <a:pathLst>
              <a:path w="11240436" h="11065461">
                <a:moveTo>
                  <a:pt x="0" y="0"/>
                </a:moveTo>
                <a:lnTo>
                  <a:pt x="11240436" y="0"/>
                </a:lnTo>
                <a:lnTo>
                  <a:pt x="11240436" y="11065460"/>
                </a:lnTo>
                <a:lnTo>
                  <a:pt x="0" y="110654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0" y="5143500"/>
            <a:ext cx="5459234" cy="5459234"/>
          </a:xfrm>
          <a:custGeom>
            <a:avLst/>
            <a:gdLst/>
            <a:ahLst/>
            <a:cxnLst/>
            <a:rect l="l" t="t" r="r" b="b"/>
            <a:pathLst>
              <a:path w="5459234" h="5459234">
                <a:moveTo>
                  <a:pt x="0" y="0"/>
                </a:moveTo>
                <a:lnTo>
                  <a:pt x="5459234" y="0"/>
                </a:lnTo>
                <a:lnTo>
                  <a:pt x="5459234" y="5459234"/>
                </a:lnTo>
                <a:lnTo>
                  <a:pt x="0" y="54592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6809293" y="0"/>
            <a:ext cx="11402878" cy="10287000"/>
          </a:xfrm>
          <a:custGeom>
            <a:avLst/>
            <a:gdLst/>
            <a:ahLst/>
            <a:cxnLst/>
            <a:rect l="l" t="t" r="r" b="b"/>
            <a:pathLst>
              <a:path w="11402878" h="10287000">
                <a:moveTo>
                  <a:pt x="0" y="0"/>
                </a:moveTo>
                <a:lnTo>
                  <a:pt x="11402878" y="0"/>
                </a:lnTo>
                <a:lnTo>
                  <a:pt x="1140287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366218" y="4005673"/>
            <a:ext cx="6585393" cy="3307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09"/>
              </a:lnSpc>
            </a:pPr>
            <a:r>
              <a:rPr lang="en-US" sz="6292" b="1">
                <a:solidFill>
                  <a:srgbClr val="00000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LIFE CYCLE OF AWS SQS</a:t>
            </a:r>
          </a:p>
          <a:p>
            <a:pPr algn="ctr">
              <a:lnSpc>
                <a:spcPts val="8809"/>
              </a:lnSpc>
            </a:pPr>
            <a:endParaRPr lang="en-US" sz="6292" b="1">
              <a:solidFill>
                <a:srgbClr val="000000"/>
              </a:solidFill>
              <a:latin typeface="Atkinson Hyperlegible Bold"/>
              <a:ea typeface="Atkinson Hyperlegible Bold"/>
              <a:cs typeface="Atkinson Hyperlegible Bold"/>
              <a:sym typeface="Atkinson Hyperlegible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89602" y="1421100"/>
            <a:ext cx="14934517" cy="5245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89"/>
              </a:lnSpc>
            </a:pPr>
            <a:r>
              <a:rPr lang="en-US" sz="5492" b="1">
                <a:solidFill>
                  <a:srgbClr val="00000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BENEFITS OF USING AMAZON SQS</a:t>
            </a:r>
          </a:p>
          <a:p>
            <a:pPr algn="ctr">
              <a:lnSpc>
                <a:spcPts val="11469"/>
              </a:lnSpc>
            </a:pPr>
            <a:endParaRPr lang="en-US" sz="5492" b="1">
              <a:solidFill>
                <a:srgbClr val="000000"/>
              </a:solidFill>
              <a:latin typeface="Atkinson Hyperlegible Bold"/>
              <a:ea typeface="Atkinson Hyperlegible Bold"/>
              <a:cs typeface="Atkinson Hyperlegible Bold"/>
              <a:sym typeface="Atkinson Hyperlegible Bold"/>
            </a:endParaRPr>
          </a:p>
          <a:p>
            <a:pPr marL="1768723" lvl="1" indent="-884361" algn="ctr">
              <a:lnSpc>
                <a:spcPts val="11469"/>
              </a:lnSpc>
              <a:buFont typeface="Arial"/>
              <a:buChar char="•"/>
            </a:pPr>
            <a:endParaRPr lang="en-US" sz="5492" b="1">
              <a:solidFill>
                <a:srgbClr val="000000"/>
              </a:solidFill>
              <a:latin typeface="Atkinson Hyperlegible Bold"/>
              <a:ea typeface="Atkinson Hyperlegible Bold"/>
              <a:cs typeface="Atkinson Hyperlegible Bold"/>
              <a:sym typeface="Atkinson Hyperlegible Bold"/>
            </a:endParaRPr>
          </a:p>
          <a:p>
            <a:pPr algn="ctr">
              <a:lnSpc>
                <a:spcPts val="11469"/>
              </a:lnSpc>
            </a:pPr>
            <a:endParaRPr lang="en-US" sz="5492" b="1">
              <a:solidFill>
                <a:srgbClr val="000000"/>
              </a:solidFill>
              <a:latin typeface="Atkinson Hyperlegible Bold"/>
              <a:ea typeface="Atkinson Hyperlegible Bold"/>
              <a:cs typeface="Atkinson Hyperlegible Bold"/>
              <a:sym typeface="Atkinson Hyperlegible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966931" y="3155243"/>
            <a:ext cx="14116384" cy="7161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5932" lvl="1" indent="-392966" algn="l">
              <a:lnSpc>
                <a:spcPts val="5096"/>
              </a:lnSpc>
              <a:buFont typeface="Arial"/>
              <a:buChar char="•"/>
            </a:pPr>
            <a:r>
              <a:rPr lang="en-US" sz="3640" b="1" dirty="0">
                <a:solidFill>
                  <a:srgbClr val="00000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Security</a:t>
            </a:r>
            <a:r>
              <a:rPr lang="en-US" sz="3640" dirty="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– </a:t>
            </a:r>
            <a:r>
              <a:rPr lang="en-US" sz="3640" dirty="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  <a:hlinkClick r:id="rId3" tooltip="https://docs.aws.amazon.com/AWSSimpleQueueService/latest/SQSDeveloperGuide/security-iam.html"/>
              </a:rPr>
              <a:t>You control</a:t>
            </a:r>
            <a:r>
              <a:rPr lang="en-US" sz="3640" dirty="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who can send messages to and receive messages from an Amazon SQS queue.</a:t>
            </a:r>
          </a:p>
          <a:p>
            <a:pPr marL="785932" lvl="1" indent="-392966" algn="l">
              <a:lnSpc>
                <a:spcPts val="5096"/>
              </a:lnSpc>
              <a:buFont typeface="Arial"/>
              <a:buChar char="•"/>
            </a:pPr>
            <a:r>
              <a:rPr lang="en-US" sz="3640" b="1" dirty="0">
                <a:solidFill>
                  <a:srgbClr val="00000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Durability </a:t>
            </a:r>
            <a:r>
              <a:rPr lang="en-US" sz="3640" dirty="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– For the safety of your messages, Amazon SQS stores them on multiple servers.</a:t>
            </a:r>
          </a:p>
          <a:p>
            <a:pPr marL="785932" lvl="1" indent="-392966" algn="l">
              <a:lnSpc>
                <a:spcPts val="5096"/>
              </a:lnSpc>
              <a:buFont typeface="Arial"/>
              <a:buChar char="•"/>
            </a:pPr>
            <a:r>
              <a:rPr lang="en-US" sz="3640" b="1" dirty="0">
                <a:solidFill>
                  <a:srgbClr val="00000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Availability </a:t>
            </a:r>
            <a:r>
              <a:rPr lang="en-US" sz="3640" dirty="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– Amazon SQS uses </a:t>
            </a:r>
            <a:r>
              <a:rPr lang="en-US" sz="3640" dirty="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  <a:hlinkClick r:id="rId4" tooltip="https://docs.aws.amazon.com/AWSSimpleQueueService/latest/SQSDeveloperGuide/welcome.html#sqs-basic-architecture"/>
              </a:rPr>
              <a:t>redundant infrastructure</a:t>
            </a:r>
            <a:r>
              <a:rPr lang="en-US" sz="3640" dirty="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to provide high availability for producing and consuming messages</a:t>
            </a:r>
          </a:p>
          <a:p>
            <a:pPr marL="785932" lvl="1" indent="-392966" algn="l">
              <a:lnSpc>
                <a:spcPts val="5096"/>
              </a:lnSpc>
              <a:buFont typeface="Arial"/>
              <a:buChar char="•"/>
            </a:pPr>
            <a:r>
              <a:rPr lang="en-US" sz="3640" b="1" dirty="0">
                <a:solidFill>
                  <a:srgbClr val="00000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Scalability</a:t>
            </a:r>
            <a:r>
              <a:rPr lang="en-US" sz="3640" dirty="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– Amazon SQS can process each </a:t>
            </a:r>
            <a:r>
              <a:rPr lang="en-US" sz="3640" dirty="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  <a:hlinkClick r:id="rId5" tooltip="https://docs.aws.amazon.com/AWSSimpleQueueService/latest/SQSDeveloperGuide/sqs-client-side-buffering-request-batching.html"/>
              </a:rPr>
              <a:t>buffered request</a:t>
            </a:r>
            <a:r>
              <a:rPr lang="en-US" sz="3640" dirty="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independently</a:t>
            </a:r>
          </a:p>
          <a:p>
            <a:pPr marL="785932" lvl="1" indent="-392966" algn="l">
              <a:lnSpc>
                <a:spcPts val="5096"/>
              </a:lnSpc>
              <a:buFont typeface="Arial"/>
              <a:buChar char="•"/>
            </a:pPr>
            <a:r>
              <a:rPr lang="en-US" sz="3640" b="1" dirty="0">
                <a:solidFill>
                  <a:srgbClr val="00000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Flexibility </a:t>
            </a:r>
            <a:r>
              <a:rPr lang="en-US" sz="3640" dirty="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- It supports multiple message formats and can be used with various AWS services.</a:t>
            </a:r>
          </a:p>
          <a:p>
            <a:pPr marL="785932" lvl="1" indent="-392966" algn="l">
              <a:lnSpc>
                <a:spcPts val="5096"/>
              </a:lnSpc>
              <a:buFont typeface="Arial"/>
              <a:buChar char="•"/>
            </a:pPr>
            <a:endParaRPr lang="en-US" sz="3640" dirty="0">
              <a:solidFill>
                <a:srgbClr val="000000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-7758957" y="-6935962"/>
            <a:ext cx="11240436" cy="11065461"/>
          </a:xfrm>
          <a:custGeom>
            <a:avLst/>
            <a:gdLst/>
            <a:ahLst/>
            <a:cxnLst/>
            <a:rect l="l" t="t" r="r" b="b"/>
            <a:pathLst>
              <a:path w="11240436" h="11065461">
                <a:moveTo>
                  <a:pt x="0" y="0"/>
                </a:moveTo>
                <a:lnTo>
                  <a:pt x="11240436" y="0"/>
                </a:lnTo>
                <a:lnTo>
                  <a:pt x="11240436" y="11065460"/>
                </a:lnTo>
                <a:lnTo>
                  <a:pt x="0" y="110654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0" y="5143500"/>
            <a:ext cx="5459234" cy="5459234"/>
          </a:xfrm>
          <a:custGeom>
            <a:avLst/>
            <a:gdLst/>
            <a:ahLst/>
            <a:cxnLst/>
            <a:rect l="l" t="t" r="r" b="b"/>
            <a:pathLst>
              <a:path w="5459234" h="5459234">
                <a:moveTo>
                  <a:pt x="0" y="0"/>
                </a:moveTo>
                <a:lnTo>
                  <a:pt x="5459234" y="0"/>
                </a:lnTo>
                <a:lnTo>
                  <a:pt x="5459234" y="5459234"/>
                </a:lnTo>
                <a:lnTo>
                  <a:pt x="0" y="54592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flipH="1" flipV="1">
            <a:off x="14697114" y="-285476"/>
            <a:ext cx="4064199" cy="4064199"/>
          </a:xfrm>
          <a:custGeom>
            <a:avLst/>
            <a:gdLst/>
            <a:ahLst/>
            <a:cxnLst/>
            <a:rect l="l" t="t" r="r" b="b"/>
            <a:pathLst>
              <a:path w="4064199" h="4064199">
                <a:moveTo>
                  <a:pt x="4064199" y="4064200"/>
                </a:moveTo>
                <a:lnTo>
                  <a:pt x="0" y="4064200"/>
                </a:lnTo>
                <a:lnTo>
                  <a:pt x="0" y="0"/>
                </a:lnTo>
                <a:lnTo>
                  <a:pt x="4064199" y="0"/>
                </a:lnTo>
                <a:lnTo>
                  <a:pt x="4064199" y="40642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flipH="1">
            <a:off x="320091" y="4096451"/>
            <a:ext cx="2409526" cy="2094097"/>
          </a:xfrm>
          <a:custGeom>
            <a:avLst/>
            <a:gdLst/>
            <a:ahLst/>
            <a:cxnLst/>
            <a:rect l="l" t="t" r="r" b="b"/>
            <a:pathLst>
              <a:path w="2409526" h="2094097">
                <a:moveTo>
                  <a:pt x="2409526" y="0"/>
                </a:moveTo>
                <a:lnTo>
                  <a:pt x="0" y="0"/>
                </a:lnTo>
                <a:lnTo>
                  <a:pt x="0" y="2094098"/>
                </a:lnTo>
                <a:lnTo>
                  <a:pt x="2409526" y="2094098"/>
                </a:lnTo>
                <a:lnTo>
                  <a:pt x="240952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820708" y="1378937"/>
            <a:ext cx="8537178" cy="1404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sz="8192" b="1">
                <a:solidFill>
                  <a:srgbClr val="00000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CONCLUSION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3540513"/>
            <a:ext cx="16230600" cy="5079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96"/>
              </a:lnSpc>
            </a:pPr>
            <a:r>
              <a:rPr lang="en-US" sz="364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      AWS SQS is an essential service for building scalable and reliable cloud applications. It enables asynchronous communication between distributed services and helps applications remain stable under heavy workloads.</a:t>
            </a:r>
          </a:p>
          <a:p>
            <a:pPr algn="l">
              <a:lnSpc>
                <a:spcPts val="5096"/>
              </a:lnSpc>
            </a:pPr>
            <a:r>
              <a:rPr lang="en-US" sz="364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      </a:t>
            </a:r>
          </a:p>
          <a:p>
            <a:pPr algn="l">
              <a:lnSpc>
                <a:spcPts val="5096"/>
              </a:lnSpc>
            </a:pPr>
            <a:r>
              <a:rPr lang="en-US" sz="364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     Because it is secure, scalable, and easy to integrate with other AWS services, SQS is widely used in modern software architectures and microservices environments.</a:t>
            </a:r>
          </a:p>
          <a:p>
            <a:pPr algn="l">
              <a:lnSpc>
                <a:spcPts val="5096"/>
              </a:lnSpc>
            </a:pPr>
            <a:endParaRPr lang="en-US" sz="3640">
              <a:solidFill>
                <a:srgbClr val="000000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-7758957" y="-6935962"/>
            <a:ext cx="11240436" cy="11065461"/>
          </a:xfrm>
          <a:custGeom>
            <a:avLst/>
            <a:gdLst/>
            <a:ahLst/>
            <a:cxnLst/>
            <a:rect l="l" t="t" r="r" b="b"/>
            <a:pathLst>
              <a:path w="11240436" h="11065461">
                <a:moveTo>
                  <a:pt x="0" y="0"/>
                </a:moveTo>
                <a:lnTo>
                  <a:pt x="11240436" y="0"/>
                </a:lnTo>
                <a:lnTo>
                  <a:pt x="11240436" y="11065460"/>
                </a:lnTo>
                <a:lnTo>
                  <a:pt x="0" y="110654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flipH="1" flipV="1">
            <a:off x="14697114" y="-285476"/>
            <a:ext cx="4064199" cy="4064199"/>
          </a:xfrm>
          <a:custGeom>
            <a:avLst/>
            <a:gdLst/>
            <a:ahLst/>
            <a:cxnLst/>
            <a:rect l="l" t="t" r="r" b="b"/>
            <a:pathLst>
              <a:path w="4064199" h="4064199">
                <a:moveTo>
                  <a:pt x="4064199" y="4064200"/>
                </a:moveTo>
                <a:lnTo>
                  <a:pt x="0" y="4064200"/>
                </a:lnTo>
                <a:lnTo>
                  <a:pt x="0" y="0"/>
                </a:lnTo>
                <a:lnTo>
                  <a:pt x="4064199" y="0"/>
                </a:lnTo>
                <a:lnTo>
                  <a:pt x="4064199" y="40642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4014593" y="493813"/>
            <a:ext cx="2409526" cy="2094097"/>
          </a:xfrm>
          <a:custGeom>
            <a:avLst/>
            <a:gdLst/>
            <a:ahLst/>
            <a:cxnLst/>
            <a:rect l="l" t="t" r="r" b="b"/>
            <a:pathLst>
              <a:path w="2409526" h="2094097">
                <a:moveTo>
                  <a:pt x="0" y="0"/>
                </a:moveTo>
                <a:lnTo>
                  <a:pt x="2409526" y="0"/>
                </a:lnTo>
                <a:lnTo>
                  <a:pt x="2409526" y="2094097"/>
                </a:lnTo>
                <a:lnTo>
                  <a:pt x="0" y="20940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875411" y="2301658"/>
            <a:ext cx="8537178" cy="1404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sz="8192" b="1">
                <a:solidFill>
                  <a:srgbClr val="00000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BIBLIOGRAPHY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565774" y="4086777"/>
            <a:ext cx="11156451" cy="612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5932" lvl="1" indent="-392966" algn="l">
              <a:lnSpc>
                <a:spcPts val="5096"/>
              </a:lnSpc>
              <a:buFont typeface="Arial"/>
              <a:buChar char="•"/>
            </a:pPr>
            <a:r>
              <a:rPr lang="en-US" sz="3640" u="sng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  <a:hlinkClick r:id="rId2" tooltip="https://www.geeksforgeeks.org/devops/aws-sqs/"/>
              </a:rPr>
              <a:t>geeksforgeeks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565774" y="4765565"/>
            <a:ext cx="11156451" cy="1888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5932" lvl="1" indent="-392966" algn="l">
              <a:lnSpc>
                <a:spcPts val="5096"/>
              </a:lnSpc>
              <a:buFont typeface="Arial"/>
              <a:buChar char="•"/>
            </a:pPr>
            <a:r>
              <a:rPr lang="en-US" sz="3640" u="sng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  <a:hlinkClick r:id="rId3" tooltip="https://aws.amazon.com/sqs/"/>
              </a:rPr>
              <a:t>amazon.com</a:t>
            </a:r>
          </a:p>
          <a:p>
            <a:pPr marL="785932" lvl="1" indent="-392966" algn="l">
              <a:lnSpc>
                <a:spcPts val="5096"/>
              </a:lnSpc>
              <a:buFont typeface="Arial"/>
              <a:buChar char="•"/>
            </a:pPr>
            <a:r>
              <a:rPr lang="en-US" sz="3640" u="sng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  <a:hlinkClick r:id="rId4" tooltip="https://docs.aws.amazon.com/AWSSimpleQueueService/latest/SQSDeveloperGuide/welcome.html"/>
              </a:rPr>
              <a:t>docs.aws.amazon.com</a:t>
            </a:r>
          </a:p>
          <a:p>
            <a:pPr marL="785932" lvl="1" indent="-392966" algn="l">
              <a:lnSpc>
                <a:spcPts val="5096"/>
              </a:lnSpc>
              <a:buFont typeface="Arial"/>
              <a:buChar char="•"/>
            </a:pPr>
            <a:r>
              <a:rPr lang="en-US" sz="3640" u="sng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  <a:hlinkClick r:id="rId5" tooltip="https://www.datacamp.com/tutorial/amazon-sqs?dc_referrer=https%3A%2F%2Fwww.bing.com%2F"/>
              </a:rPr>
              <a:t>www.datacamp.com</a:t>
            </a:r>
          </a:p>
        </p:txBody>
      </p:sp>
      <p:sp>
        <p:nvSpPr>
          <p:cNvPr id="5" name="Freeform 5"/>
          <p:cNvSpPr/>
          <p:nvPr/>
        </p:nvSpPr>
        <p:spPr>
          <a:xfrm>
            <a:off x="14697114" y="3725570"/>
            <a:ext cx="11240436" cy="11065461"/>
          </a:xfrm>
          <a:custGeom>
            <a:avLst/>
            <a:gdLst/>
            <a:ahLst/>
            <a:cxnLst/>
            <a:rect l="l" t="t" r="r" b="b"/>
            <a:pathLst>
              <a:path w="11240436" h="11065461">
                <a:moveTo>
                  <a:pt x="0" y="0"/>
                </a:moveTo>
                <a:lnTo>
                  <a:pt x="11240436" y="0"/>
                </a:lnTo>
                <a:lnTo>
                  <a:pt x="11240436" y="11065460"/>
                </a:lnTo>
                <a:lnTo>
                  <a:pt x="0" y="110654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7758957" y="-6935962"/>
            <a:ext cx="11240436" cy="11065461"/>
          </a:xfrm>
          <a:custGeom>
            <a:avLst/>
            <a:gdLst/>
            <a:ahLst/>
            <a:cxnLst/>
            <a:rect l="l" t="t" r="r" b="b"/>
            <a:pathLst>
              <a:path w="11240436" h="11065461">
                <a:moveTo>
                  <a:pt x="0" y="0"/>
                </a:moveTo>
                <a:lnTo>
                  <a:pt x="11240436" y="0"/>
                </a:lnTo>
                <a:lnTo>
                  <a:pt x="11240436" y="11065460"/>
                </a:lnTo>
                <a:lnTo>
                  <a:pt x="0" y="110654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0" y="5143500"/>
            <a:ext cx="5459234" cy="5459234"/>
          </a:xfrm>
          <a:custGeom>
            <a:avLst/>
            <a:gdLst/>
            <a:ahLst/>
            <a:cxnLst/>
            <a:rect l="l" t="t" r="r" b="b"/>
            <a:pathLst>
              <a:path w="5459234" h="5459234">
                <a:moveTo>
                  <a:pt x="0" y="0"/>
                </a:moveTo>
                <a:lnTo>
                  <a:pt x="5459234" y="0"/>
                </a:lnTo>
                <a:lnTo>
                  <a:pt x="5459234" y="5459234"/>
                </a:lnTo>
                <a:lnTo>
                  <a:pt x="0" y="54592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flipH="1" flipV="1">
            <a:off x="14697114" y="-285476"/>
            <a:ext cx="4064199" cy="4064199"/>
          </a:xfrm>
          <a:custGeom>
            <a:avLst/>
            <a:gdLst/>
            <a:ahLst/>
            <a:cxnLst/>
            <a:rect l="l" t="t" r="r" b="b"/>
            <a:pathLst>
              <a:path w="4064199" h="4064199">
                <a:moveTo>
                  <a:pt x="4064199" y="4064200"/>
                </a:moveTo>
                <a:lnTo>
                  <a:pt x="0" y="4064200"/>
                </a:lnTo>
                <a:lnTo>
                  <a:pt x="0" y="0"/>
                </a:lnTo>
                <a:lnTo>
                  <a:pt x="4064199" y="0"/>
                </a:lnTo>
                <a:lnTo>
                  <a:pt x="4064199" y="40642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5337519" y="2587910"/>
            <a:ext cx="2409526" cy="2094097"/>
          </a:xfrm>
          <a:custGeom>
            <a:avLst/>
            <a:gdLst/>
            <a:ahLst/>
            <a:cxnLst/>
            <a:rect l="l" t="t" r="r" b="b"/>
            <a:pathLst>
              <a:path w="2409526" h="2094097">
                <a:moveTo>
                  <a:pt x="0" y="0"/>
                </a:moveTo>
                <a:lnTo>
                  <a:pt x="2409526" y="0"/>
                </a:lnTo>
                <a:lnTo>
                  <a:pt x="2409526" y="2094097"/>
                </a:lnTo>
                <a:lnTo>
                  <a:pt x="0" y="20940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flipH="1">
            <a:off x="320091" y="4096451"/>
            <a:ext cx="2409526" cy="2094097"/>
          </a:xfrm>
          <a:custGeom>
            <a:avLst/>
            <a:gdLst/>
            <a:ahLst/>
            <a:cxnLst/>
            <a:rect l="l" t="t" r="r" b="b"/>
            <a:pathLst>
              <a:path w="2409526" h="2094097">
                <a:moveTo>
                  <a:pt x="2409526" y="0"/>
                </a:moveTo>
                <a:lnTo>
                  <a:pt x="0" y="0"/>
                </a:lnTo>
                <a:lnTo>
                  <a:pt x="0" y="2094098"/>
                </a:lnTo>
                <a:lnTo>
                  <a:pt x="2409526" y="2094098"/>
                </a:lnTo>
                <a:lnTo>
                  <a:pt x="240952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4014593" y="493813"/>
            <a:ext cx="2409526" cy="2094097"/>
          </a:xfrm>
          <a:custGeom>
            <a:avLst/>
            <a:gdLst/>
            <a:ahLst/>
            <a:cxnLst/>
            <a:rect l="l" t="t" r="r" b="b"/>
            <a:pathLst>
              <a:path w="2409526" h="2094097">
                <a:moveTo>
                  <a:pt x="0" y="0"/>
                </a:moveTo>
                <a:lnTo>
                  <a:pt x="2409526" y="0"/>
                </a:lnTo>
                <a:lnTo>
                  <a:pt x="2409526" y="2094097"/>
                </a:lnTo>
                <a:lnTo>
                  <a:pt x="0" y="20940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50481" y="4013348"/>
            <a:ext cx="12387037" cy="2031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641"/>
              </a:lnSpc>
            </a:pPr>
            <a:r>
              <a:rPr lang="en-US" sz="11886" b="1">
                <a:solidFill>
                  <a:srgbClr val="00000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THANK YOU!</a:t>
            </a:r>
          </a:p>
        </p:txBody>
      </p:sp>
      <p:sp>
        <p:nvSpPr>
          <p:cNvPr id="3" name="Freeform 3"/>
          <p:cNvSpPr/>
          <p:nvPr/>
        </p:nvSpPr>
        <p:spPr>
          <a:xfrm>
            <a:off x="14697114" y="3725570"/>
            <a:ext cx="11240436" cy="11065461"/>
          </a:xfrm>
          <a:custGeom>
            <a:avLst/>
            <a:gdLst/>
            <a:ahLst/>
            <a:cxnLst/>
            <a:rect l="l" t="t" r="r" b="b"/>
            <a:pathLst>
              <a:path w="11240436" h="11065461">
                <a:moveTo>
                  <a:pt x="0" y="0"/>
                </a:moveTo>
                <a:lnTo>
                  <a:pt x="11240436" y="0"/>
                </a:lnTo>
                <a:lnTo>
                  <a:pt x="11240436" y="11065460"/>
                </a:lnTo>
                <a:lnTo>
                  <a:pt x="0" y="110654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7758957" y="-6935962"/>
            <a:ext cx="11240436" cy="11065461"/>
          </a:xfrm>
          <a:custGeom>
            <a:avLst/>
            <a:gdLst/>
            <a:ahLst/>
            <a:cxnLst/>
            <a:rect l="l" t="t" r="r" b="b"/>
            <a:pathLst>
              <a:path w="11240436" h="11065461">
                <a:moveTo>
                  <a:pt x="0" y="0"/>
                </a:moveTo>
                <a:lnTo>
                  <a:pt x="11240436" y="0"/>
                </a:lnTo>
                <a:lnTo>
                  <a:pt x="11240436" y="11065460"/>
                </a:lnTo>
                <a:lnTo>
                  <a:pt x="0" y="110654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0" y="5143500"/>
            <a:ext cx="5459234" cy="5459234"/>
          </a:xfrm>
          <a:custGeom>
            <a:avLst/>
            <a:gdLst/>
            <a:ahLst/>
            <a:cxnLst/>
            <a:rect l="l" t="t" r="r" b="b"/>
            <a:pathLst>
              <a:path w="5459234" h="5459234">
                <a:moveTo>
                  <a:pt x="0" y="0"/>
                </a:moveTo>
                <a:lnTo>
                  <a:pt x="5459234" y="0"/>
                </a:lnTo>
                <a:lnTo>
                  <a:pt x="5459234" y="5459234"/>
                </a:lnTo>
                <a:lnTo>
                  <a:pt x="0" y="54592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flipH="1" flipV="1">
            <a:off x="14697114" y="-285476"/>
            <a:ext cx="4064199" cy="4064199"/>
          </a:xfrm>
          <a:custGeom>
            <a:avLst/>
            <a:gdLst/>
            <a:ahLst/>
            <a:cxnLst/>
            <a:rect l="l" t="t" r="r" b="b"/>
            <a:pathLst>
              <a:path w="4064199" h="4064199">
                <a:moveTo>
                  <a:pt x="4064199" y="4064200"/>
                </a:moveTo>
                <a:lnTo>
                  <a:pt x="0" y="4064200"/>
                </a:lnTo>
                <a:lnTo>
                  <a:pt x="0" y="0"/>
                </a:lnTo>
                <a:lnTo>
                  <a:pt x="4064199" y="0"/>
                </a:lnTo>
                <a:lnTo>
                  <a:pt x="4064199" y="40642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5337519" y="2587910"/>
            <a:ext cx="2409526" cy="2094097"/>
          </a:xfrm>
          <a:custGeom>
            <a:avLst/>
            <a:gdLst/>
            <a:ahLst/>
            <a:cxnLst/>
            <a:rect l="l" t="t" r="r" b="b"/>
            <a:pathLst>
              <a:path w="2409526" h="2094097">
                <a:moveTo>
                  <a:pt x="0" y="0"/>
                </a:moveTo>
                <a:lnTo>
                  <a:pt x="2409526" y="0"/>
                </a:lnTo>
                <a:lnTo>
                  <a:pt x="2409526" y="2094097"/>
                </a:lnTo>
                <a:lnTo>
                  <a:pt x="0" y="20940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flipH="1">
            <a:off x="320091" y="4096451"/>
            <a:ext cx="2409526" cy="2094097"/>
          </a:xfrm>
          <a:custGeom>
            <a:avLst/>
            <a:gdLst/>
            <a:ahLst/>
            <a:cxnLst/>
            <a:rect l="l" t="t" r="r" b="b"/>
            <a:pathLst>
              <a:path w="2409526" h="2094097">
                <a:moveTo>
                  <a:pt x="2409526" y="0"/>
                </a:moveTo>
                <a:lnTo>
                  <a:pt x="0" y="0"/>
                </a:lnTo>
                <a:lnTo>
                  <a:pt x="0" y="2094098"/>
                </a:lnTo>
                <a:lnTo>
                  <a:pt x="2409526" y="2094098"/>
                </a:lnTo>
                <a:lnTo>
                  <a:pt x="240952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4014593" y="493813"/>
            <a:ext cx="2409526" cy="2094097"/>
          </a:xfrm>
          <a:custGeom>
            <a:avLst/>
            <a:gdLst/>
            <a:ahLst/>
            <a:cxnLst/>
            <a:rect l="l" t="t" r="r" b="b"/>
            <a:pathLst>
              <a:path w="2409526" h="2094097">
                <a:moveTo>
                  <a:pt x="0" y="0"/>
                </a:moveTo>
                <a:lnTo>
                  <a:pt x="2409526" y="0"/>
                </a:lnTo>
                <a:lnTo>
                  <a:pt x="2409526" y="2094097"/>
                </a:lnTo>
                <a:lnTo>
                  <a:pt x="0" y="20940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1162</TotalTime>
  <Words>771</Words>
  <Application>Microsoft Office PowerPoint</Application>
  <PresentationFormat>Custom</PresentationFormat>
  <Paragraphs>61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Calibri</vt:lpstr>
      <vt:lpstr>Aptos</vt:lpstr>
      <vt:lpstr>Atkinson Hyperlegible</vt:lpstr>
      <vt:lpstr>Arial</vt:lpstr>
      <vt:lpstr>Atkinson Hyperlegible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Yellow &amp; Black Simple Modern Presentation</dc:title>
  <cp:lastModifiedBy>Flavia Paula</cp:lastModifiedBy>
  <cp:revision>2</cp:revision>
  <dcterms:created xsi:type="dcterms:W3CDTF">2006-08-16T00:00:00Z</dcterms:created>
  <dcterms:modified xsi:type="dcterms:W3CDTF">2026-05-27T11:49:50Z</dcterms:modified>
  <dc:identifier>DAHJ7OxUzTU</dc:identifier>
</cp:coreProperties>
</file>