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Canva Sans" panose="020B0604020202020204" charset="0"/>
      <p:regular r:id="rId16"/>
    </p:embeddedFont>
    <p:embeddedFont>
      <p:font typeface="Canva Sans Bold" panose="020B0604020202020204" charset="0"/>
      <p:regular r:id="rId17"/>
    </p:embeddedFont>
    <p:embeddedFont>
      <p:font typeface="TT Firs Neue" panose="020B0604020202020204" charset="0"/>
      <p:regular r:id="rId18"/>
    </p:embeddedFont>
    <p:embeddedFont>
      <p:font typeface="TT Firs Neue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16"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0.svg"/><Relationship Id="rId4" Type="http://schemas.openxmlformats.org/officeDocument/2006/relationships/image" Target="../media/image19.svg"/></Relationships>
</file>

<file path=ppt/slides/_rels/slide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sp>
        <p:nvSpPr>
          <p:cNvPr id="2" name="Freeform 2"/>
          <p:cNvSpPr/>
          <p:nvPr/>
        </p:nvSpPr>
        <p:spPr>
          <a:xfrm>
            <a:off x="565715" y="2115128"/>
            <a:ext cx="7498221" cy="7498221"/>
          </a:xfrm>
          <a:custGeom>
            <a:avLst/>
            <a:gdLst/>
            <a:ahLst/>
            <a:cxnLst/>
            <a:rect l="l" t="t" r="r" b="b"/>
            <a:pathLst>
              <a:path w="7498221" h="7498221">
                <a:moveTo>
                  <a:pt x="0" y="0"/>
                </a:moveTo>
                <a:lnTo>
                  <a:pt x="7498220" y="0"/>
                </a:lnTo>
                <a:lnTo>
                  <a:pt x="7498220" y="7498221"/>
                </a:lnTo>
                <a:lnTo>
                  <a:pt x="0" y="74982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028700" y="2027204"/>
            <a:ext cx="6572250" cy="6232592"/>
          </a:xfrm>
          <a:custGeom>
            <a:avLst/>
            <a:gdLst/>
            <a:ahLst/>
            <a:cxnLst/>
            <a:rect l="l" t="t" r="r" b="b"/>
            <a:pathLst>
              <a:path w="6572250" h="6232592">
                <a:moveTo>
                  <a:pt x="0" y="0"/>
                </a:moveTo>
                <a:lnTo>
                  <a:pt x="6572250" y="0"/>
                </a:lnTo>
                <a:lnTo>
                  <a:pt x="6572250" y="6232592"/>
                </a:lnTo>
                <a:lnTo>
                  <a:pt x="0" y="62325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3601700" y="8726285"/>
            <a:ext cx="7315200" cy="1064029"/>
          </a:xfrm>
          <a:custGeom>
            <a:avLst/>
            <a:gdLst/>
            <a:ahLst/>
            <a:cxnLst/>
            <a:rect l="l" t="t" r="r" b="b"/>
            <a:pathLst>
              <a:path w="7315200" h="1064029">
                <a:moveTo>
                  <a:pt x="7315200" y="0"/>
                </a:moveTo>
                <a:lnTo>
                  <a:pt x="0" y="0"/>
                </a:lnTo>
                <a:lnTo>
                  <a:pt x="0" y="1064030"/>
                </a:lnTo>
                <a:lnTo>
                  <a:pt x="7315200" y="1064030"/>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8305238" y="4741404"/>
            <a:ext cx="9830535" cy="1122835"/>
          </a:xfrm>
          <a:prstGeom prst="rect">
            <a:avLst/>
          </a:prstGeom>
        </p:spPr>
        <p:txBody>
          <a:bodyPr lIns="0" tIns="0" rIns="0" bIns="0" rtlCol="0" anchor="t">
            <a:spAutoFit/>
          </a:bodyPr>
          <a:lstStyle/>
          <a:p>
            <a:pPr algn="l">
              <a:lnSpc>
                <a:spcPts val="8199"/>
              </a:lnSpc>
            </a:pPr>
            <a:r>
              <a:rPr lang="en-US" sz="9010" b="1">
                <a:solidFill>
                  <a:srgbClr val="011142"/>
                </a:solidFill>
                <a:latin typeface="TT Firs Neue Bold"/>
                <a:ea typeface="TT Firs Neue Bold"/>
                <a:cs typeface="TT Firs Neue Bold"/>
                <a:sym typeface="TT Firs Neue Bold"/>
              </a:rPr>
              <a:t>Metadata Leaks</a:t>
            </a:r>
          </a:p>
        </p:txBody>
      </p:sp>
      <p:sp>
        <p:nvSpPr>
          <p:cNvPr id="6" name="TextBox 6"/>
          <p:cNvSpPr txBox="1"/>
          <p:nvPr/>
        </p:nvSpPr>
        <p:spPr>
          <a:xfrm>
            <a:off x="8305238" y="6029163"/>
            <a:ext cx="6572165" cy="445093"/>
          </a:xfrm>
          <a:prstGeom prst="rect">
            <a:avLst/>
          </a:prstGeom>
        </p:spPr>
        <p:txBody>
          <a:bodyPr lIns="0" tIns="0" rIns="0" bIns="0" rtlCol="0" anchor="t">
            <a:spAutoFit/>
          </a:bodyPr>
          <a:lstStyle/>
          <a:p>
            <a:pPr algn="l">
              <a:lnSpc>
                <a:spcPts val="3728"/>
              </a:lnSpc>
            </a:pPr>
            <a:r>
              <a:rPr lang="en-US" sz="2663">
                <a:solidFill>
                  <a:srgbClr val="011142"/>
                </a:solidFill>
                <a:latin typeface="TT Firs Neue"/>
                <a:ea typeface="TT Firs Neue"/>
                <a:cs typeface="TT Firs Neue"/>
                <a:sym typeface="TT Firs Neue"/>
              </a:rPr>
              <a:t>Busnatu Flavia-Paula</a:t>
            </a:r>
          </a:p>
        </p:txBody>
      </p:sp>
      <p:sp>
        <p:nvSpPr>
          <p:cNvPr id="7" name="Freeform 7"/>
          <p:cNvSpPr/>
          <p:nvPr/>
        </p:nvSpPr>
        <p:spPr>
          <a:xfrm flipH="1">
            <a:off x="-1607344" y="330360"/>
            <a:ext cx="7315200" cy="1064029"/>
          </a:xfrm>
          <a:custGeom>
            <a:avLst/>
            <a:gdLst/>
            <a:ahLst/>
            <a:cxnLst/>
            <a:rect l="l" t="t" r="r" b="b"/>
            <a:pathLst>
              <a:path w="7315200" h="1064029">
                <a:moveTo>
                  <a:pt x="7315200" y="0"/>
                </a:moveTo>
                <a:lnTo>
                  <a:pt x="0" y="0"/>
                </a:lnTo>
                <a:lnTo>
                  <a:pt x="0" y="1064030"/>
                </a:lnTo>
                <a:lnTo>
                  <a:pt x="7315200" y="1064030"/>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sp>
        <p:nvSpPr>
          <p:cNvPr id="2" name="Freeform 2"/>
          <p:cNvSpPr/>
          <p:nvPr/>
        </p:nvSpPr>
        <p:spPr>
          <a:xfrm>
            <a:off x="9505691" y="2534643"/>
            <a:ext cx="7753609" cy="6118303"/>
          </a:xfrm>
          <a:custGeom>
            <a:avLst/>
            <a:gdLst/>
            <a:ahLst/>
            <a:cxnLst/>
            <a:rect l="l" t="t" r="r" b="b"/>
            <a:pathLst>
              <a:path w="7753609" h="6118303">
                <a:moveTo>
                  <a:pt x="0" y="0"/>
                </a:moveTo>
                <a:lnTo>
                  <a:pt x="7753609" y="0"/>
                </a:lnTo>
                <a:lnTo>
                  <a:pt x="7753609" y="6118303"/>
                </a:lnTo>
                <a:lnTo>
                  <a:pt x="0" y="6118303"/>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grpSp>
        <p:nvGrpSpPr>
          <p:cNvPr id="3" name="Group 3"/>
          <p:cNvGrpSpPr/>
          <p:nvPr/>
        </p:nvGrpSpPr>
        <p:grpSpPr>
          <a:xfrm>
            <a:off x="12982597" y="5355807"/>
            <a:ext cx="1388624" cy="2300421"/>
            <a:chOff x="0" y="0"/>
            <a:chExt cx="365728" cy="605872"/>
          </a:xfrm>
        </p:grpSpPr>
        <p:sp>
          <p:nvSpPr>
            <p:cNvPr id="4" name="Freeform 4"/>
            <p:cNvSpPr/>
            <p:nvPr/>
          </p:nvSpPr>
          <p:spPr>
            <a:xfrm>
              <a:off x="0" y="0"/>
              <a:ext cx="365728" cy="605872"/>
            </a:xfrm>
            <a:custGeom>
              <a:avLst/>
              <a:gdLst/>
              <a:ahLst/>
              <a:cxnLst/>
              <a:rect l="l" t="t" r="r" b="b"/>
              <a:pathLst>
                <a:path w="365728" h="605872">
                  <a:moveTo>
                    <a:pt x="0" y="0"/>
                  </a:moveTo>
                  <a:lnTo>
                    <a:pt x="365728" y="0"/>
                  </a:lnTo>
                  <a:lnTo>
                    <a:pt x="365728" y="605872"/>
                  </a:lnTo>
                  <a:lnTo>
                    <a:pt x="0" y="605872"/>
                  </a:lnTo>
                  <a:close/>
                </a:path>
              </a:pathLst>
            </a:custGeom>
            <a:solidFill>
              <a:srgbClr val="064CDE"/>
            </a:solidFill>
          </p:spPr>
          <p:txBody>
            <a:bodyPr/>
            <a:lstStyle/>
            <a:p>
              <a:endParaRPr lang="en-US"/>
            </a:p>
          </p:txBody>
        </p:sp>
        <p:sp>
          <p:nvSpPr>
            <p:cNvPr id="5" name="TextBox 5"/>
            <p:cNvSpPr txBox="1"/>
            <p:nvPr/>
          </p:nvSpPr>
          <p:spPr>
            <a:xfrm>
              <a:off x="0" y="-28575"/>
              <a:ext cx="365728" cy="634447"/>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3083740" y="5702464"/>
            <a:ext cx="1186336" cy="1607106"/>
          </a:xfrm>
          <a:custGeom>
            <a:avLst/>
            <a:gdLst/>
            <a:ahLst/>
            <a:cxnLst/>
            <a:rect l="l" t="t" r="r" b="b"/>
            <a:pathLst>
              <a:path w="1186336" h="1607106">
                <a:moveTo>
                  <a:pt x="0" y="0"/>
                </a:moveTo>
                <a:lnTo>
                  <a:pt x="1186337" y="0"/>
                </a:lnTo>
                <a:lnTo>
                  <a:pt x="1186337" y="1607106"/>
                </a:lnTo>
                <a:lnTo>
                  <a:pt x="0" y="160710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1028700" y="2715618"/>
            <a:ext cx="4898318" cy="807490"/>
          </a:xfrm>
          <a:prstGeom prst="rect">
            <a:avLst/>
          </a:prstGeom>
        </p:spPr>
        <p:txBody>
          <a:bodyPr lIns="0" tIns="0" rIns="0" bIns="0" rtlCol="0" anchor="t">
            <a:spAutoFit/>
          </a:bodyPr>
          <a:lstStyle/>
          <a:p>
            <a:pPr algn="l">
              <a:lnSpc>
                <a:spcPts val="5915"/>
              </a:lnSpc>
            </a:pPr>
            <a:r>
              <a:rPr lang="en-US" sz="6500">
                <a:solidFill>
                  <a:srgbClr val="011142"/>
                </a:solidFill>
                <a:latin typeface="TT Firs Neue"/>
                <a:ea typeface="TT Firs Neue"/>
                <a:cs typeface="TT Firs Neue"/>
                <a:sym typeface="TT Firs Neue"/>
              </a:rPr>
              <a:t>Introducere</a:t>
            </a:r>
          </a:p>
        </p:txBody>
      </p:sp>
      <p:sp>
        <p:nvSpPr>
          <p:cNvPr id="8" name="TextBox 8"/>
          <p:cNvSpPr txBox="1"/>
          <p:nvPr/>
        </p:nvSpPr>
        <p:spPr>
          <a:xfrm>
            <a:off x="1028700" y="3811587"/>
            <a:ext cx="7584236" cy="2616200"/>
          </a:xfrm>
          <a:prstGeom prst="rect">
            <a:avLst/>
          </a:prstGeom>
        </p:spPr>
        <p:txBody>
          <a:bodyPr lIns="0" tIns="0" rIns="0" bIns="0" rtlCol="0" anchor="t">
            <a:spAutoFit/>
          </a:bodyPr>
          <a:lstStyle/>
          <a:p>
            <a:pPr algn="l">
              <a:lnSpc>
                <a:spcPts val="3359"/>
              </a:lnSpc>
            </a:pPr>
            <a:r>
              <a:rPr lang="en-US" sz="2399">
                <a:solidFill>
                  <a:srgbClr val="011142"/>
                </a:solidFill>
                <a:latin typeface="TT Firs Neue"/>
                <a:ea typeface="TT Firs Neue"/>
                <a:cs typeface="TT Firs Neue"/>
                <a:sym typeface="TT Firs Neue"/>
              </a:rPr>
              <a:t>In ultimii ani, securitatea comunicatiilor a evoluat semnificativ prin utilizarea:</a:t>
            </a:r>
          </a:p>
          <a:p>
            <a:pPr marL="518158" lvl="1" indent="-259079" algn="l">
              <a:lnSpc>
                <a:spcPts val="3359"/>
              </a:lnSpc>
              <a:buFont typeface="Arial"/>
              <a:buChar char="•"/>
            </a:pPr>
            <a:r>
              <a:rPr lang="en-US" sz="2399">
                <a:solidFill>
                  <a:srgbClr val="011142"/>
                </a:solidFill>
                <a:latin typeface="TT Firs Neue"/>
                <a:ea typeface="TT Firs Neue"/>
                <a:cs typeface="TT Firs Neue"/>
                <a:sym typeface="TT Firs Neue"/>
              </a:rPr>
              <a:t>criptarii end-to-end</a:t>
            </a:r>
          </a:p>
          <a:p>
            <a:pPr marL="518158" lvl="1" indent="-259079" algn="l">
              <a:lnSpc>
                <a:spcPts val="3359"/>
              </a:lnSpc>
              <a:buFont typeface="Arial"/>
              <a:buChar char="•"/>
            </a:pPr>
            <a:r>
              <a:rPr lang="en-US" sz="2399">
                <a:solidFill>
                  <a:srgbClr val="011142"/>
                </a:solidFill>
                <a:latin typeface="TT Firs Neue"/>
                <a:ea typeface="TT Firs Neue"/>
                <a:cs typeface="TT Firs Neue"/>
                <a:sym typeface="TT Firs Neue"/>
              </a:rPr>
              <a:t>protocoalelor securizate</a:t>
            </a:r>
          </a:p>
          <a:p>
            <a:pPr marL="518158" lvl="1" indent="-259079" algn="l">
              <a:lnSpc>
                <a:spcPts val="3359"/>
              </a:lnSpc>
              <a:buFont typeface="Arial"/>
              <a:buChar char="•"/>
            </a:pPr>
            <a:r>
              <a:rPr lang="en-US" sz="2399">
                <a:solidFill>
                  <a:srgbClr val="011142"/>
                </a:solidFill>
                <a:latin typeface="TT Firs Neue"/>
                <a:ea typeface="TT Firs Neue"/>
                <a:cs typeface="TT Firs Neue"/>
                <a:sym typeface="TT Firs Neue"/>
              </a:rPr>
              <a:t>autentificarii avansate</a:t>
            </a:r>
          </a:p>
          <a:p>
            <a:pPr algn="l">
              <a:lnSpc>
                <a:spcPts val="4339"/>
              </a:lnSpc>
            </a:pPr>
            <a:endParaRPr lang="en-US" sz="2399">
              <a:solidFill>
                <a:srgbClr val="011142"/>
              </a:solidFill>
              <a:latin typeface="TT Firs Neue"/>
              <a:ea typeface="TT Firs Neue"/>
              <a:cs typeface="TT Firs Neue"/>
              <a:sym typeface="TT Firs Neue"/>
            </a:endParaRPr>
          </a:p>
        </p:txBody>
      </p:sp>
      <p:sp>
        <p:nvSpPr>
          <p:cNvPr id="9" name="TextBox 9"/>
          <p:cNvSpPr txBox="1"/>
          <p:nvPr/>
        </p:nvSpPr>
        <p:spPr>
          <a:xfrm>
            <a:off x="1028700" y="6380163"/>
            <a:ext cx="7584236" cy="1582420"/>
          </a:xfrm>
          <a:prstGeom prst="rect">
            <a:avLst/>
          </a:prstGeom>
        </p:spPr>
        <p:txBody>
          <a:bodyPr lIns="0" tIns="0" rIns="0" bIns="0" rtlCol="0" anchor="t">
            <a:spAutoFit/>
          </a:bodyPr>
          <a:lstStyle/>
          <a:p>
            <a:pPr algn="l">
              <a:lnSpc>
                <a:spcPts val="3359"/>
              </a:lnSpc>
            </a:pPr>
            <a:r>
              <a:rPr lang="en-US" sz="2399">
                <a:solidFill>
                  <a:srgbClr val="011142"/>
                </a:solidFill>
                <a:latin typeface="TT Firs Neue"/>
                <a:ea typeface="TT Firs Neue"/>
                <a:cs typeface="TT Firs Neue"/>
                <a:sym typeface="TT Firs Neue"/>
              </a:rPr>
              <a:t>Totusi, chiar daca mesajele sunt criptate, anumite informatii despre comunicare raman vizibile.</a:t>
            </a:r>
          </a:p>
          <a:p>
            <a:pPr algn="l">
              <a:lnSpc>
                <a:spcPts val="3219"/>
              </a:lnSpc>
            </a:pPr>
            <a:r>
              <a:rPr lang="en-US" sz="2299">
                <a:solidFill>
                  <a:srgbClr val="011142"/>
                </a:solidFill>
                <a:latin typeface="TT Firs Neue"/>
                <a:ea typeface="TT Firs Neue"/>
                <a:cs typeface="TT Firs Neue"/>
                <a:sym typeface="TT Firs Neue"/>
              </a:rPr>
              <a:t>Aceste informatii poarta numele de </a:t>
            </a:r>
            <a:r>
              <a:rPr lang="en-US" sz="2299" b="1">
                <a:solidFill>
                  <a:srgbClr val="011142"/>
                </a:solidFill>
                <a:latin typeface="TT Firs Neue Bold"/>
                <a:ea typeface="TT Firs Neue Bold"/>
                <a:cs typeface="TT Firs Neue Bold"/>
                <a:sym typeface="TT Firs Neue Bold"/>
              </a:rPr>
              <a:t>metadate</a:t>
            </a:r>
            <a:r>
              <a:rPr lang="en-US" sz="2299">
                <a:solidFill>
                  <a:srgbClr val="011142"/>
                </a:solidFill>
                <a:latin typeface="TT Firs Neue"/>
                <a:ea typeface="TT Firs Neue"/>
                <a:cs typeface="TT Firs Neue"/>
                <a:sym typeface="TT Firs Neue"/>
              </a:rPr>
              <a:t>.</a:t>
            </a:r>
          </a:p>
          <a:p>
            <a:pPr algn="l">
              <a:lnSpc>
                <a:spcPts val="2800"/>
              </a:lnSpc>
            </a:pPr>
            <a:endParaRPr lang="en-US" sz="2299">
              <a:solidFill>
                <a:srgbClr val="011142"/>
              </a:solidFill>
              <a:latin typeface="TT Firs Neue"/>
              <a:ea typeface="TT Firs Neue"/>
              <a:cs typeface="TT Firs Neue"/>
              <a:sym typeface="TT Firs Neue"/>
            </a:endParaRPr>
          </a:p>
        </p:txBody>
      </p:sp>
      <p:sp>
        <p:nvSpPr>
          <p:cNvPr id="10" name="Freeform 10"/>
          <p:cNvSpPr/>
          <p:nvPr/>
        </p:nvSpPr>
        <p:spPr>
          <a:xfrm flipH="1">
            <a:off x="13090922" y="8809448"/>
            <a:ext cx="7315200" cy="1064029"/>
          </a:xfrm>
          <a:custGeom>
            <a:avLst/>
            <a:gdLst/>
            <a:ahLst/>
            <a:cxnLst/>
            <a:rect l="l" t="t" r="r" b="b"/>
            <a:pathLst>
              <a:path w="7315200" h="1064029">
                <a:moveTo>
                  <a:pt x="7315200" y="0"/>
                </a:moveTo>
                <a:lnTo>
                  <a:pt x="0" y="0"/>
                </a:lnTo>
                <a:lnTo>
                  <a:pt x="0" y="1064029"/>
                </a:lnTo>
                <a:lnTo>
                  <a:pt x="7315200" y="1064029"/>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flipH="1">
            <a:off x="-2118122" y="413523"/>
            <a:ext cx="7315200" cy="1064029"/>
          </a:xfrm>
          <a:custGeom>
            <a:avLst/>
            <a:gdLst/>
            <a:ahLst/>
            <a:cxnLst/>
            <a:rect l="l" t="t" r="r" b="b"/>
            <a:pathLst>
              <a:path w="7315200" h="1064029">
                <a:moveTo>
                  <a:pt x="7315200" y="0"/>
                </a:moveTo>
                <a:lnTo>
                  <a:pt x="0" y="0"/>
                </a:lnTo>
                <a:lnTo>
                  <a:pt x="0" y="1064029"/>
                </a:lnTo>
                <a:lnTo>
                  <a:pt x="7315200" y="1064029"/>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7213234"/>
            <a:ext cx="3544425" cy="1120737"/>
            <a:chOff x="0" y="0"/>
            <a:chExt cx="933511" cy="295173"/>
          </a:xfrm>
        </p:grpSpPr>
        <p:sp>
          <p:nvSpPr>
            <p:cNvPr id="3" name="Freeform 3"/>
            <p:cNvSpPr/>
            <p:nvPr/>
          </p:nvSpPr>
          <p:spPr>
            <a:xfrm>
              <a:off x="0" y="0"/>
              <a:ext cx="933511" cy="295173"/>
            </a:xfrm>
            <a:custGeom>
              <a:avLst/>
              <a:gdLst/>
              <a:ahLst/>
              <a:cxnLst/>
              <a:rect l="l" t="t" r="r" b="b"/>
              <a:pathLst>
                <a:path w="933511" h="295173">
                  <a:moveTo>
                    <a:pt x="43685" y="0"/>
                  </a:moveTo>
                  <a:lnTo>
                    <a:pt x="889826" y="0"/>
                  </a:lnTo>
                  <a:cubicBezTo>
                    <a:pt x="901412" y="0"/>
                    <a:pt x="912524" y="4603"/>
                    <a:pt x="920716" y="12795"/>
                  </a:cubicBezTo>
                  <a:cubicBezTo>
                    <a:pt x="928909" y="20988"/>
                    <a:pt x="933511" y="32099"/>
                    <a:pt x="933511" y="43685"/>
                  </a:cubicBezTo>
                  <a:lnTo>
                    <a:pt x="933511" y="251488"/>
                  </a:lnTo>
                  <a:cubicBezTo>
                    <a:pt x="933511" y="263074"/>
                    <a:pt x="928909" y="274186"/>
                    <a:pt x="920716" y="282378"/>
                  </a:cubicBezTo>
                  <a:cubicBezTo>
                    <a:pt x="912524" y="290571"/>
                    <a:pt x="901412" y="295173"/>
                    <a:pt x="889826" y="295173"/>
                  </a:cubicBezTo>
                  <a:lnTo>
                    <a:pt x="43685" y="295173"/>
                  </a:lnTo>
                  <a:cubicBezTo>
                    <a:pt x="19558" y="295173"/>
                    <a:pt x="0" y="275615"/>
                    <a:pt x="0" y="251488"/>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txBody>
            <a:bodyPr/>
            <a:lstStyle/>
            <a:p>
              <a:endParaRPr lang="en-US"/>
            </a:p>
          </p:txBody>
        </p:sp>
        <p:sp>
          <p:nvSpPr>
            <p:cNvPr id="4" name="TextBox 4"/>
            <p:cNvSpPr txBox="1"/>
            <p:nvPr/>
          </p:nvSpPr>
          <p:spPr>
            <a:xfrm>
              <a:off x="0" y="-28575"/>
              <a:ext cx="933511" cy="323748"/>
            </a:xfrm>
            <a:prstGeom prst="rect">
              <a:avLst/>
            </a:prstGeom>
          </p:spPr>
          <p:txBody>
            <a:bodyPr lIns="50800" tIns="50800" rIns="50800" bIns="50800" rtlCol="0" anchor="ctr"/>
            <a:lstStyle/>
            <a:p>
              <a:pPr marL="0" lvl="0" indent="0" algn="ctr">
                <a:lnSpc>
                  <a:spcPts val="2659"/>
                </a:lnSpc>
                <a:spcBef>
                  <a:spcPct val="0"/>
                </a:spcBef>
              </a:pPr>
              <a:r>
                <a:rPr lang="en-US" sz="1899" b="1">
                  <a:solidFill>
                    <a:srgbClr val="011142"/>
                  </a:solidFill>
                  <a:latin typeface="TT Firs Neue Bold"/>
                  <a:ea typeface="TT Firs Neue Bold"/>
                  <a:cs typeface="TT Firs Neue Bold"/>
                  <a:sym typeface="TT Firs Neue Bold"/>
                </a:rPr>
                <a:t>timpul initierii conexiunii</a:t>
              </a:r>
            </a:p>
          </p:txBody>
        </p:sp>
      </p:grpSp>
      <p:grpSp>
        <p:nvGrpSpPr>
          <p:cNvPr id="5" name="Group 5"/>
          <p:cNvGrpSpPr/>
          <p:nvPr/>
        </p:nvGrpSpPr>
        <p:grpSpPr>
          <a:xfrm>
            <a:off x="6539699" y="7213234"/>
            <a:ext cx="3544425" cy="1120737"/>
            <a:chOff x="0" y="0"/>
            <a:chExt cx="933511" cy="295173"/>
          </a:xfrm>
        </p:grpSpPr>
        <p:sp>
          <p:nvSpPr>
            <p:cNvPr id="6" name="Freeform 6"/>
            <p:cNvSpPr/>
            <p:nvPr/>
          </p:nvSpPr>
          <p:spPr>
            <a:xfrm>
              <a:off x="0" y="0"/>
              <a:ext cx="933511" cy="295173"/>
            </a:xfrm>
            <a:custGeom>
              <a:avLst/>
              <a:gdLst/>
              <a:ahLst/>
              <a:cxnLst/>
              <a:rect l="l" t="t" r="r" b="b"/>
              <a:pathLst>
                <a:path w="933511" h="295173">
                  <a:moveTo>
                    <a:pt x="43685" y="0"/>
                  </a:moveTo>
                  <a:lnTo>
                    <a:pt x="889826" y="0"/>
                  </a:lnTo>
                  <a:cubicBezTo>
                    <a:pt x="901412" y="0"/>
                    <a:pt x="912524" y="4603"/>
                    <a:pt x="920716" y="12795"/>
                  </a:cubicBezTo>
                  <a:cubicBezTo>
                    <a:pt x="928909" y="20988"/>
                    <a:pt x="933511" y="32099"/>
                    <a:pt x="933511" y="43685"/>
                  </a:cubicBezTo>
                  <a:lnTo>
                    <a:pt x="933511" y="251488"/>
                  </a:lnTo>
                  <a:cubicBezTo>
                    <a:pt x="933511" y="263074"/>
                    <a:pt x="928909" y="274186"/>
                    <a:pt x="920716" y="282378"/>
                  </a:cubicBezTo>
                  <a:cubicBezTo>
                    <a:pt x="912524" y="290571"/>
                    <a:pt x="901412" y="295173"/>
                    <a:pt x="889826" y="295173"/>
                  </a:cubicBezTo>
                  <a:lnTo>
                    <a:pt x="43685" y="295173"/>
                  </a:lnTo>
                  <a:cubicBezTo>
                    <a:pt x="19558" y="295173"/>
                    <a:pt x="0" y="275615"/>
                    <a:pt x="0" y="251488"/>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txBody>
            <a:bodyPr/>
            <a:lstStyle/>
            <a:p>
              <a:endParaRPr lang="en-US"/>
            </a:p>
          </p:txBody>
        </p:sp>
        <p:sp>
          <p:nvSpPr>
            <p:cNvPr id="7" name="TextBox 7"/>
            <p:cNvSpPr txBox="1"/>
            <p:nvPr/>
          </p:nvSpPr>
          <p:spPr>
            <a:xfrm>
              <a:off x="0" y="-28575"/>
              <a:ext cx="933511" cy="323748"/>
            </a:xfrm>
            <a:prstGeom prst="rect">
              <a:avLst/>
            </a:prstGeom>
          </p:spPr>
          <p:txBody>
            <a:bodyPr lIns="50800" tIns="50800" rIns="50800" bIns="50800" rtlCol="0" anchor="ctr"/>
            <a:lstStyle/>
            <a:p>
              <a:pPr marL="0" lvl="0" indent="0" algn="ctr">
                <a:lnSpc>
                  <a:spcPts val="2659"/>
                </a:lnSpc>
                <a:spcBef>
                  <a:spcPct val="0"/>
                </a:spcBef>
              </a:pPr>
              <a:r>
                <a:rPr lang="en-US" sz="1899" b="1">
                  <a:solidFill>
                    <a:srgbClr val="011142"/>
                  </a:solidFill>
                  <a:latin typeface="TT Firs Neue Bold"/>
                  <a:ea typeface="TT Firs Neue Bold"/>
                  <a:cs typeface="TT Firs Neue Bold"/>
                  <a:sym typeface="TT Firs Neue Bold"/>
                </a:rPr>
                <a:t>adresa IP a expeditorului si destinatarului</a:t>
              </a:r>
            </a:p>
          </p:txBody>
        </p:sp>
      </p:grpSp>
      <p:grpSp>
        <p:nvGrpSpPr>
          <p:cNvPr id="8" name="Group 8"/>
          <p:cNvGrpSpPr/>
          <p:nvPr/>
        </p:nvGrpSpPr>
        <p:grpSpPr>
          <a:xfrm>
            <a:off x="12050697" y="7213234"/>
            <a:ext cx="3544425" cy="1214591"/>
            <a:chOff x="0" y="0"/>
            <a:chExt cx="933511" cy="319892"/>
          </a:xfrm>
        </p:grpSpPr>
        <p:sp>
          <p:nvSpPr>
            <p:cNvPr id="9" name="Freeform 9"/>
            <p:cNvSpPr/>
            <p:nvPr/>
          </p:nvSpPr>
          <p:spPr>
            <a:xfrm>
              <a:off x="0" y="0"/>
              <a:ext cx="933511" cy="319892"/>
            </a:xfrm>
            <a:custGeom>
              <a:avLst/>
              <a:gdLst/>
              <a:ahLst/>
              <a:cxnLst/>
              <a:rect l="l" t="t" r="r" b="b"/>
              <a:pathLst>
                <a:path w="933511" h="319892">
                  <a:moveTo>
                    <a:pt x="43685" y="0"/>
                  </a:moveTo>
                  <a:lnTo>
                    <a:pt x="889826" y="0"/>
                  </a:lnTo>
                  <a:cubicBezTo>
                    <a:pt x="901412" y="0"/>
                    <a:pt x="912524" y="4603"/>
                    <a:pt x="920716" y="12795"/>
                  </a:cubicBezTo>
                  <a:cubicBezTo>
                    <a:pt x="928909" y="20988"/>
                    <a:pt x="933511" y="32099"/>
                    <a:pt x="933511" y="43685"/>
                  </a:cubicBezTo>
                  <a:lnTo>
                    <a:pt x="933511" y="276207"/>
                  </a:lnTo>
                  <a:cubicBezTo>
                    <a:pt x="933511" y="300334"/>
                    <a:pt x="913953" y="319892"/>
                    <a:pt x="889826" y="319892"/>
                  </a:cubicBezTo>
                  <a:lnTo>
                    <a:pt x="43685" y="319892"/>
                  </a:lnTo>
                  <a:cubicBezTo>
                    <a:pt x="32099" y="319892"/>
                    <a:pt x="20988" y="315290"/>
                    <a:pt x="12795" y="307097"/>
                  </a:cubicBezTo>
                  <a:cubicBezTo>
                    <a:pt x="4603" y="298905"/>
                    <a:pt x="0" y="287793"/>
                    <a:pt x="0" y="27620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txBody>
            <a:bodyPr/>
            <a:lstStyle/>
            <a:p>
              <a:endParaRPr lang="en-US"/>
            </a:p>
          </p:txBody>
        </p:sp>
        <p:sp>
          <p:nvSpPr>
            <p:cNvPr id="10" name="TextBox 10"/>
            <p:cNvSpPr txBox="1"/>
            <p:nvPr/>
          </p:nvSpPr>
          <p:spPr>
            <a:xfrm>
              <a:off x="0" y="-28575"/>
              <a:ext cx="933511" cy="348467"/>
            </a:xfrm>
            <a:prstGeom prst="rect">
              <a:avLst/>
            </a:prstGeom>
          </p:spPr>
          <p:txBody>
            <a:bodyPr lIns="50800" tIns="50800" rIns="50800" bIns="50800" rtlCol="0" anchor="ctr"/>
            <a:lstStyle/>
            <a:p>
              <a:pPr marL="0" lvl="0" indent="0" algn="ctr">
                <a:lnSpc>
                  <a:spcPts val="2659"/>
                </a:lnSpc>
                <a:spcBef>
                  <a:spcPct val="0"/>
                </a:spcBef>
              </a:pPr>
              <a:r>
                <a:rPr lang="en-US" sz="1899" b="1">
                  <a:solidFill>
                    <a:srgbClr val="011142"/>
                  </a:solidFill>
                  <a:latin typeface="TT Firs Neue Bold"/>
                  <a:ea typeface="TT Firs Neue Bold"/>
                  <a:cs typeface="TT Firs Neue Bold"/>
                  <a:sym typeface="TT Firs Neue Bold"/>
                </a:rPr>
                <a:t>dimensiunea pachetelor de date</a:t>
              </a:r>
            </a:p>
          </p:txBody>
        </p:sp>
      </p:grpSp>
      <p:grpSp>
        <p:nvGrpSpPr>
          <p:cNvPr id="11" name="Group 11"/>
          <p:cNvGrpSpPr/>
          <p:nvPr/>
        </p:nvGrpSpPr>
        <p:grpSpPr>
          <a:xfrm>
            <a:off x="1003305" y="8644043"/>
            <a:ext cx="3544425" cy="1228515"/>
            <a:chOff x="0" y="0"/>
            <a:chExt cx="933511" cy="323559"/>
          </a:xfrm>
        </p:grpSpPr>
        <p:sp>
          <p:nvSpPr>
            <p:cNvPr id="12" name="Freeform 12"/>
            <p:cNvSpPr/>
            <p:nvPr/>
          </p:nvSpPr>
          <p:spPr>
            <a:xfrm>
              <a:off x="0" y="0"/>
              <a:ext cx="933511" cy="323559"/>
            </a:xfrm>
            <a:custGeom>
              <a:avLst/>
              <a:gdLst/>
              <a:ahLst/>
              <a:cxnLst/>
              <a:rect l="l" t="t" r="r" b="b"/>
              <a:pathLst>
                <a:path w="933511" h="323559">
                  <a:moveTo>
                    <a:pt x="43685" y="0"/>
                  </a:moveTo>
                  <a:lnTo>
                    <a:pt x="889826" y="0"/>
                  </a:lnTo>
                  <a:cubicBezTo>
                    <a:pt x="901412" y="0"/>
                    <a:pt x="912524" y="4603"/>
                    <a:pt x="920716" y="12795"/>
                  </a:cubicBezTo>
                  <a:cubicBezTo>
                    <a:pt x="928909" y="20988"/>
                    <a:pt x="933511" y="32099"/>
                    <a:pt x="933511" y="43685"/>
                  </a:cubicBezTo>
                  <a:lnTo>
                    <a:pt x="933511" y="279874"/>
                  </a:lnTo>
                  <a:cubicBezTo>
                    <a:pt x="933511" y="291460"/>
                    <a:pt x="928909" y="302572"/>
                    <a:pt x="920716" y="310764"/>
                  </a:cubicBezTo>
                  <a:cubicBezTo>
                    <a:pt x="912524" y="318957"/>
                    <a:pt x="901412" y="323559"/>
                    <a:pt x="889826" y="323559"/>
                  </a:cubicBezTo>
                  <a:lnTo>
                    <a:pt x="43685" y="323559"/>
                  </a:lnTo>
                  <a:cubicBezTo>
                    <a:pt x="19558" y="323559"/>
                    <a:pt x="0" y="304001"/>
                    <a:pt x="0" y="279874"/>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txBody>
            <a:bodyPr/>
            <a:lstStyle/>
            <a:p>
              <a:endParaRPr lang="en-US"/>
            </a:p>
          </p:txBody>
        </p:sp>
        <p:sp>
          <p:nvSpPr>
            <p:cNvPr id="13" name="TextBox 13"/>
            <p:cNvSpPr txBox="1"/>
            <p:nvPr/>
          </p:nvSpPr>
          <p:spPr>
            <a:xfrm>
              <a:off x="0" y="-28575"/>
              <a:ext cx="933511" cy="352134"/>
            </a:xfrm>
            <a:prstGeom prst="rect">
              <a:avLst/>
            </a:prstGeom>
          </p:spPr>
          <p:txBody>
            <a:bodyPr lIns="50800" tIns="50800" rIns="50800" bIns="50800" rtlCol="0" anchor="ctr"/>
            <a:lstStyle/>
            <a:p>
              <a:pPr marL="0" lvl="0" indent="0" algn="ctr">
                <a:lnSpc>
                  <a:spcPts val="2659"/>
                </a:lnSpc>
                <a:spcBef>
                  <a:spcPct val="0"/>
                </a:spcBef>
              </a:pPr>
              <a:r>
                <a:rPr lang="en-US" sz="1899" b="1">
                  <a:solidFill>
                    <a:srgbClr val="011142"/>
                  </a:solidFill>
                  <a:latin typeface="TT Firs Neue Bold"/>
                  <a:ea typeface="TT Firs Neue Bold"/>
                  <a:cs typeface="TT Firs Neue Bold"/>
                  <a:sym typeface="TT Firs Neue Bold"/>
                </a:rPr>
                <a:t>frecventa mesajelor</a:t>
              </a:r>
            </a:p>
          </p:txBody>
        </p:sp>
      </p:grpSp>
      <p:grpSp>
        <p:nvGrpSpPr>
          <p:cNvPr id="14" name="Group 14"/>
          <p:cNvGrpSpPr/>
          <p:nvPr/>
        </p:nvGrpSpPr>
        <p:grpSpPr>
          <a:xfrm>
            <a:off x="6525072" y="8644043"/>
            <a:ext cx="3544425" cy="1228515"/>
            <a:chOff x="0" y="0"/>
            <a:chExt cx="933511" cy="323559"/>
          </a:xfrm>
        </p:grpSpPr>
        <p:sp>
          <p:nvSpPr>
            <p:cNvPr id="15" name="Freeform 15"/>
            <p:cNvSpPr/>
            <p:nvPr/>
          </p:nvSpPr>
          <p:spPr>
            <a:xfrm>
              <a:off x="0" y="0"/>
              <a:ext cx="933511" cy="323559"/>
            </a:xfrm>
            <a:custGeom>
              <a:avLst/>
              <a:gdLst/>
              <a:ahLst/>
              <a:cxnLst/>
              <a:rect l="l" t="t" r="r" b="b"/>
              <a:pathLst>
                <a:path w="933511" h="323559">
                  <a:moveTo>
                    <a:pt x="43685" y="0"/>
                  </a:moveTo>
                  <a:lnTo>
                    <a:pt x="889826" y="0"/>
                  </a:lnTo>
                  <a:cubicBezTo>
                    <a:pt x="901412" y="0"/>
                    <a:pt x="912524" y="4603"/>
                    <a:pt x="920716" y="12795"/>
                  </a:cubicBezTo>
                  <a:cubicBezTo>
                    <a:pt x="928909" y="20988"/>
                    <a:pt x="933511" y="32099"/>
                    <a:pt x="933511" y="43685"/>
                  </a:cubicBezTo>
                  <a:lnTo>
                    <a:pt x="933511" y="279874"/>
                  </a:lnTo>
                  <a:cubicBezTo>
                    <a:pt x="933511" y="291460"/>
                    <a:pt x="928909" y="302572"/>
                    <a:pt x="920716" y="310764"/>
                  </a:cubicBezTo>
                  <a:cubicBezTo>
                    <a:pt x="912524" y="318957"/>
                    <a:pt x="901412" y="323559"/>
                    <a:pt x="889826" y="323559"/>
                  </a:cubicBezTo>
                  <a:lnTo>
                    <a:pt x="43685" y="323559"/>
                  </a:lnTo>
                  <a:cubicBezTo>
                    <a:pt x="19558" y="323559"/>
                    <a:pt x="0" y="304001"/>
                    <a:pt x="0" y="279874"/>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txBody>
            <a:bodyPr/>
            <a:lstStyle/>
            <a:p>
              <a:endParaRPr lang="en-US"/>
            </a:p>
          </p:txBody>
        </p:sp>
        <p:sp>
          <p:nvSpPr>
            <p:cNvPr id="16" name="TextBox 16"/>
            <p:cNvSpPr txBox="1"/>
            <p:nvPr/>
          </p:nvSpPr>
          <p:spPr>
            <a:xfrm>
              <a:off x="0" y="-28575"/>
              <a:ext cx="933511" cy="352134"/>
            </a:xfrm>
            <a:prstGeom prst="rect">
              <a:avLst/>
            </a:prstGeom>
          </p:spPr>
          <p:txBody>
            <a:bodyPr lIns="50800" tIns="50800" rIns="50800" bIns="50800" rtlCol="0" anchor="ctr"/>
            <a:lstStyle/>
            <a:p>
              <a:pPr marL="0" lvl="0" indent="0" algn="ctr">
                <a:lnSpc>
                  <a:spcPts val="2659"/>
                </a:lnSpc>
                <a:spcBef>
                  <a:spcPct val="0"/>
                </a:spcBef>
              </a:pPr>
              <a:r>
                <a:rPr lang="en-US" sz="1899" b="1">
                  <a:solidFill>
                    <a:srgbClr val="011142"/>
                  </a:solidFill>
                  <a:latin typeface="TT Firs Neue Bold"/>
                  <a:ea typeface="TT Firs Neue Bold"/>
                  <a:cs typeface="TT Firs Neue Bold"/>
                  <a:sym typeface="TT Firs Neue Bold"/>
                </a:rPr>
                <a:t>durata sesiunii de comunicare</a:t>
              </a:r>
            </a:p>
          </p:txBody>
        </p:sp>
      </p:grpSp>
      <p:sp>
        <p:nvSpPr>
          <p:cNvPr id="17" name="Freeform 17"/>
          <p:cNvSpPr/>
          <p:nvPr/>
        </p:nvSpPr>
        <p:spPr>
          <a:xfrm>
            <a:off x="11698759" y="1798523"/>
            <a:ext cx="5560541" cy="4114800"/>
          </a:xfrm>
          <a:custGeom>
            <a:avLst/>
            <a:gdLst/>
            <a:ahLst/>
            <a:cxnLst/>
            <a:rect l="l" t="t" r="r" b="b"/>
            <a:pathLst>
              <a:path w="5560541" h="4114800">
                <a:moveTo>
                  <a:pt x="0" y="0"/>
                </a:moveTo>
                <a:lnTo>
                  <a:pt x="5560541" y="0"/>
                </a:lnTo>
                <a:lnTo>
                  <a:pt x="556054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18" name="Freeform 18"/>
          <p:cNvSpPr/>
          <p:nvPr/>
        </p:nvSpPr>
        <p:spPr>
          <a:xfrm>
            <a:off x="8816521" y="2757505"/>
            <a:ext cx="4068420" cy="1531205"/>
          </a:xfrm>
          <a:custGeom>
            <a:avLst/>
            <a:gdLst/>
            <a:ahLst/>
            <a:cxnLst/>
            <a:rect l="l" t="t" r="r" b="b"/>
            <a:pathLst>
              <a:path w="4068420" h="1531205">
                <a:moveTo>
                  <a:pt x="0" y="0"/>
                </a:moveTo>
                <a:lnTo>
                  <a:pt x="4068420" y="0"/>
                </a:lnTo>
                <a:lnTo>
                  <a:pt x="4068420" y="1531205"/>
                </a:lnTo>
                <a:lnTo>
                  <a:pt x="0" y="1531205"/>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19" name="TextBox 19"/>
          <p:cNvSpPr txBox="1"/>
          <p:nvPr/>
        </p:nvSpPr>
        <p:spPr>
          <a:xfrm>
            <a:off x="1003305" y="3088012"/>
            <a:ext cx="7787821" cy="1126617"/>
          </a:xfrm>
          <a:prstGeom prst="rect">
            <a:avLst/>
          </a:prstGeom>
        </p:spPr>
        <p:txBody>
          <a:bodyPr lIns="0" tIns="0" rIns="0" bIns="0" rtlCol="0" anchor="t">
            <a:spAutoFit/>
          </a:bodyPr>
          <a:lstStyle/>
          <a:p>
            <a:pPr algn="l">
              <a:lnSpc>
                <a:spcPts val="2184"/>
              </a:lnSpc>
            </a:pPr>
            <a:r>
              <a:rPr lang="en-US" sz="2400">
                <a:solidFill>
                  <a:srgbClr val="011142"/>
                </a:solidFill>
                <a:latin typeface="TT Firs Neue"/>
                <a:ea typeface="TT Firs Neue"/>
                <a:cs typeface="TT Firs Neue"/>
                <a:sym typeface="TT Firs Neue"/>
              </a:rPr>
              <a:t>Metadate sunt date ce permit clasificarea, organizarea şi stocarea altor date (de obicei în format digital). Metadatele sunt definite ca fiind date despre date sau informatii despre informatii.</a:t>
            </a:r>
          </a:p>
        </p:txBody>
      </p:sp>
      <p:sp>
        <p:nvSpPr>
          <p:cNvPr id="20" name="TextBox 20"/>
          <p:cNvSpPr txBox="1"/>
          <p:nvPr/>
        </p:nvSpPr>
        <p:spPr>
          <a:xfrm>
            <a:off x="1003305" y="2087327"/>
            <a:ext cx="4898318" cy="807490"/>
          </a:xfrm>
          <a:prstGeom prst="rect">
            <a:avLst/>
          </a:prstGeom>
        </p:spPr>
        <p:txBody>
          <a:bodyPr lIns="0" tIns="0" rIns="0" bIns="0" rtlCol="0" anchor="t">
            <a:spAutoFit/>
          </a:bodyPr>
          <a:lstStyle/>
          <a:p>
            <a:pPr algn="l">
              <a:lnSpc>
                <a:spcPts val="5915"/>
              </a:lnSpc>
            </a:pPr>
            <a:r>
              <a:rPr lang="en-US" sz="6500">
                <a:solidFill>
                  <a:srgbClr val="011142"/>
                </a:solidFill>
                <a:latin typeface="TT Firs Neue"/>
                <a:ea typeface="TT Firs Neue"/>
                <a:cs typeface="TT Firs Neue"/>
                <a:sym typeface="TT Firs Neue"/>
              </a:rPr>
              <a:t>Metadate</a:t>
            </a:r>
          </a:p>
        </p:txBody>
      </p:sp>
      <p:sp>
        <p:nvSpPr>
          <p:cNvPr id="21" name="TextBox 21"/>
          <p:cNvSpPr txBox="1"/>
          <p:nvPr/>
        </p:nvSpPr>
        <p:spPr>
          <a:xfrm>
            <a:off x="1028700" y="4563851"/>
            <a:ext cx="7787821" cy="2083199"/>
          </a:xfrm>
          <a:prstGeom prst="rect">
            <a:avLst/>
          </a:prstGeom>
        </p:spPr>
        <p:txBody>
          <a:bodyPr lIns="0" tIns="0" rIns="0" bIns="0" rtlCol="0" anchor="t">
            <a:spAutoFit/>
          </a:bodyPr>
          <a:lstStyle/>
          <a:p>
            <a:pPr algn="l">
              <a:lnSpc>
                <a:spcPts val="2735"/>
              </a:lnSpc>
            </a:pPr>
            <a:r>
              <a:rPr lang="en-US" sz="2399" dirty="0">
                <a:solidFill>
                  <a:srgbClr val="011142"/>
                </a:solidFill>
                <a:latin typeface="TT Firs Neue"/>
                <a:ea typeface="TT Firs Neue"/>
                <a:cs typeface="TT Firs Neue"/>
                <a:sym typeface="TT Firs Neue"/>
              </a:rPr>
              <a:t>In </a:t>
            </a:r>
            <a:r>
              <a:rPr lang="en-US" sz="2399" dirty="0" err="1">
                <a:solidFill>
                  <a:srgbClr val="011142"/>
                </a:solidFill>
                <a:latin typeface="TT Firs Neue"/>
                <a:ea typeface="TT Firs Neue"/>
                <a:cs typeface="TT Firs Neue"/>
                <a:sym typeface="TT Firs Neue"/>
              </a:rPr>
              <a:t>cadrul</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comunicatiilor</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digitale</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metadatele</a:t>
            </a:r>
            <a:r>
              <a:rPr lang="en-US" sz="2399" dirty="0">
                <a:solidFill>
                  <a:srgbClr val="011142"/>
                </a:solidFill>
                <a:latin typeface="TT Firs Neue"/>
                <a:ea typeface="TT Firs Neue"/>
                <a:cs typeface="TT Firs Neue"/>
                <a:sym typeface="TT Firs Neue"/>
              </a:rPr>
              <a:t> nu </a:t>
            </a:r>
            <a:r>
              <a:rPr lang="en-US" sz="2399" dirty="0" err="1">
                <a:solidFill>
                  <a:srgbClr val="011142"/>
                </a:solidFill>
                <a:latin typeface="TT Firs Neue"/>
                <a:ea typeface="TT Firs Neue"/>
                <a:cs typeface="TT Firs Neue"/>
                <a:sym typeface="TT Firs Neue"/>
              </a:rPr>
              <a:t>contin</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continutul</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propriu-zis</a:t>
            </a:r>
            <a:r>
              <a:rPr lang="en-US" sz="2399" dirty="0">
                <a:solidFill>
                  <a:srgbClr val="011142"/>
                </a:solidFill>
                <a:latin typeface="TT Firs Neue"/>
                <a:ea typeface="TT Firs Neue"/>
                <a:cs typeface="TT Firs Neue"/>
                <a:sym typeface="TT Firs Neue"/>
              </a:rPr>
              <a:t> al </a:t>
            </a:r>
            <a:r>
              <a:rPr lang="en-US" sz="2399" dirty="0" err="1">
                <a:solidFill>
                  <a:srgbClr val="011142"/>
                </a:solidFill>
                <a:latin typeface="TT Firs Neue"/>
                <a:ea typeface="TT Firs Neue"/>
                <a:cs typeface="TT Firs Neue"/>
                <a:sym typeface="TT Firs Neue"/>
              </a:rPr>
              <a:t>mesajului</a:t>
            </a:r>
            <a:r>
              <a:rPr lang="en-US" sz="2399" dirty="0">
                <a:solidFill>
                  <a:srgbClr val="011142"/>
                </a:solidFill>
                <a:latin typeface="TT Firs Neue"/>
                <a:ea typeface="TT Firs Neue"/>
                <a:cs typeface="TT Firs Neue"/>
                <a:sym typeface="TT Firs Neue"/>
              </a:rPr>
              <a:t>, ci </a:t>
            </a:r>
            <a:r>
              <a:rPr lang="en-US" sz="2399" dirty="0" err="1">
                <a:solidFill>
                  <a:srgbClr val="011142"/>
                </a:solidFill>
                <a:latin typeface="TT Firs Neue"/>
                <a:ea typeface="TT Firs Neue"/>
                <a:cs typeface="TT Firs Neue"/>
                <a:sym typeface="TT Firs Neue"/>
              </a:rPr>
              <a:t>caracteristici</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asociate</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acestuia</a:t>
            </a:r>
            <a:r>
              <a:rPr lang="en-US" sz="2399" dirty="0">
                <a:solidFill>
                  <a:srgbClr val="011142"/>
                </a:solidFill>
                <a:latin typeface="TT Firs Neue"/>
                <a:ea typeface="TT Firs Neue"/>
                <a:cs typeface="TT Firs Neue"/>
                <a:sym typeface="TT Firs Neue"/>
              </a:rPr>
              <a:t>. De </a:t>
            </a:r>
            <a:r>
              <a:rPr lang="en-US" sz="2399" dirty="0" err="1">
                <a:solidFill>
                  <a:srgbClr val="011142"/>
                </a:solidFill>
                <a:latin typeface="TT Firs Neue"/>
                <a:ea typeface="TT Firs Neue"/>
                <a:cs typeface="TT Firs Neue"/>
                <a:sym typeface="TT Firs Neue"/>
              </a:rPr>
              <a:t>exemplu</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intr</a:t>
            </a:r>
            <a:r>
              <a:rPr lang="en-US" sz="2399" dirty="0">
                <a:solidFill>
                  <a:srgbClr val="011142"/>
                </a:solidFill>
                <a:latin typeface="TT Firs Neue"/>
                <a:ea typeface="TT Firs Neue"/>
                <a:cs typeface="TT Firs Neue"/>
                <a:sym typeface="TT Firs Neue"/>
              </a:rPr>
              <a:t>-o </a:t>
            </a:r>
            <a:r>
              <a:rPr lang="en-US" sz="2399" dirty="0" err="1">
                <a:solidFill>
                  <a:srgbClr val="011142"/>
                </a:solidFill>
                <a:latin typeface="TT Firs Neue"/>
                <a:ea typeface="TT Firs Neue"/>
                <a:cs typeface="TT Firs Neue"/>
                <a:sym typeface="TT Firs Neue"/>
              </a:rPr>
              <a:t>conversație</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criptata</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mesajul</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poate</a:t>
            </a:r>
            <a:r>
              <a:rPr lang="en-US" sz="2399" dirty="0">
                <a:solidFill>
                  <a:srgbClr val="011142"/>
                </a:solidFill>
                <a:latin typeface="TT Firs Neue"/>
                <a:ea typeface="TT Firs Neue"/>
                <a:cs typeface="TT Firs Neue"/>
                <a:sym typeface="TT Firs Neue"/>
              </a:rPr>
              <a:t> fi </a:t>
            </a:r>
            <a:r>
              <a:rPr lang="en-US" sz="2399" dirty="0" err="1">
                <a:solidFill>
                  <a:srgbClr val="011142"/>
                </a:solidFill>
                <a:latin typeface="TT Firs Neue"/>
                <a:ea typeface="TT Firs Neue"/>
                <a:cs typeface="TT Firs Neue"/>
                <a:sym typeface="TT Firs Neue"/>
              </a:rPr>
              <a:t>imposibil</a:t>
            </a:r>
            <a:r>
              <a:rPr lang="en-US" sz="2399" dirty="0">
                <a:solidFill>
                  <a:srgbClr val="011142"/>
                </a:solidFill>
                <a:latin typeface="TT Firs Neue"/>
                <a:ea typeface="TT Firs Neue"/>
                <a:cs typeface="TT Firs Neue"/>
                <a:sym typeface="TT Firs Neue"/>
              </a:rPr>
              <a:t> de </a:t>
            </a:r>
            <a:r>
              <a:rPr lang="en-US" sz="2399" dirty="0" err="1">
                <a:solidFill>
                  <a:srgbClr val="011142"/>
                </a:solidFill>
                <a:latin typeface="TT Firs Neue"/>
                <a:ea typeface="TT Firs Neue"/>
                <a:cs typeface="TT Firs Neue"/>
                <a:sym typeface="TT Firs Neue"/>
              </a:rPr>
              <a:t>citit</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fara</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cheia</a:t>
            </a:r>
            <a:r>
              <a:rPr lang="en-US" sz="2399" dirty="0">
                <a:solidFill>
                  <a:srgbClr val="011142"/>
                </a:solidFill>
                <a:latin typeface="TT Firs Neue"/>
                <a:ea typeface="TT Firs Neue"/>
                <a:cs typeface="TT Firs Neue"/>
                <a:sym typeface="TT Firs Neue"/>
              </a:rPr>
              <a:t> de </a:t>
            </a:r>
            <a:r>
              <a:rPr lang="en-US" sz="2399" dirty="0" err="1">
                <a:solidFill>
                  <a:srgbClr val="011142"/>
                </a:solidFill>
                <a:latin typeface="TT Firs Neue"/>
                <a:ea typeface="TT Firs Neue"/>
                <a:cs typeface="TT Firs Neue"/>
                <a:sym typeface="TT Firs Neue"/>
              </a:rPr>
              <a:t>decriptare</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insa</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sistemul</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poate</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observa</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detalii</a:t>
            </a:r>
            <a:r>
              <a:rPr lang="en-US" sz="2399" dirty="0">
                <a:solidFill>
                  <a:srgbClr val="011142"/>
                </a:solidFill>
                <a:latin typeface="TT Firs Neue"/>
                <a:ea typeface="TT Firs Neue"/>
                <a:cs typeface="TT Firs Neue"/>
                <a:sym typeface="TT Firs Neue"/>
              </a:rPr>
              <a:t> </a:t>
            </a:r>
            <a:r>
              <a:rPr lang="en-US" sz="2399" dirty="0" err="1">
                <a:solidFill>
                  <a:srgbClr val="011142"/>
                </a:solidFill>
                <a:latin typeface="TT Firs Neue"/>
                <a:ea typeface="TT Firs Neue"/>
                <a:cs typeface="TT Firs Neue"/>
                <a:sym typeface="TT Firs Neue"/>
              </a:rPr>
              <a:t>semnificative</a:t>
            </a:r>
            <a:r>
              <a:rPr lang="en-US" sz="2399" dirty="0">
                <a:solidFill>
                  <a:srgbClr val="011142"/>
                </a:solidFill>
                <a:latin typeface="TT Firs Neue"/>
                <a:ea typeface="TT Firs Neue"/>
                <a:cs typeface="TT Firs Neue"/>
                <a:sym typeface="TT Firs Neue"/>
              </a:rPr>
              <a:t>.</a:t>
            </a:r>
          </a:p>
        </p:txBody>
      </p:sp>
      <p:sp>
        <p:nvSpPr>
          <p:cNvPr id="22" name="Freeform 22"/>
          <p:cNvSpPr/>
          <p:nvPr/>
        </p:nvSpPr>
        <p:spPr>
          <a:xfrm flipH="1">
            <a:off x="12884941" y="496685"/>
            <a:ext cx="7315200" cy="1064029"/>
          </a:xfrm>
          <a:custGeom>
            <a:avLst/>
            <a:gdLst/>
            <a:ahLst/>
            <a:cxnLst/>
            <a:rect l="l" t="t" r="r" b="b"/>
            <a:pathLst>
              <a:path w="7315200" h="1064029">
                <a:moveTo>
                  <a:pt x="7315200" y="0"/>
                </a:moveTo>
                <a:lnTo>
                  <a:pt x="0" y="0"/>
                </a:lnTo>
                <a:lnTo>
                  <a:pt x="0" y="1064030"/>
                </a:lnTo>
                <a:lnTo>
                  <a:pt x="7315200" y="1064030"/>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23" name="Group 23"/>
          <p:cNvGrpSpPr/>
          <p:nvPr/>
        </p:nvGrpSpPr>
        <p:grpSpPr>
          <a:xfrm>
            <a:off x="12050697" y="8657967"/>
            <a:ext cx="3544425" cy="1214591"/>
            <a:chOff x="0" y="0"/>
            <a:chExt cx="933511" cy="319892"/>
          </a:xfrm>
        </p:grpSpPr>
        <p:sp>
          <p:nvSpPr>
            <p:cNvPr id="24" name="Freeform 24"/>
            <p:cNvSpPr/>
            <p:nvPr/>
          </p:nvSpPr>
          <p:spPr>
            <a:xfrm>
              <a:off x="0" y="0"/>
              <a:ext cx="933511" cy="319892"/>
            </a:xfrm>
            <a:custGeom>
              <a:avLst/>
              <a:gdLst/>
              <a:ahLst/>
              <a:cxnLst/>
              <a:rect l="l" t="t" r="r" b="b"/>
              <a:pathLst>
                <a:path w="933511" h="319892">
                  <a:moveTo>
                    <a:pt x="43685" y="0"/>
                  </a:moveTo>
                  <a:lnTo>
                    <a:pt x="889826" y="0"/>
                  </a:lnTo>
                  <a:cubicBezTo>
                    <a:pt x="901412" y="0"/>
                    <a:pt x="912524" y="4603"/>
                    <a:pt x="920716" y="12795"/>
                  </a:cubicBezTo>
                  <a:cubicBezTo>
                    <a:pt x="928909" y="20988"/>
                    <a:pt x="933511" y="32099"/>
                    <a:pt x="933511" y="43685"/>
                  </a:cubicBezTo>
                  <a:lnTo>
                    <a:pt x="933511" y="276207"/>
                  </a:lnTo>
                  <a:cubicBezTo>
                    <a:pt x="933511" y="300334"/>
                    <a:pt x="913953" y="319892"/>
                    <a:pt x="889826" y="319892"/>
                  </a:cubicBezTo>
                  <a:lnTo>
                    <a:pt x="43685" y="319892"/>
                  </a:lnTo>
                  <a:cubicBezTo>
                    <a:pt x="32099" y="319892"/>
                    <a:pt x="20988" y="315290"/>
                    <a:pt x="12795" y="307097"/>
                  </a:cubicBezTo>
                  <a:cubicBezTo>
                    <a:pt x="4603" y="298905"/>
                    <a:pt x="0" y="287793"/>
                    <a:pt x="0" y="27620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txBody>
            <a:bodyPr/>
            <a:lstStyle/>
            <a:p>
              <a:endParaRPr lang="en-US"/>
            </a:p>
          </p:txBody>
        </p:sp>
        <p:sp>
          <p:nvSpPr>
            <p:cNvPr id="25" name="TextBox 25"/>
            <p:cNvSpPr txBox="1"/>
            <p:nvPr/>
          </p:nvSpPr>
          <p:spPr>
            <a:xfrm>
              <a:off x="0" y="-28575"/>
              <a:ext cx="933511" cy="348467"/>
            </a:xfrm>
            <a:prstGeom prst="rect">
              <a:avLst/>
            </a:prstGeom>
          </p:spPr>
          <p:txBody>
            <a:bodyPr lIns="50800" tIns="50800" rIns="50800" bIns="50800" rtlCol="0" anchor="ctr"/>
            <a:lstStyle/>
            <a:p>
              <a:pPr marL="0" lvl="0" indent="0" algn="ctr">
                <a:lnSpc>
                  <a:spcPts val="2659"/>
                </a:lnSpc>
                <a:spcBef>
                  <a:spcPct val="0"/>
                </a:spcBef>
              </a:pPr>
              <a:r>
                <a:rPr lang="en-US" sz="1899" b="1">
                  <a:solidFill>
                    <a:srgbClr val="011142"/>
                  </a:solidFill>
                  <a:latin typeface="TT Firs Neue Bold"/>
                  <a:ea typeface="TT Firs Neue Bold"/>
                  <a:cs typeface="TT Firs Neue Bold"/>
                  <a:sym typeface="TT Firs Neue Bold"/>
                </a:rPr>
                <a:t>localizarea aproximativa a dispozitivului</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sp>
        <p:nvSpPr>
          <p:cNvPr id="2" name="Freeform 2"/>
          <p:cNvSpPr/>
          <p:nvPr/>
        </p:nvSpPr>
        <p:spPr>
          <a:xfrm>
            <a:off x="10120057" y="3167378"/>
            <a:ext cx="7139243" cy="4114800"/>
          </a:xfrm>
          <a:custGeom>
            <a:avLst/>
            <a:gdLst/>
            <a:ahLst/>
            <a:cxnLst/>
            <a:rect l="l" t="t" r="r" b="b"/>
            <a:pathLst>
              <a:path w="7139243" h="4114800">
                <a:moveTo>
                  <a:pt x="0" y="0"/>
                </a:moveTo>
                <a:lnTo>
                  <a:pt x="7139243" y="0"/>
                </a:lnTo>
                <a:lnTo>
                  <a:pt x="7139243"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3" name="Freeform 3"/>
          <p:cNvSpPr/>
          <p:nvPr/>
        </p:nvSpPr>
        <p:spPr>
          <a:xfrm>
            <a:off x="9144000" y="5568785"/>
            <a:ext cx="3028032" cy="3426785"/>
          </a:xfrm>
          <a:custGeom>
            <a:avLst/>
            <a:gdLst/>
            <a:ahLst/>
            <a:cxnLst/>
            <a:rect l="l" t="t" r="r" b="b"/>
            <a:pathLst>
              <a:path w="3028032" h="3426785">
                <a:moveTo>
                  <a:pt x="0" y="0"/>
                </a:moveTo>
                <a:lnTo>
                  <a:pt x="3028032" y="0"/>
                </a:lnTo>
                <a:lnTo>
                  <a:pt x="3028032" y="3426785"/>
                </a:lnTo>
                <a:lnTo>
                  <a:pt x="0" y="3426785"/>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Freeform 4"/>
          <p:cNvSpPr/>
          <p:nvPr/>
        </p:nvSpPr>
        <p:spPr>
          <a:xfrm>
            <a:off x="12553032" y="6653492"/>
            <a:ext cx="1589165" cy="1577608"/>
          </a:xfrm>
          <a:custGeom>
            <a:avLst/>
            <a:gdLst/>
            <a:ahLst/>
            <a:cxnLst/>
            <a:rect l="l" t="t" r="r" b="b"/>
            <a:pathLst>
              <a:path w="1589165" h="1577608">
                <a:moveTo>
                  <a:pt x="0" y="0"/>
                </a:moveTo>
                <a:lnTo>
                  <a:pt x="1589165" y="0"/>
                </a:lnTo>
                <a:lnTo>
                  <a:pt x="1589165" y="1577608"/>
                </a:lnTo>
                <a:lnTo>
                  <a:pt x="0" y="1577608"/>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5" name="TextBox 5"/>
          <p:cNvSpPr txBox="1"/>
          <p:nvPr/>
        </p:nvSpPr>
        <p:spPr>
          <a:xfrm>
            <a:off x="1028700" y="1209675"/>
            <a:ext cx="9317484" cy="1557135"/>
          </a:xfrm>
          <a:prstGeom prst="rect">
            <a:avLst/>
          </a:prstGeom>
        </p:spPr>
        <p:txBody>
          <a:bodyPr lIns="0" tIns="0" rIns="0" bIns="0" rtlCol="0" anchor="t">
            <a:spAutoFit/>
          </a:bodyPr>
          <a:lstStyle/>
          <a:p>
            <a:pPr algn="l">
              <a:lnSpc>
                <a:spcPts val="5915"/>
              </a:lnSpc>
            </a:pPr>
            <a:r>
              <a:rPr lang="en-US" sz="6500" b="1">
                <a:solidFill>
                  <a:srgbClr val="011142"/>
                </a:solidFill>
                <a:latin typeface="TT Firs Neue Bold"/>
                <a:ea typeface="TT Firs Neue Bold"/>
                <a:cs typeface="TT Firs Neue Bold"/>
                <a:sym typeface="TT Firs Neue Bold"/>
              </a:rPr>
              <a:t>Cum apar metadatele in retele?</a:t>
            </a:r>
          </a:p>
        </p:txBody>
      </p:sp>
      <p:sp>
        <p:nvSpPr>
          <p:cNvPr id="6" name="TextBox 6"/>
          <p:cNvSpPr txBox="1"/>
          <p:nvPr/>
        </p:nvSpPr>
        <p:spPr>
          <a:xfrm>
            <a:off x="1028700" y="3062503"/>
            <a:ext cx="8172560" cy="2501265"/>
          </a:xfrm>
          <a:prstGeom prst="rect">
            <a:avLst/>
          </a:prstGeom>
        </p:spPr>
        <p:txBody>
          <a:bodyPr lIns="0" tIns="0" rIns="0" bIns="0" rtlCol="0" anchor="t">
            <a:spAutoFit/>
          </a:bodyPr>
          <a:lstStyle/>
          <a:p>
            <a:pPr algn="l">
              <a:lnSpc>
                <a:spcPts val="3359"/>
              </a:lnSpc>
            </a:pPr>
            <a:r>
              <a:rPr lang="en-US" sz="2400">
                <a:solidFill>
                  <a:srgbClr val="011142"/>
                </a:solidFill>
                <a:latin typeface="TT Firs Neue"/>
                <a:ea typeface="TT Firs Neue"/>
                <a:cs typeface="TT Firs Neue"/>
                <a:sym typeface="TT Firs Neue"/>
              </a:rPr>
              <a:t>Metadatele apar in mod natural in orice sistem de comunicatii deoarece reteaua trebuie sa poata directiona informatiile intre dispozitive. Pentru ca un mesaj sa ajunga la destinatie, infrastructura trebuie sa cunoasca anumite informatii esentiale despre conexiune.</a:t>
            </a:r>
          </a:p>
        </p:txBody>
      </p:sp>
      <p:sp>
        <p:nvSpPr>
          <p:cNvPr id="7" name="TextBox 7"/>
          <p:cNvSpPr txBox="1"/>
          <p:nvPr/>
        </p:nvSpPr>
        <p:spPr>
          <a:xfrm>
            <a:off x="1028700" y="5610318"/>
            <a:ext cx="5150480" cy="3199130"/>
          </a:xfrm>
          <a:prstGeom prst="rect">
            <a:avLst/>
          </a:prstGeom>
        </p:spPr>
        <p:txBody>
          <a:bodyPr lIns="0" tIns="0" rIns="0" bIns="0" rtlCol="0" anchor="t">
            <a:spAutoFit/>
          </a:bodyPr>
          <a:lstStyle/>
          <a:p>
            <a:pPr algn="l">
              <a:lnSpc>
                <a:spcPts val="3219"/>
              </a:lnSpc>
            </a:pPr>
            <a:r>
              <a:rPr lang="en-US" sz="2299">
                <a:solidFill>
                  <a:srgbClr val="011142"/>
                </a:solidFill>
                <a:latin typeface="TT Firs Neue"/>
                <a:ea typeface="TT Firs Neue"/>
                <a:cs typeface="TT Firs Neue"/>
                <a:sym typeface="TT Firs Neue"/>
              </a:rPr>
              <a:t>Metadatele apar in:</a:t>
            </a:r>
          </a:p>
          <a:p>
            <a:pPr marL="496569" lvl="1" indent="-248284" algn="l">
              <a:lnSpc>
                <a:spcPts val="3219"/>
              </a:lnSpc>
              <a:buFont typeface="Arial"/>
              <a:buChar char="•"/>
            </a:pPr>
            <a:r>
              <a:rPr lang="en-US" sz="2299">
                <a:solidFill>
                  <a:srgbClr val="011142"/>
                </a:solidFill>
                <a:latin typeface="TT Firs Neue"/>
                <a:ea typeface="TT Firs Neue"/>
                <a:cs typeface="TT Firs Neue"/>
                <a:sym typeface="TT Firs Neue"/>
              </a:rPr>
              <a:t>aplicatii de mesagerie</a:t>
            </a:r>
          </a:p>
          <a:p>
            <a:pPr marL="496569" lvl="1" indent="-248284" algn="l">
              <a:lnSpc>
                <a:spcPts val="3219"/>
              </a:lnSpc>
              <a:buFont typeface="Arial"/>
              <a:buChar char="•"/>
            </a:pPr>
            <a:r>
              <a:rPr lang="en-US" sz="2299">
                <a:solidFill>
                  <a:srgbClr val="011142"/>
                </a:solidFill>
                <a:latin typeface="TT Firs Neue"/>
                <a:ea typeface="TT Firs Neue"/>
                <a:cs typeface="TT Firs Neue"/>
                <a:sym typeface="TT Firs Neue"/>
              </a:rPr>
              <a:t>email</a:t>
            </a:r>
          </a:p>
          <a:p>
            <a:pPr marL="496569" lvl="1" indent="-248284" algn="l">
              <a:lnSpc>
                <a:spcPts val="3219"/>
              </a:lnSpc>
              <a:buFont typeface="Arial"/>
              <a:buChar char="•"/>
            </a:pPr>
            <a:r>
              <a:rPr lang="en-US" sz="2299">
                <a:solidFill>
                  <a:srgbClr val="011142"/>
                </a:solidFill>
                <a:latin typeface="TT Firs Neue"/>
                <a:ea typeface="TT Firs Neue"/>
                <a:cs typeface="TT Firs Neue"/>
                <a:sym typeface="TT Firs Neue"/>
              </a:rPr>
              <a:t>trafic web</a:t>
            </a:r>
          </a:p>
          <a:p>
            <a:pPr marL="496569" lvl="1" indent="-248284" algn="l">
              <a:lnSpc>
                <a:spcPts val="3219"/>
              </a:lnSpc>
              <a:buFont typeface="Arial"/>
              <a:buChar char="•"/>
            </a:pPr>
            <a:r>
              <a:rPr lang="en-US" sz="2299">
                <a:solidFill>
                  <a:srgbClr val="011142"/>
                </a:solidFill>
                <a:latin typeface="TT Firs Neue"/>
                <a:ea typeface="TT Firs Neue"/>
                <a:cs typeface="TT Firs Neue"/>
                <a:sym typeface="TT Firs Neue"/>
              </a:rPr>
              <a:t>apeluri telefonice</a:t>
            </a:r>
          </a:p>
          <a:p>
            <a:pPr marL="496569" lvl="1" indent="-248284" algn="l">
              <a:lnSpc>
                <a:spcPts val="3219"/>
              </a:lnSpc>
              <a:buFont typeface="Arial"/>
              <a:buChar char="•"/>
            </a:pPr>
            <a:r>
              <a:rPr lang="en-US" sz="2299">
                <a:solidFill>
                  <a:srgbClr val="011142"/>
                </a:solidFill>
                <a:latin typeface="TT Firs Neue"/>
                <a:ea typeface="TT Firs Neue"/>
                <a:cs typeface="TT Firs Neue"/>
                <a:sym typeface="TT Firs Neue"/>
              </a:rPr>
              <a:t>retele mobile</a:t>
            </a:r>
          </a:p>
          <a:p>
            <a:pPr marL="496569" lvl="1" indent="-248284" algn="l">
              <a:lnSpc>
                <a:spcPts val="3219"/>
              </a:lnSpc>
              <a:buFont typeface="Arial"/>
              <a:buChar char="•"/>
            </a:pPr>
            <a:r>
              <a:rPr lang="en-US" sz="2299">
                <a:solidFill>
                  <a:srgbClr val="011142"/>
                </a:solidFill>
                <a:latin typeface="TT Firs Neue"/>
                <a:ea typeface="TT Firs Neue"/>
                <a:cs typeface="TT Firs Neue"/>
                <a:sym typeface="TT Firs Neue"/>
              </a:rPr>
              <a:t>conexiuni Wi-Fi</a:t>
            </a:r>
          </a:p>
          <a:p>
            <a:pPr algn="l">
              <a:lnSpc>
                <a:spcPts val="3219"/>
              </a:lnSpc>
            </a:pPr>
            <a:endParaRPr lang="en-US" sz="2299">
              <a:solidFill>
                <a:srgbClr val="011142"/>
              </a:solidFill>
              <a:latin typeface="TT Firs Neue"/>
              <a:ea typeface="TT Firs Neue"/>
              <a:cs typeface="TT Firs Neue"/>
              <a:sym typeface="TT Firs Neue"/>
            </a:endParaRPr>
          </a:p>
        </p:txBody>
      </p:sp>
      <p:sp>
        <p:nvSpPr>
          <p:cNvPr id="8" name="Freeform 8"/>
          <p:cNvSpPr/>
          <p:nvPr/>
        </p:nvSpPr>
        <p:spPr>
          <a:xfrm flipH="1">
            <a:off x="13090922" y="8809448"/>
            <a:ext cx="7315200" cy="1064029"/>
          </a:xfrm>
          <a:custGeom>
            <a:avLst/>
            <a:gdLst/>
            <a:ahLst/>
            <a:cxnLst/>
            <a:rect l="l" t="t" r="r" b="b"/>
            <a:pathLst>
              <a:path w="7315200" h="1064029">
                <a:moveTo>
                  <a:pt x="7315200" y="0"/>
                </a:moveTo>
                <a:lnTo>
                  <a:pt x="0" y="0"/>
                </a:lnTo>
                <a:lnTo>
                  <a:pt x="0" y="1064029"/>
                </a:lnTo>
                <a:lnTo>
                  <a:pt x="7315200" y="1064029"/>
                </a:lnTo>
                <a:lnTo>
                  <a:pt x="73152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flipH="1">
            <a:off x="-2057400" y="140629"/>
            <a:ext cx="7315200" cy="1064029"/>
          </a:xfrm>
          <a:custGeom>
            <a:avLst/>
            <a:gdLst/>
            <a:ahLst/>
            <a:cxnLst/>
            <a:rect l="l" t="t" r="r" b="b"/>
            <a:pathLst>
              <a:path w="7315200" h="1064029">
                <a:moveTo>
                  <a:pt x="7315200" y="0"/>
                </a:moveTo>
                <a:lnTo>
                  <a:pt x="0" y="0"/>
                </a:lnTo>
                <a:lnTo>
                  <a:pt x="0" y="1064029"/>
                </a:lnTo>
                <a:lnTo>
                  <a:pt x="7315200" y="1064029"/>
                </a:lnTo>
                <a:lnTo>
                  <a:pt x="731520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sp>
        <p:nvSpPr>
          <p:cNvPr id="2" name="Freeform 2"/>
          <p:cNvSpPr/>
          <p:nvPr/>
        </p:nvSpPr>
        <p:spPr>
          <a:xfrm flipH="1">
            <a:off x="-2118122" y="413523"/>
            <a:ext cx="7315200" cy="1064029"/>
          </a:xfrm>
          <a:custGeom>
            <a:avLst/>
            <a:gdLst/>
            <a:ahLst/>
            <a:cxnLst/>
            <a:rect l="l" t="t" r="r" b="b"/>
            <a:pathLst>
              <a:path w="7315200" h="1064029">
                <a:moveTo>
                  <a:pt x="7315200" y="0"/>
                </a:moveTo>
                <a:lnTo>
                  <a:pt x="0" y="0"/>
                </a:lnTo>
                <a:lnTo>
                  <a:pt x="0" y="1064029"/>
                </a:lnTo>
                <a:lnTo>
                  <a:pt x="7315200" y="1064029"/>
                </a:lnTo>
                <a:lnTo>
                  <a:pt x="731520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3" name="Freeform 3"/>
          <p:cNvSpPr/>
          <p:nvPr/>
        </p:nvSpPr>
        <p:spPr>
          <a:xfrm flipH="1">
            <a:off x="13090922" y="8809448"/>
            <a:ext cx="7315200" cy="1064029"/>
          </a:xfrm>
          <a:custGeom>
            <a:avLst/>
            <a:gdLst/>
            <a:ahLst/>
            <a:cxnLst/>
            <a:rect l="l" t="t" r="r" b="b"/>
            <a:pathLst>
              <a:path w="7315200" h="1064029">
                <a:moveTo>
                  <a:pt x="7315200" y="0"/>
                </a:moveTo>
                <a:lnTo>
                  <a:pt x="0" y="0"/>
                </a:lnTo>
                <a:lnTo>
                  <a:pt x="0" y="1064029"/>
                </a:lnTo>
                <a:lnTo>
                  <a:pt x="7315200" y="1064029"/>
                </a:lnTo>
                <a:lnTo>
                  <a:pt x="73152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71765" y="0"/>
            <a:ext cx="14982734" cy="10287000"/>
          </a:xfrm>
          <a:custGeom>
            <a:avLst/>
            <a:gdLst/>
            <a:ahLst/>
            <a:cxnLst/>
            <a:rect l="l" t="t" r="r" b="b"/>
            <a:pathLst>
              <a:path w="14982734" h="10287000">
                <a:moveTo>
                  <a:pt x="0" y="0"/>
                </a:moveTo>
                <a:lnTo>
                  <a:pt x="14982734" y="0"/>
                </a:lnTo>
                <a:lnTo>
                  <a:pt x="14982734" y="10287000"/>
                </a:lnTo>
                <a:lnTo>
                  <a:pt x="0" y="10287000"/>
                </a:lnTo>
                <a:lnTo>
                  <a:pt x="0" y="0"/>
                </a:lnTo>
                <a:close/>
              </a:path>
            </a:pathLst>
          </a:custGeom>
          <a:blipFill>
            <a:blip r:embed="rId3"/>
            <a:stretch>
              <a:fillRect l="-2028" r="-2470" b="-1466"/>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sp>
        <p:nvSpPr>
          <p:cNvPr id="2" name="Freeform 2"/>
          <p:cNvSpPr/>
          <p:nvPr/>
        </p:nvSpPr>
        <p:spPr>
          <a:xfrm flipH="1">
            <a:off x="14492149" y="8726285"/>
            <a:ext cx="7315200" cy="1064029"/>
          </a:xfrm>
          <a:custGeom>
            <a:avLst/>
            <a:gdLst/>
            <a:ahLst/>
            <a:cxnLst/>
            <a:rect l="l" t="t" r="r" b="b"/>
            <a:pathLst>
              <a:path w="7315200" h="1064029">
                <a:moveTo>
                  <a:pt x="7315200" y="0"/>
                </a:moveTo>
                <a:lnTo>
                  <a:pt x="0" y="0"/>
                </a:lnTo>
                <a:lnTo>
                  <a:pt x="0" y="1064030"/>
                </a:lnTo>
                <a:lnTo>
                  <a:pt x="7315200" y="1064030"/>
                </a:lnTo>
                <a:lnTo>
                  <a:pt x="73152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1747643" y="1791538"/>
            <a:ext cx="5979205" cy="7466762"/>
          </a:xfrm>
          <a:custGeom>
            <a:avLst/>
            <a:gdLst/>
            <a:ahLst/>
            <a:cxnLst/>
            <a:rect l="l" t="t" r="r" b="b"/>
            <a:pathLst>
              <a:path w="5979205" h="7466762">
                <a:moveTo>
                  <a:pt x="0" y="0"/>
                </a:moveTo>
                <a:lnTo>
                  <a:pt x="5979205" y="0"/>
                </a:lnTo>
                <a:lnTo>
                  <a:pt x="5979205" y="7466762"/>
                </a:lnTo>
                <a:lnTo>
                  <a:pt x="0" y="7466762"/>
                </a:lnTo>
                <a:lnTo>
                  <a:pt x="0" y="0"/>
                </a:lnTo>
                <a:close/>
              </a:path>
            </a:pathLst>
          </a:custGeom>
          <a:blipFill>
            <a:blip r:embed="rId3"/>
            <a:stretch>
              <a:fillRect/>
            </a:stretch>
          </a:blipFill>
        </p:spPr>
        <p:txBody>
          <a:bodyPr/>
          <a:lstStyle/>
          <a:p>
            <a:endParaRPr lang="en-US"/>
          </a:p>
        </p:txBody>
      </p:sp>
      <p:sp>
        <p:nvSpPr>
          <p:cNvPr id="4" name="Freeform 4"/>
          <p:cNvSpPr/>
          <p:nvPr/>
        </p:nvSpPr>
        <p:spPr>
          <a:xfrm>
            <a:off x="11747643" y="1742766"/>
            <a:ext cx="5979205" cy="7466762"/>
          </a:xfrm>
          <a:custGeom>
            <a:avLst/>
            <a:gdLst/>
            <a:ahLst/>
            <a:cxnLst/>
            <a:rect l="l" t="t" r="r" b="b"/>
            <a:pathLst>
              <a:path w="5979205" h="7466762">
                <a:moveTo>
                  <a:pt x="0" y="0"/>
                </a:moveTo>
                <a:lnTo>
                  <a:pt x="5979205" y="0"/>
                </a:lnTo>
                <a:lnTo>
                  <a:pt x="5979205" y="7466762"/>
                </a:lnTo>
                <a:lnTo>
                  <a:pt x="0" y="7466762"/>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762517" y="934977"/>
            <a:ext cx="8381483" cy="807788"/>
          </a:xfrm>
          <a:prstGeom prst="rect">
            <a:avLst/>
          </a:prstGeom>
        </p:spPr>
        <p:txBody>
          <a:bodyPr lIns="0" tIns="0" rIns="0" bIns="0" rtlCol="0" anchor="t">
            <a:spAutoFit/>
          </a:bodyPr>
          <a:lstStyle/>
          <a:p>
            <a:pPr algn="l">
              <a:lnSpc>
                <a:spcPts val="5915"/>
              </a:lnSpc>
            </a:pPr>
            <a:r>
              <a:rPr lang="en-US" sz="6500" b="1">
                <a:solidFill>
                  <a:srgbClr val="011142"/>
                </a:solidFill>
                <a:latin typeface="TT Firs Neue Bold"/>
                <a:ea typeface="TT Firs Neue Bold"/>
                <a:cs typeface="TT Firs Neue Bold"/>
                <a:sym typeface="TT Firs Neue Bold"/>
              </a:rPr>
              <a:t>Tipuri de Metadate</a:t>
            </a:r>
          </a:p>
        </p:txBody>
      </p:sp>
      <p:sp>
        <p:nvSpPr>
          <p:cNvPr id="6" name="TextBox 6"/>
          <p:cNvSpPr txBox="1"/>
          <p:nvPr/>
        </p:nvSpPr>
        <p:spPr>
          <a:xfrm>
            <a:off x="451141" y="2777302"/>
            <a:ext cx="11296502" cy="7212231"/>
          </a:xfrm>
          <a:prstGeom prst="rect">
            <a:avLst/>
          </a:prstGeom>
        </p:spPr>
        <p:txBody>
          <a:bodyPr lIns="0" tIns="0" rIns="0" bIns="0" rtlCol="0" anchor="t">
            <a:spAutoFit/>
          </a:bodyPr>
          <a:lstStyle/>
          <a:p>
            <a:pPr algn="l">
              <a:lnSpc>
                <a:spcPts val="3804"/>
              </a:lnSpc>
            </a:pPr>
            <a:r>
              <a:rPr lang="en-US" sz="2717" b="1" dirty="0">
                <a:solidFill>
                  <a:srgbClr val="011142"/>
                </a:solidFill>
                <a:latin typeface="TT Firs Neue Bold"/>
                <a:ea typeface="TT Firs Neue Bold"/>
                <a:cs typeface="TT Firs Neue Bold"/>
                <a:sym typeface="TT Firs Neue Bold"/>
              </a:rPr>
              <a:t>Metadate descriptive</a:t>
            </a:r>
            <a:r>
              <a:rPr lang="en-US" sz="2717" dirty="0">
                <a:solidFill>
                  <a:srgbClr val="011142"/>
                </a:solidFill>
                <a:latin typeface="TT Firs Neue"/>
                <a:ea typeface="TT Firs Neue"/>
                <a:cs typeface="TT Firs Neue"/>
                <a:sym typeface="TT Firs Neue"/>
              </a:rPr>
              <a:t> -  </a:t>
            </a:r>
            <a:r>
              <a:rPr lang="en-US" sz="2717" dirty="0" err="1">
                <a:solidFill>
                  <a:srgbClr val="011142"/>
                </a:solidFill>
                <a:latin typeface="TT Firs Neue"/>
                <a:ea typeface="TT Firs Neue"/>
                <a:cs typeface="TT Firs Neue"/>
                <a:sym typeface="TT Firs Neue"/>
              </a:rPr>
              <a:t>furnizarea</a:t>
            </a:r>
            <a:r>
              <a:rPr lang="en-US" sz="2717" dirty="0">
                <a:solidFill>
                  <a:srgbClr val="011142"/>
                </a:solidFill>
                <a:latin typeface="TT Firs Neue"/>
                <a:ea typeface="TT Firs Neue"/>
                <a:cs typeface="TT Firs Neue"/>
                <a:sym typeface="TT Firs Neue"/>
              </a:rPr>
              <a:t> de </a:t>
            </a:r>
            <a:r>
              <a:rPr lang="en-US" sz="2717" dirty="0" err="1">
                <a:solidFill>
                  <a:srgbClr val="011142"/>
                </a:solidFill>
                <a:latin typeface="TT Firs Neue"/>
                <a:ea typeface="TT Firs Neue"/>
                <a:cs typeface="TT Firs Neue"/>
                <a:sym typeface="TT Firs Neue"/>
              </a:rPr>
              <a:t>informatii</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despre</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continutul</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si</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semnificatia</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datelor</a:t>
            </a:r>
            <a:r>
              <a:rPr lang="en-US" sz="2717" dirty="0">
                <a:solidFill>
                  <a:srgbClr val="011142"/>
                </a:solidFill>
                <a:latin typeface="TT Firs Neue"/>
                <a:ea typeface="TT Firs Neue"/>
                <a:cs typeface="TT Firs Neue"/>
                <a:sym typeface="TT Firs Neue"/>
              </a:rPr>
              <a:t>, cum </a:t>
            </a:r>
            <a:r>
              <a:rPr lang="en-US" sz="2717" dirty="0" err="1">
                <a:solidFill>
                  <a:srgbClr val="011142"/>
                </a:solidFill>
                <a:latin typeface="TT Firs Neue"/>
                <a:ea typeface="TT Firs Neue"/>
                <a:cs typeface="TT Firs Neue"/>
                <a:sym typeface="TT Firs Neue"/>
              </a:rPr>
              <a:t>ar</a:t>
            </a:r>
            <a:r>
              <a:rPr lang="en-US" sz="2717" dirty="0">
                <a:solidFill>
                  <a:srgbClr val="011142"/>
                </a:solidFill>
                <a:latin typeface="TT Firs Neue"/>
                <a:ea typeface="TT Firs Neue"/>
                <a:cs typeface="TT Firs Neue"/>
                <a:sym typeface="TT Firs Neue"/>
              </a:rPr>
              <a:t> fi </a:t>
            </a:r>
            <a:r>
              <a:rPr lang="en-US" sz="2717" dirty="0" err="1">
                <a:solidFill>
                  <a:srgbClr val="011142"/>
                </a:solidFill>
                <a:latin typeface="TT Firs Neue"/>
                <a:ea typeface="TT Firs Neue"/>
                <a:cs typeface="TT Firs Neue"/>
                <a:sym typeface="TT Firs Neue"/>
              </a:rPr>
              <a:t>titlu</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subiect</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autor</a:t>
            </a:r>
            <a:r>
              <a:rPr lang="en-US" sz="2717" dirty="0">
                <a:solidFill>
                  <a:srgbClr val="011142"/>
                </a:solidFill>
                <a:latin typeface="TT Firs Neue"/>
                <a:ea typeface="TT Firs Neue"/>
                <a:cs typeface="TT Firs Neue"/>
                <a:sym typeface="TT Firs Neue"/>
              </a:rPr>
              <a:t>. </a:t>
            </a:r>
          </a:p>
          <a:p>
            <a:pPr algn="l">
              <a:lnSpc>
                <a:spcPts val="3664"/>
              </a:lnSpc>
            </a:pPr>
            <a:endParaRPr lang="en-US" sz="2717" dirty="0">
              <a:solidFill>
                <a:srgbClr val="011142"/>
              </a:solidFill>
              <a:latin typeface="TT Firs Neue"/>
              <a:ea typeface="TT Firs Neue"/>
              <a:cs typeface="TT Firs Neue"/>
              <a:sym typeface="TT Firs Neue"/>
            </a:endParaRPr>
          </a:p>
          <a:p>
            <a:pPr>
              <a:lnSpc>
                <a:spcPts val="3804"/>
              </a:lnSpc>
            </a:pPr>
            <a:r>
              <a:rPr lang="en-US" sz="2717" b="1" dirty="0">
                <a:solidFill>
                  <a:srgbClr val="011142"/>
                </a:solidFill>
                <a:latin typeface="TT Firs Neue Bold"/>
                <a:ea typeface="TT Firs Neue Bold"/>
                <a:cs typeface="TT Firs Neue Bold"/>
                <a:sym typeface="TT Firs Neue Bold"/>
              </a:rPr>
              <a:t>Metadate administrative </a:t>
            </a:r>
            <a:r>
              <a:rPr lang="en-US" sz="2717" dirty="0">
                <a:solidFill>
                  <a:srgbClr val="011142"/>
                </a:solidFill>
                <a:latin typeface="TT Firs Neue"/>
                <a:ea typeface="TT Firs Neue"/>
                <a:cs typeface="TT Firs Neue"/>
                <a:sym typeface="TT Firs Neue"/>
              </a:rPr>
              <a:t>- </a:t>
            </a:r>
            <a:r>
              <a:rPr lang="en-US" sz="2800" dirty="0" err="1">
                <a:latin typeface="TT Firs Neue" panose="020B0604020202020204" charset="0"/>
              </a:rPr>
              <a:t>faciliteaza</a:t>
            </a:r>
            <a:r>
              <a:rPr lang="en-US" sz="2800" dirty="0">
                <a:latin typeface="TT Firs Neue" panose="020B0604020202020204" charset="0"/>
              </a:rPr>
              <a:t> </a:t>
            </a:r>
            <a:r>
              <a:rPr lang="en-US" sz="2800" dirty="0" err="1">
                <a:latin typeface="TT Firs Neue" panose="020B0604020202020204" charset="0"/>
              </a:rPr>
              <a:t>guvernarea</a:t>
            </a:r>
            <a:r>
              <a:rPr lang="en-US" sz="2800" dirty="0">
                <a:latin typeface="TT Firs Neue" panose="020B0604020202020204" charset="0"/>
              </a:rPr>
              <a:t> </a:t>
            </a:r>
            <a:r>
              <a:rPr lang="en-US" sz="2800" dirty="0" err="1">
                <a:latin typeface="TT Firs Neue" panose="020B0604020202020204" charset="0"/>
              </a:rPr>
              <a:t>datelor</a:t>
            </a:r>
            <a:r>
              <a:rPr lang="en-US" sz="2800" dirty="0">
                <a:latin typeface="TT Firs Neue" panose="020B0604020202020204" charset="0"/>
              </a:rPr>
              <a:t> </a:t>
            </a:r>
            <a:r>
              <a:rPr lang="en-US" sz="2800" dirty="0" err="1">
                <a:latin typeface="TT Firs Neue" panose="020B0604020202020204" charset="0"/>
              </a:rPr>
              <a:t>și</a:t>
            </a:r>
            <a:r>
              <a:rPr lang="en-US" sz="2800" dirty="0">
                <a:latin typeface="TT Firs Neue" panose="020B0604020202020204" charset="0"/>
              </a:rPr>
              <a:t> </a:t>
            </a:r>
            <a:r>
              <a:rPr lang="en-US" sz="2800" dirty="0" err="1">
                <a:latin typeface="TT Firs Neue" panose="020B0604020202020204" charset="0"/>
              </a:rPr>
              <a:t>includ</a:t>
            </a:r>
            <a:r>
              <a:rPr lang="en-US" sz="2800" dirty="0">
                <a:latin typeface="TT Firs Neue" panose="020B0604020202020204" charset="0"/>
              </a:rPr>
              <a:t> </a:t>
            </a:r>
            <a:r>
              <a:rPr lang="en-US" sz="2800" dirty="0" err="1">
                <a:latin typeface="TT Firs Neue" panose="020B0604020202020204" charset="0"/>
              </a:rPr>
              <a:t>detalii</a:t>
            </a:r>
            <a:r>
              <a:rPr lang="en-US" sz="2800" dirty="0">
                <a:latin typeface="TT Firs Neue" panose="020B0604020202020204" charset="0"/>
              </a:rPr>
              <a:t> </a:t>
            </a:r>
            <a:r>
              <a:rPr lang="en-US" sz="2800" dirty="0" err="1">
                <a:latin typeface="TT Firs Neue" panose="020B0604020202020204" charset="0"/>
              </a:rPr>
              <a:t>tehnice</a:t>
            </a:r>
            <a:r>
              <a:rPr lang="en-US" sz="2800" dirty="0">
                <a:latin typeface="TT Firs Neue" panose="020B0604020202020204" charset="0"/>
              </a:rPr>
              <a:t>, </a:t>
            </a:r>
            <a:r>
              <a:rPr lang="en-US" sz="2800" dirty="0" err="1">
                <a:latin typeface="TT Firs Neue" panose="020B0604020202020204" charset="0"/>
              </a:rPr>
              <a:t>drepturi</a:t>
            </a:r>
            <a:r>
              <a:rPr lang="en-US" sz="2800" dirty="0">
                <a:latin typeface="TT Firs Neue" panose="020B0604020202020204" charset="0"/>
              </a:rPr>
              <a:t> de </a:t>
            </a:r>
            <a:r>
              <a:rPr lang="en-US" sz="2800" dirty="0" err="1">
                <a:latin typeface="TT Firs Neue" panose="020B0604020202020204" charset="0"/>
              </a:rPr>
              <a:t>autor</a:t>
            </a:r>
            <a:r>
              <a:rPr lang="en-US" sz="2800" dirty="0">
                <a:latin typeface="TT Firs Neue" panose="020B0604020202020204" charset="0"/>
              </a:rPr>
              <a:t>, </a:t>
            </a:r>
            <a:r>
              <a:rPr lang="en-US" sz="2800" dirty="0" err="1">
                <a:latin typeface="TT Firs Neue" panose="020B0604020202020204" charset="0"/>
              </a:rPr>
              <a:t>politici</a:t>
            </a:r>
            <a:r>
              <a:rPr lang="en-US" sz="2800" dirty="0">
                <a:latin typeface="TT Firs Neue" panose="020B0604020202020204" charset="0"/>
              </a:rPr>
              <a:t> de </a:t>
            </a:r>
            <a:r>
              <a:rPr lang="en-US" sz="2800" dirty="0" err="1">
                <a:latin typeface="TT Firs Neue" panose="020B0604020202020204" charset="0"/>
              </a:rPr>
              <a:t>pastrare</a:t>
            </a:r>
            <a:r>
              <a:rPr lang="en-US" sz="2800" dirty="0">
                <a:latin typeface="TT Firs Neue" panose="020B0604020202020204" charset="0"/>
              </a:rPr>
              <a:t> </a:t>
            </a:r>
            <a:r>
              <a:rPr lang="en-US" sz="2800" dirty="0" err="1">
                <a:latin typeface="TT Firs Neue" panose="020B0604020202020204" charset="0"/>
              </a:rPr>
              <a:t>și</a:t>
            </a:r>
            <a:r>
              <a:rPr lang="en-US" sz="2800" dirty="0">
                <a:latin typeface="TT Firs Neue" panose="020B0604020202020204" charset="0"/>
              </a:rPr>
              <a:t> </a:t>
            </a:r>
            <a:r>
              <a:rPr lang="en-US" sz="2800" dirty="0" err="1">
                <a:latin typeface="TT Firs Neue" panose="020B0604020202020204" charset="0"/>
              </a:rPr>
              <a:t>istoricul</a:t>
            </a:r>
            <a:r>
              <a:rPr lang="en-US" sz="2800" dirty="0">
                <a:latin typeface="TT Firs Neue" panose="020B0604020202020204" charset="0"/>
              </a:rPr>
              <a:t> </a:t>
            </a:r>
            <a:r>
              <a:rPr lang="en-US" sz="2800" dirty="0" err="1">
                <a:latin typeface="TT Firs Neue" panose="020B0604020202020204" charset="0"/>
              </a:rPr>
              <a:t>modificarilor</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detinatorul</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drepturilor</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sau</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termenii</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licentei</a:t>
            </a:r>
            <a:r>
              <a:rPr lang="en-US" sz="2717" dirty="0">
                <a:solidFill>
                  <a:srgbClr val="011142"/>
                </a:solidFill>
                <a:latin typeface="TT Firs Neue"/>
                <a:ea typeface="TT Firs Neue"/>
                <a:cs typeface="TT Firs Neue"/>
                <a:sym typeface="TT Firs Neue"/>
              </a:rPr>
              <a:t>.</a:t>
            </a:r>
          </a:p>
          <a:p>
            <a:pPr algn="l">
              <a:lnSpc>
                <a:spcPts val="3804"/>
              </a:lnSpc>
            </a:pPr>
            <a:endParaRPr lang="en-US" sz="2717" dirty="0">
              <a:solidFill>
                <a:srgbClr val="011142"/>
              </a:solidFill>
              <a:latin typeface="TT Firs Neue"/>
              <a:ea typeface="TT Firs Neue"/>
              <a:cs typeface="TT Firs Neue"/>
              <a:sym typeface="TT Firs Neue"/>
            </a:endParaRPr>
          </a:p>
          <a:p>
            <a:pPr algn="l">
              <a:lnSpc>
                <a:spcPts val="3804"/>
              </a:lnSpc>
            </a:pPr>
            <a:r>
              <a:rPr lang="en-US" sz="2717" dirty="0">
                <a:solidFill>
                  <a:srgbClr val="011142"/>
                </a:solidFill>
                <a:latin typeface="TT Firs Neue"/>
                <a:ea typeface="TT Firs Neue"/>
                <a:cs typeface="TT Firs Neue"/>
                <a:sym typeface="TT Firs Neue"/>
              </a:rPr>
              <a:t> </a:t>
            </a:r>
            <a:r>
              <a:rPr lang="en-US" sz="2717" b="1" dirty="0">
                <a:solidFill>
                  <a:srgbClr val="011142"/>
                </a:solidFill>
                <a:latin typeface="TT Firs Neue Bold"/>
                <a:ea typeface="TT Firs Neue Bold"/>
                <a:cs typeface="TT Firs Neue Bold"/>
                <a:sym typeface="TT Firs Neue Bold"/>
              </a:rPr>
              <a:t>Metadate </a:t>
            </a:r>
            <a:r>
              <a:rPr lang="en-US" sz="2717" b="1" dirty="0" err="1">
                <a:solidFill>
                  <a:srgbClr val="011142"/>
                </a:solidFill>
                <a:latin typeface="TT Firs Neue Bold"/>
                <a:ea typeface="TT Firs Neue Bold"/>
                <a:cs typeface="TT Firs Neue Bold"/>
                <a:sym typeface="TT Firs Neue Bold"/>
              </a:rPr>
              <a:t>structurale</a:t>
            </a:r>
            <a:r>
              <a:rPr lang="en-US" sz="2717" dirty="0">
                <a:solidFill>
                  <a:srgbClr val="011142"/>
                </a:solidFill>
                <a:latin typeface="TT Firs Neue"/>
                <a:ea typeface="TT Firs Neue"/>
                <a:cs typeface="TT Firs Neue"/>
                <a:sym typeface="TT Firs Neue"/>
              </a:rPr>
              <a:t> -  </a:t>
            </a:r>
            <a:r>
              <a:rPr lang="en-US" sz="2717" dirty="0" err="1">
                <a:solidFill>
                  <a:srgbClr val="011142"/>
                </a:solidFill>
                <a:latin typeface="TT Firs Neue"/>
                <a:ea typeface="TT Firs Neue"/>
                <a:cs typeface="TT Firs Neue"/>
                <a:sym typeface="TT Firs Neue"/>
              </a:rPr>
              <a:t>explica</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modul</a:t>
            </a:r>
            <a:r>
              <a:rPr lang="en-US" sz="2717" dirty="0">
                <a:solidFill>
                  <a:srgbClr val="011142"/>
                </a:solidFill>
                <a:latin typeface="TT Firs Neue"/>
                <a:ea typeface="TT Firs Neue"/>
                <a:cs typeface="TT Firs Neue"/>
                <a:sym typeface="TT Firs Neue"/>
              </a:rPr>
              <a:t> in care sunt </a:t>
            </a:r>
            <a:r>
              <a:rPr lang="en-US" sz="2717" dirty="0" err="1">
                <a:solidFill>
                  <a:srgbClr val="011142"/>
                </a:solidFill>
                <a:latin typeface="TT Firs Neue"/>
                <a:ea typeface="TT Firs Neue"/>
                <a:cs typeface="TT Firs Neue"/>
                <a:sym typeface="TT Firs Neue"/>
              </a:rPr>
              <a:t>organizate</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diferitele</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componente</a:t>
            </a:r>
            <a:r>
              <a:rPr lang="en-US" sz="2717" dirty="0">
                <a:solidFill>
                  <a:srgbClr val="011142"/>
                </a:solidFill>
                <a:latin typeface="TT Firs Neue"/>
                <a:ea typeface="TT Firs Neue"/>
                <a:cs typeface="TT Firs Neue"/>
                <a:sym typeface="TT Firs Neue"/>
              </a:rPr>
              <a:t> care </a:t>
            </a:r>
            <a:r>
              <a:rPr lang="en-US" sz="2717" dirty="0" err="1">
                <a:solidFill>
                  <a:srgbClr val="011142"/>
                </a:solidFill>
                <a:latin typeface="TT Firs Neue"/>
                <a:ea typeface="TT Firs Neue"/>
                <a:cs typeface="TT Firs Neue"/>
                <a:sym typeface="TT Firs Neue"/>
              </a:rPr>
              <a:t>alcatuiesc</a:t>
            </a:r>
            <a:r>
              <a:rPr lang="en-US" sz="2717" dirty="0">
                <a:solidFill>
                  <a:srgbClr val="011142"/>
                </a:solidFill>
                <a:latin typeface="TT Firs Neue"/>
                <a:ea typeface="TT Firs Neue"/>
                <a:cs typeface="TT Firs Neue"/>
                <a:sym typeface="TT Firs Neue"/>
              </a:rPr>
              <a:t> un </a:t>
            </a:r>
            <a:r>
              <a:rPr lang="en-US" sz="2717" dirty="0" err="1">
                <a:solidFill>
                  <a:srgbClr val="011142"/>
                </a:solidFill>
                <a:latin typeface="TT Firs Neue"/>
                <a:ea typeface="TT Firs Neue"/>
                <a:cs typeface="TT Firs Neue"/>
                <a:sym typeface="TT Firs Neue"/>
              </a:rPr>
              <a:t>obiect</a:t>
            </a:r>
            <a:r>
              <a:rPr lang="en-US" sz="2717" dirty="0">
                <a:solidFill>
                  <a:srgbClr val="011142"/>
                </a:solidFill>
                <a:latin typeface="TT Firs Neue"/>
                <a:ea typeface="TT Firs Neue"/>
                <a:cs typeface="TT Firs Neue"/>
                <a:sym typeface="TT Firs Neue"/>
              </a:rPr>
              <a:t> digital complex, de </a:t>
            </a:r>
            <a:r>
              <a:rPr lang="en-US" sz="2717" dirty="0" err="1">
                <a:solidFill>
                  <a:srgbClr val="011142"/>
                </a:solidFill>
                <a:latin typeface="TT Firs Neue"/>
                <a:ea typeface="TT Firs Neue"/>
                <a:cs typeface="TT Firs Neue"/>
                <a:sym typeface="TT Firs Neue"/>
              </a:rPr>
              <a:t>exemplu</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capitolele</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cuprins</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numerele</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paginilor</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indecsii</a:t>
            </a:r>
            <a:r>
              <a:rPr lang="en-US" sz="2717" dirty="0">
                <a:solidFill>
                  <a:srgbClr val="011142"/>
                </a:solidFill>
                <a:latin typeface="TT Firs Neue"/>
                <a:ea typeface="TT Firs Neue"/>
                <a:cs typeface="TT Firs Neue"/>
                <a:sym typeface="TT Firs Neue"/>
              </a:rPr>
              <a:t> </a:t>
            </a:r>
          </a:p>
          <a:p>
            <a:pPr algn="l">
              <a:lnSpc>
                <a:spcPts val="3804"/>
              </a:lnSpc>
            </a:pPr>
            <a:endParaRPr lang="en-US" sz="2717" dirty="0">
              <a:solidFill>
                <a:srgbClr val="011142"/>
              </a:solidFill>
              <a:latin typeface="TT Firs Neue"/>
              <a:ea typeface="TT Firs Neue"/>
              <a:cs typeface="TT Firs Neue"/>
              <a:sym typeface="TT Firs Neue"/>
            </a:endParaRPr>
          </a:p>
          <a:p>
            <a:pPr algn="l">
              <a:lnSpc>
                <a:spcPts val="3804"/>
              </a:lnSpc>
            </a:pPr>
            <a:r>
              <a:rPr lang="en-US" sz="2717" b="1" dirty="0">
                <a:solidFill>
                  <a:srgbClr val="011142"/>
                </a:solidFill>
                <a:latin typeface="TT Firs Neue Bold"/>
                <a:ea typeface="TT Firs Neue Bold"/>
                <a:cs typeface="TT Firs Neue Bold"/>
                <a:sym typeface="TT Firs Neue Bold"/>
              </a:rPr>
              <a:t>Metadate </a:t>
            </a:r>
            <a:r>
              <a:rPr lang="en-US" sz="2717" b="1" dirty="0" err="1">
                <a:solidFill>
                  <a:srgbClr val="011142"/>
                </a:solidFill>
                <a:latin typeface="TT Firs Neue Bold"/>
                <a:ea typeface="TT Firs Neue Bold"/>
                <a:cs typeface="TT Firs Neue Bold"/>
                <a:sym typeface="TT Firs Neue Bold"/>
              </a:rPr>
              <a:t>tehnice</a:t>
            </a:r>
            <a:r>
              <a:rPr lang="en-US" sz="2717" dirty="0">
                <a:solidFill>
                  <a:srgbClr val="011142"/>
                </a:solidFill>
                <a:latin typeface="TT Firs Neue"/>
                <a:ea typeface="TT Firs Neue"/>
                <a:cs typeface="TT Firs Neue"/>
                <a:sym typeface="TT Firs Neue"/>
              </a:rPr>
              <a:t> - sunt </a:t>
            </a:r>
            <a:r>
              <a:rPr lang="en-US" sz="2717" dirty="0" err="1">
                <a:solidFill>
                  <a:srgbClr val="011142"/>
                </a:solidFill>
                <a:latin typeface="TT Firs Neue"/>
                <a:ea typeface="TT Firs Neue"/>
                <a:cs typeface="TT Firs Neue"/>
                <a:sym typeface="TT Firs Neue"/>
              </a:rPr>
              <a:t>adesea</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folosite</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pentru</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gestionarea</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obiectelor</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digitale</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Includ</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tipurile</a:t>
            </a:r>
            <a:r>
              <a:rPr lang="en-US" sz="2717" dirty="0">
                <a:solidFill>
                  <a:srgbClr val="011142"/>
                </a:solidFill>
                <a:latin typeface="TT Firs Neue"/>
                <a:ea typeface="TT Firs Neue"/>
                <a:cs typeface="TT Firs Neue"/>
                <a:sym typeface="TT Firs Neue"/>
              </a:rPr>
              <a:t> de </a:t>
            </a:r>
            <a:r>
              <a:rPr lang="en-US" sz="2717" dirty="0" err="1">
                <a:solidFill>
                  <a:srgbClr val="011142"/>
                </a:solidFill>
                <a:latin typeface="TT Firs Neue"/>
                <a:ea typeface="TT Firs Neue"/>
                <a:cs typeface="TT Firs Neue"/>
                <a:sym typeface="TT Firs Neue"/>
              </a:rPr>
              <a:t>fisiere</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dimensiunea</a:t>
            </a:r>
            <a:r>
              <a:rPr lang="en-US" sz="2717" dirty="0">
                <a:solidFill>
                  <a:srgbClr val="011142"/>
                </a:solidFill>
                <a:latin typeface="TT Firs Neue"/>
                <a:ea typeface="TT Firs Neue"/>
                <a:cs typeface="TT Firs Neue"/>
                <a:sym typeface="TT Firs Neue"/>
              </a:rPr>
              <a:t>, data </a:t>
            </a:r>
            <a:r>
              <a:rPr lang="en-US" sz="2717" dirty="0" err="1">
                <a:solidFill>
                  <a:srgbClr val="011142"/>
                </a:solidFill>
                <a:latin typeface="TT Firs Neue"/>
                <a:ea typeface="TT Firs Neue"/>
                <a:cs typeface="TT Firs Neue"/>
                <a:sym typeface="TT Firs Neue"/>
              </a:rPr>
              <a:t>si</a:t>
            </a:r>
            <a:r>
              <a:rPr lang="en-US" sz="2717" dirty="0">
                <a:solidFill>
                  <a:srgbClr val="011142"/>
                </a:solidFill>
                <a:latin typeface="TT Firs Neue"/>
                <a:ea typeface="TT Firs Neue"/>
                <a:cs typeface="TT Firs Neue"/>
                <a:sym typeface="TT Firs Neue"/>
              </a:rPr>
              <a:t> ora </a:t>
            </a:r>
            <a:r>
              <a:rPr lang="en-US" sz="2717" dirty="0" err="1">
                <a:solidFill>
                  <a:srgbClr val="011142"/>
                </a:solidFill>
                <a:latin typeface="TT Firs Neue"/>
                <a:ea typeface="TT Firs Neue"/>
                <a:cs typeface="TT Firs Neue"/>
                <a:sym typeface="TT Firs Neue"/>
              </a:rPr>
              <a:t>creatiei</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si</a:t>
            </a:r>
            <a:r>
              <a:rPr lang="en-US" sz="2717" dirty="0">
                <a:solidFill>
                  <a:srgbClr val="011142"/>
                </a:solidFill>
                <a:latin typeface="TT Firs Neue"/>
                <a:ea typeface="TT Firs Neue"/>
                <a:cs typeface="TT Firs Neue"/>
                <a:sym typeface="TT Firs Neue"/>
              </a:rPr>
              <a:t> </a:t>
            </a:r>
            <a:r>
              <a:rPr lang="en-US" sz="2717" dirty="0" err="1">
                <a:solidFill>
                  <a:srgbClr val="011142"/>
                </a:solidFill>
                <a:latin typeface="TT Firs Neue"/>
                <a:ea typeface="TT Firs Neue"/>
                <a:cs typeface="TT Firs Neue"/>
                <a:sym typeface="TT Firs Neue"/>
              </a:rPr>
              <a:t>tipul</a:t>
            </a:r>
            <a:r>
              <a:rPr lang="en-US" sz="2717" dirty="0">
                <a:solidFill>
                  <a:srgbClr val="011142"/>
                </a:solidFill>
                <a:latin typeface="TT Firs Neue"/>
                <a:ea typeface="TT Firs Neue"/>
                <a:cs typeface="TT Firs Neue"/>
                <a:sym typeface="TT Firs Neue"/>
              </a:rPr>
              <a:t> de </a:t>
            </a:r>
            <a:r>
              <a:rPr lang="en-US" sz="2717" dirty="0" err="1">
                <a:solidFill>
                  <a:srgbClr val="011142"/>
                </a:solidFill>
                <a:latin typeface="TT Firs Neue"/>
                <a:ea typeface="TT Firs Neue"/>
                <a:cs typeface="TT Firs Neue"/>
                <a:sym typeface="TT Firs Neue"/>
              </a:rPr>
              <a:t>compresie</a:t>
            </a:r>
            <a:r>
              <a:rPr lang="en-US" sz="2717" dirty="0">
                <a:solidFill>
                  <a:srgbClr val="011142"/>
                </a:solidFill>
                <a:latin typeface="TT Firs Neue"/>
                <a:ea typeface="TT Firs Neue"/>
                <a:cs typeface="TT Firs Neue"/>
                <a:sym typeface="TT Firs Neue"/>
              </a:rPr>
              <a:t>.</a:t>
            </a:r>
          </a:p>
          <a:p>
            <a:pPr algn="l">
              <a:lnSpc>
                <a:spcPts val="3104"/>
              </a:lnSpc>
            </a:pPr>
            <a:endParaRPr lang="en-US" sz="2717" dirty="0">
              <a:solidFill>
                <a:srgbClr val="011142"/>
              </a:solidFill>
              <a:latin typeface="TT Firs Neue"/>
              <a:ea typeface="TT Firs Neue"/>
              <a:cs typeface="TT Firs Neue"/>
              <a:sym typeface="TT Firs Neue"/>
            </a:endParaRPr>
          </a:p>
        </p:txBody>
      </p:sp>
      <p:sp>
        <p:nvSpPr>
          <p:cNvPr id="7" name="TextBox 7"/>
          <p:cNvSpPr txBox="1"/>
          <p:nvPr/>
        </p:nvSpPr>
        <p:spPr>
          <a:xfrm>
            <a:off x="571834" y="1743913"/>
            <a:ext cx="9918891" cy="931546"/>
          </a:xfrm>
          <a:prstGeom prst="rect">
            <a:avLst/>
          </a:prstGeom>
        </p:spPr>
        <p:txBody>
          <a:bodyPr lIns="0" tIns="0" rIns="0" bIns="0" rtlCol="0" anchor="t">
            <a:spAutoFit/>
          </a:bodyPr>
          <a:lstStyle/>
          <a:p>
            <a:pPr algn="l">
              <a:lnSpc>
                <a:spcPts val="3779"/>
              </a:lnSpc>
              <a:spcBef>
                <a:spcPct val="0"/>
              </a:spcBef>
            </a:pPr>
            <a:r>
              <a:rPr lang="en-US" sz="2699">
                <a:solidFill>
                  <a:srgbClr val="011142"/>
                </a:solidFill>
                <a:latin typeface="TT Firs Neue"/>
                <a:ea typeface="TT Firs Neue"/>
                <a:cs typeface="TT Firs Neue"/>
                <a:sym typeface="TT Firs Neue"/>
              </a:rPr>
              <a:t>Metadatele pot fi clasificate in mai multe categorii, in functie de tipul informatiilor pe care le descriu.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sp>
        <p:nvSpPr>
          <p:cNvPr id="2" name="Freeform 2"/>
          <p:cNvSpPr/>
          <p:nvPr/>
        </p:nvSpPr>
        <p:spPr>
          <a:xfrm flipH="1">
            <a:off x="13090922" y="8809448"/>
            <a:ext cx="7315200" cy="1064029"/>
          </a:xfrm>
          <a:custGeom>
            <a:avLst/>
            <a:gdLst/>
            <a:ahLst/>
            <a:cxnLst/>
            <a:rect l="l" t="t" r="r" b="b"/>
            <a:pathLst>
              <a:path w="7315200" h="1064029">
                <a:moveTo>
                  <a:pt x="7315200" y="0"/>
                </a:moveTo>
                <a:lnTo>
                  <a:pt x="0" y="0"/>
                </a:lnTo>
                <a:lnTo>
                  <a:pt x="0" y="1064029"/>
                </a:lnTo>
                <a:lnTo>
                  <a:pt x="7315200" y="1064029"/>
                </a:lnTo>
                <a:lnTo>
                  <a:pt x="73152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1928059" y="1980979"/>
            <a:ext cx="5069148" cy="6884028"/>
          </a:xfrm>
          <a:custGeom>
            <a:avLst/>
            <a:gdLst/>
            <a:ahLst/>
            <a:cxnLst/>
            <a:rect l="l" t="t" r="r" b="b"/>
            <a:pathLst>
              <a:path w="5069148" h="6884028">
                <a:moveTo>
                  <a:pt x="0" y="0"/>
                </a:moveTo>
                <a:lnTo>
                  <a:pt x="5069148" y="0"/>
                </a:lnTo>
                <a:lnTo>
                  <a:pt x="5069148" y="6884027"/>
                </a:lnTo>
                <a:lnTo>
                  <a:pt x="0" y="688402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Freeform 4"/>
          <p:cNvSpPr/>
          <p:nvPr/>
        </p:nvSpPr>
        <p:spPr>
          <a:xfrm flipH="1">
            <a:off x="-2118122" y="413523"/>
            <a:ext cx="7315200" cy="1064029"/>
          </a:xfrm>
          <a:custGeom>
            <a:avLst/>
            <a:gdLst/>
            <a:ahLst/>
            <a:cxnLst/>
            <a:rect l="l" t="t" r="r" b="b"/>
            <a:pathLst>
              <a:path w="7315200" h="1064029">
                <a:moveTo>
                  <a:pt x="7315200" y="0"/>
                </a:moveTo>
                <a:lnTo>
                  <a:pt x="0" y="0"/>
                </a:lnTo>
                <a:lnTo>
                  <a:pt x="0" y="1064029"/>
                </a:lnTo>
                <a:lnTo>
                  <a:pt x="7315200" y="1064029"/>
                </a:lnTo>
                <a:lnTo>
                  <a:pt x="731520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5" name="Freeform 5"/>
          <p:cNvSpPr/>
          <p:nvPr/>
        </p:nvSpPr>
        <p:spPr>
          <a:xfrm>
            <a:off x="12290307" y="2857372"/>
            <a:ext cx="4344653" cy="4344653"/>
          </a:xfrm>
          <a:custGeom>
            <a:avLst/>
            <a:gdLst/>
            <a:ahLst/>
            <a:cxnLst/>
            <a:rect l="l" t="t" r="r" b="b"/>
            <a:pathLst>
              <a:path w="4344653" h="4344653">
                <a:moveTo>
                  <a:pt x="0" y="0"/>
                </a:moveTo>
                <a:lnTo>
                  <a:pt x="4344653" y="0"/>
                </a:lnTo>
                <a:lnTo>
                  <a:pt x="4344653" y="4344653"/>
                </a:lnTo>
                <a:lnTo>
                  <a:pt x="0" y="4344653"/>
                </a:lnTo>
                <a:lnTo>
                  <a:pt x="0" y="0"/>
                </a:lnTo>
                <a:close/>
              </a:path>
            </a:pathLst>
          </a:custGeom>
          <a:blipFill>
            <a:blip r:embed="rId4"/>
            <a:stretch>
              <a:fillRect/>
            </a:stretch>
          </a:blipFill>
        </p:spPr>
        <p:txBody>
          <a:bodyPr/>
          <a:lstStyle/>
          <a:p>
            <a:endParaRPr lang="en-US"/>
          </a:p>
        </p:txBody>
      </p:sp>
      <p:sp>
        <p:nvSpPr>
          <p:cNvPr id="6" name="TextBox 6"/>
          <p:cNvSpPr txBox="1"/>
          <p:nvPr/>
        </p:nvSpPr>
        <p:spPr>
          <a:xfrm>
            <a:off x="639082" y="1942615"/>
            <a:ext cx="10229378" cy="705253"/>
          </a:xfrm>
          <a:prstGeom prst="rect">
            <a:avLst/>
          </a:prstGeom>
        </p:spPr>
        <p:txBody>
          <a:bodyPr lIns="0" tIns="0" rIns="0" bIns="0" rtlCol="0" anchor="t">
            <a:spAutoFit/>
          </a:bodyPr>
          <a:lstStyle/>
          <a:p>
            <a:pPr algn="l">
              <a:lnSpc>
                <a:spcPts val="5187"/>
              </a:lnSpc>
            </a:pPr>
            <a:r>
              <a:rPr lang="en-US" sz="5700" b="1">
                <a:solidFill>
                  <a:srgbClr val="011142"/>
                </a:solidFill>
                <a:latin typeface="TT Firs Neue Bold"/>
                <a:ea typeface="TT Firs Neue Bold"/>
                <a:cs typeface="TT Firs Neue Bold"/>
                <a:sym typeface="TT Firs Neue Bold"/>
              </a:rPr>
              <a:t>Generarea Metadatelor</a:t>
            </a:r>
          </a:p>
        </p:txBody>
      </p:sp>
      <p:sp>
        <p:nvSpPr>
          <p:cNvPr id="7" name="TextBox 7"/>
          <p:cNvSpPr txBox="1"/>
          <p:nvPr/>
        </p:nvSpPr>
        <p:spPr>
          <a:xfrm>
            <a:off x="1028700" y="2923863"/>
            <a:ext cx="7584236" cy="4563110"/>
          </a:xfrm>
          <a:prstGeom prst="rect">
            <a:avLst/>
          </a:prstGeom>
        </p:spPr>
        <p:txBody>
          <a:bodyPr lIns="0" tIns="0" rIns="0" bIns="0" rtlCol="0" anchor="t">
            <a:spAutoFit/>
          </a:bodyPr>
          <a:lstStyle/>
          <a:p>
            <a:pPr algn="l">
              <a:lnSpc>
                <a:spcPts val="3639"/>
              </a:lnSpc>
            </a:pPr>
            <a:r>
              <a:rPr lang="en-US" sz="2599">
                <a:solidFill>
                  <a:srgbClr val="011142"/>
                </a:solidFill>
                <a:latin typeface="TT Firs Neue"/>
                <a:ea typeface="TT Firs Neue"/>
                <a:cs typeface="TT Firs Neue"/>
                <a:sym typeface="TT Firs Neue"/>
              </a:rPr>
              <a:t>In orice sistem de comunicatii, dispozitivele si serverele trebuie sa stie:</a:t>
            </a:r>
          </a:p>
          <a:p>
            <a:pPr marL="561337" lvl="1" indent="-280669" algn="l">
              <a:lnSpc>
                <a:spcPts val="3639"/>
              </a:lnSpc>
              <a:buFont typeface="Arial"/>
              <a:buChar char="•"/>
            </a:pPr>
            <a:r>
              <a:rPr lang="en-US" sz="2599">
                <a:solidFill>
                  <a:srgbClr val="011142"/>
                </a:solidFill>
                <a:latin typeface="TT Firs Neue"/>
                <a:ea typeface="TT Firs Neue"/>
                <a:cs typeface="TT Firs Neue"/>
                <a:sym typeface="TT Firs Neue"/>
              </a:rPr>
              <a:t>unde trimit datele</a:t>
            </a:r>
          </a:p>
          <a:p>
            <a:pPr marL="561337" lvl="1" indent="-280669" algn="l">
              <a:lnSpc>
                <a:spcPts val="3639"/>
              </a:lnSpc>
              <a:buFont typeface="Arial"/>
              <a:buChar char="•"/>
            </a:pPr>
            <a:r>
              <a:rPr lang="en-US" sz="2599">
                <a:solidFill>
                  <a:srgbClr val="011142"/>
                </a:solidFill>
                <a:latin typeface="TT Firs Neue"/>
                <a:ea typeface="TT Firs Neue"/>
                <a:cs typeface="TT Firs Neue"/>
                <a:sym typeface="TT Firs Neue"/>
              </a:rPr>
              <a:t>cine este destinatarul</a:t>
            </a:r>
          </a:p>
          <a:p>
            <a:pPr marL="561337" lvl="1" indent="-280669" algn="l">
              <a:lnSpc>
                <a:spcPts val="3639"/>
              </a:lnSpc>
              <a:buFont typeface="Arial"/>
              <a:buChar char="•"/>
            </a:pPr>
            <a:r>
              <a:rPr lang="en-US" sz="2599">
                <a:solidFill>
                  <a:srgbClr val="011142"/>
                </a:solidFill>
                <a:latin typeface="TT Firs Neue"/>
                <a:ea typeface="TT Firs Neue"/>
                <a:cs typeface="TT Firs Neue"/>
                <a:sym typeface="TT Firs Neue"/>
              </a:rPr>
              <a:t>cand incepe si se termina conexiunea</a:t>
            </a:r>
          </a:p>
          <a:p>
            <a:pPr algn="l">
              <a:lnSpc>
                <a:spcPts val="3639"/>
              </a:lnSpc>
            </a:pPr>
            <a:endParaRPr lang="en-US" sz="2599">
              <a:solidFill>
                <a:srgbClr val="011142"/>
              </a:solidFill>
              <a:latin typeface="TT Firs Neue"/>
              <a:ea typeface="TT Firs Neue"/>
              <a:cs typeface="TT Firs Neue"/>
              <a:sym typeface="TT Firs Neue"/>
            </a:endParaRPr>
          </a:p>
          <a:p>
            <a:pPr algn="l">
              <a:lnSpc>
                <a:spcPts val="3639"/>
              </a:lnSpc>
            </a:pPr>
            <a:r>
              <a:rPr lang="en-US" sz="2599">
                <a:solidFill>
                  <a:srgbClr val="011142"/>
                </a:solidFill>
                <a:latin typeface="TT Firs Neue"/>
                <a:ea typeface="TT Firs Neue"/>
                <a:cs typeface="TT Firs Neue"/>
                <a:sym typeface="TT Firs Neue"/>
              </a:rPr>
              <a:t>Acest lucru produce automat metadate si acestea sunt necesare pentru functionarea infrastructurii de comunicatii.</a:t>
            </a:r>
          </a:p>
          <a:p>
            <a:pPr algn="l">
              <a:lnSpc>
                <a:spcPts val="3639"/>
              </a:lnSpc>
            </a:pPr>
            <a:endParaRPr lang="en-US" sz="2599">
              <a:solidFill>
                <a:srgbClr val="011142"/>
              </a:solidFill>
              <a:latin typeface="TT Firs Neue"/>
              <a:ea typeface="TT Firs Neue"/>
              <a:cs typeface="TT Firs Neue"/>
              <a:sym typeface="TT Firs Neue"/>
            </a:endParaRPr>
          </a:p>
        </p:txBody>
      </p:sp>
      <p:sp>
        <p:nvSpPr>
          <p:cNvPr id="8" name="TextBox 8"/>
          <p:cNvSpPr txBox="1"/>
          <p:nvPr/>
        </p:nvSpPr>
        <p:spPr>
          <a:xfrm>
            <a:off x="974020" y="7429823"/>
            <a:ext cx="8446115" cy="1819911"/>
          </a:xfrm>
          <a:prstGeom prst="rect">
            <a:avLst/>
          </a:prstGeom>
        </p:spPr>
        <p:txBody>
          <a:bodyPr lIns="0" tIns="0" rIns="0" bIns="0" rtlCol="0" anchor="t">
            <a:spAutoFit/>
          </a:bodyPr>
          <a:lstStyle/>
          <a:p>
            <a:pPr algn="l">
              <a:lnSpc>
                <a:spcPts val="3639"/>
              </a:lnSpc>
              <a:spcBef>
                <a:spcPct val="0"/>
              </a:spcBef>
            </a:pPr>
            <a:r>
              <a:rPr lang="en-US" sz="2599">
                <a:solidFill>
                  <a:srgbClr val="011142"/>
                </a:solidFill>
                <a:latin typeface="TT Firs Neue"/>
                <a:ea typeface="TT Firs Neue"/>
                <a:cs typeface="TT Firs Neue"/>
                <a:sym typeface="TT Firs Neue"/>
              </a:rPr>
              <a:t>Metadatele nu reprezinta un defect al retelei, ci o componenta necesara functionarii acesteia. Eliminarea completa a metadatelor ar face imposibila transmiterea eficienta a datelor.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sp>
        <p:nvSpPr>
          <p:cNvPr id="2" name="TextBox 2"/>
          <p:cNvSpPr txBox="1"/>
          <p:nvPr/>
        </p:nvSpPr>
        <p:spPr>
          <a:xfrm>
            <a:off x="988406" y="1209675"/>
            <a:ext cx="15760116" cy="807788"/>
          </a:xfrm>
          <a:prstGeom prst="rect">
            <a:avLst/>
          </a:prstGeom>
        </p:spPr>
        <p:txBody>
          <a:bodyPr lIns="0" tIns="0" rIns="0" bIns="0" rtlCol="0" anchor="t">
            <a:spAutoFit/>
          </a:bodyPr>
          <a:lstStyle/>
          <a:p>
            <a:pPr algn="l">
              <a:lnSpc>
                <a:spcPts val="5915"/>
              </a:lnSpc>
            </a:pPr>
            <a:r>
              <a:rPr lang="en-US" sz="6500" b="1">
                <a:solidFill>
                  <a:srgbClr val="011142"/>
                </a:solidFill>
                <a:latin typeface="TT Firs Neue Bold"/>
                <a:ea typeface="TT Firs Neue Bold"/>
                <a:cs typeface="TT Firs Neue Bold"/>
                <a:sym typeface="TT Firs Neue Bold"/>
              </a:rPr>
              <a:t>Exemple reale de Metadata Leaks</a:t>
            </a:r>
          </a:p>
        </p:txBody>
      </p:sp>
      <p:sp>
        <p:nvSpPr>
          <p:cNvPr id="3" name="TextBox 3"/>
          <p:cNvSpPr txBox="1"/>
          <p:nvPr/>
        </p:nvSpPr>
        <p:spPr>
          <a:xfrm>
            <a:off x="691503" y="3643431"/>
            <a:ext cx="15894394" cy="3051175"/>
          </a:xfrm>
          <a:prstGeom prst="rect">
            <a:avLst/>
          </a:prstGeom>
        </p:spPr>
        <p:txBody>
          <a:bodyPr lIns="0" tIns="0" rIns="0" bIns="0" rtlCol="0" anchor="t">
            <a:spAutoFit/>
          </a:bodyPr>
          <a:lstStyle/>
          <a:p>
            <a:pPr algn="l">
              <a:lnSpc>
                <a:spcPts val="3499"/>
              </a:lnSpc>
            </a:pPr>
            <a:r>
              <a:rPr lang="en-US" sz="2499" b="1" dirty="0" err="1">
                <a:solidFill>
                  <a:srgbClr val="011142"/>
                </a:solidFill>
                <a:latin typeface="TT Firs Neue Bold"/>
                <a:ea typeface="TT Firs Neue Bold"/>
                <a:cs typeface="TT Firs Neue Bold"/>
                <a:sym typeface="TT Firs Neue Bold"/>
              </a:rPr>
              <a:t>Cazul</a:t>
            </a:r>
            <a:r>
              <a:rPr lang="en-US" sz="2499" b="1" dirty="0">
                <a:solidFill>
                  <a:srgbClr val="011142"/>
                </a:solidFill>
                <a:latin typeface="TT Firs Neue Bold"/>
                <a:ea typeface="TT Firs Neue Bold"/>
                <a:cs typeface="TT Firs Neue Bold"/>
                <a:sym typeface="TT Firs Neue Bold"/>
              </a:rPr>
              <a:t> BTK Killer (2005)</a:t>
            </a:r>
          </a:p>
          <a:p>
            <a:pPr algn="l">
              <a:lnSpc>
                <a:spcPts val="3499"/>
              </a:lnSpc>
            </a:pPr>
            <a:r>
              <a:rPr lang="en-US" sz="2499" dirty="0">
                <a:solidFill>
                  <a:srgbClr val="011142"/>
                </a:solidFill>
                <a:latin typeface="TT Firs Neue"/>
                <a:ea typeface="TT Firs Neue"/>
                <a:cs typeface="TT Firs Neue"/>
                <a:sym typeface="TT Firs Neue"/>
              </a:rPr>
              <a:t>Dennis Rader, </a:t>
            </a:r>
            <a:r>
              <a:rPr lang="en-US" sz="2499" dirty="0" err="1">
                <a:solidFill>
                  <a:srgbClr val="011142"/>
                </a:solidFill>
                <a:latin typeface="TT Firs Neue"/>
                <a:ea typeface="TT Firs Neue"/>
                <a:cs typeface="TT Firs Neue"/>
                <a:sym typeface="TT Firs Neue"/>
              </a:rPr>
              <a:t>cunoscut</a:t>
            </a:r>
            <a:r>
              <a:rPr lang="en-US" sz="2499" dirty="0">
                <a:solidFill>
                  <a:srgbClr val="011142"/>
                </a:solidFill>
                <a:latin typeface="TT Firs Neue"/>
                <a:ea typeface="TT Firs Neue"/>
                <a:cs typeface="TT Firs Neue"/>
                <a:sym typeface="TT Firs Neue"/>
              </a:rPr>
              <a:t> sub </a:t>
            </a:r>
            <a:r>
              <a:rPr lang="en-US" sz="2499" dirty="0" err="1">
                <a:solidFill>
                  <a:srgbClr val="011142"/>
                </a:solidFill>
                <a:latin typeface="TT Firs Neue"/>
                <a:ea typeface="TT Firs Neue"/>
                <a:cs typeface="TT Firs Neue"/>
                <a:sym typeface="TT Firs Neue"/>
              </a:rPr>
              <a:t>numele</a:t>
            </a:r>
            <a:r>
              <a:rPr lang="en-US" sz="2499" dirty="0">
                <a:solidFill>
                  <a:srgbClr val="011142"/>
                </a:solidFill>
                <a:latin typeface="TT Firs Neue"/>
                <a:ea typeface="TT Firs Neue"/>
                <a:cs typeface="TT Firs Neue"/>
                <a:sym typeface="TT Firs Neue"/>
              </a:rPr>
              <a:t> de „BTK Killer”, a </a:t>
            </a:r>
            <a:r>
              <a:rPr lang="en-US" sz="2499" dirty="0" err="1">
                <a:solidFill>
                  <a:srgbClr val="011142"/>
                </a:solidFill>
                <a:latin typeface="TT Firs Neue"/>
                <a:ea typeface="TT Firs Neue"/>
                <a:cs typeface="TT Firs Neue"/>
                <a:sym typeface="TT Firs Neue"/>
              </a:rPr>
              <a:t>trimis</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politiei</a:t>
            </a:r>
            <a:r>
              <a:rPr lang="en-US" sz="2499" dirty="0">
                <a:solidFill>
                  <a:srgbClr val="011142"/>
                </a:solidFill>
                <a:latin typeface="TT Firs Neue"/>
                <a:ea typeface="TT Firs Neue"/>
                <a:cs typeface="TT Firs Neue"/>
                <a:sym typeface="TT Firs Neue"/>
              </a:rPr>
              <a:t> un floppy disk </a:t>
            </a:r>
            <a:r>
              <a:rPr lang="en-US" sz="2499" dirty="0" err="1">
                <a:solidFill>
                  <a:srgbClr val="011142"/>
                </a:solidFill>
                <a:latin typeface="TT Firs Neue"/>
                <a:ea typeface="TT Firs Neue"/>
                <a:cs typeface="TT Firs Neue"/>
                <a:sym typeface="TT Firs Neue"/>
              </a:rPr>
              <a:t>despre</a:t>
            </a:r>
            <a:r>
              <a:rPr lang="en-US" sz="2499" dirty="0">
                <a:solidFill>
                  <a:srgbClr val="011142"/>
                </a:solidFill>
                <a:latin typeface="TT Firs Neue"/>
                <a:ea typeface="TT Firs Neue"/>
                <a:cs typeface="TT Firs Neue"/>
                <a:sym typeface="TT Firs Neue"/>
              </a:rPr>
              <a:t> care </a:t>
            </a:r>
            <a:r>
              <a:rPr lang="en-US" sz="2499" dirty="0" err="1">
                <a:solidFill>
                  <a:srgbClr val="011142"/>
                </a:solidFill>
                <a:latin typeface="TT Firs Neue"/>
                <a:ea typeface="TT Firs Neue"/>
                <a:cs typeface="TT Firs Neue"/>
                <a:sym typeface="TT Firs Neue"/>
              </a:rPr>
              <a:t>credea</a:t>
            </a:r>
            <a:r>
              <a:rPr lang="en-US" sz="2499" dirty="0">
                <a:solidFill>
                  <a:srgbClr val="011142"/>
                </a:solidFill>
                <a:latin typeface="TT Firs Neue"/>
                <a:ea typeface="TT Firs Neue"/>
                <a:cs typeface="TT Firs Neue"/>
                <a:sym typeface="TT Firs Neue"/>
              </a:rPr>
              <a:t> ca nu </a:t>
            </a:r>
            <a:r>
              <a:rPr lang="en-US" sz="2499" dirty="0" err="1">
                <a:solidFill>
                  <a:srgbClr val="011142"/>
                </a:solidFill>
                <a:latin typeface="TT Firs Neue"/>
                <a:ea typeface="TT Firs Neue"/>
                <a:cs typeface="TT Firs Neue"/>
                <a:sym typeface="TT Firs Neue"/>
              </a:rPr>
              <a:t>poate</a:t>
            </a:r>
            <a:r>
              <a:rPr lang="en-US" sz="2499" dirty="0">
                <a:solidFill>
                  <a:srgbClr val="011142"/>
                </a:solidFill>
                <a:latin typeface="TT Firs Neue"/>
                <a:ea typeface="TT Firs Neue"/>
                <a:cs typeface="TT Firs Neue"/>
                <a:sym typeface="TT Firs Neue"/>
              </a:rPr>
              <a:t> fi </a:t>
            </a:r>
            <a:r>
              <a:rPr lang="en-US" sz="2499" dirty="0" err="1">
                <a:solidFill>
                  <a:srgbClr val="011142"/>
                </a:solidFill>
                <a:latin typeface="TT Firs Neue"/>
                <a:ea typeface="TT Firs Neue"/>
                <a:cs typeface="TT Firs Neue"/>
                <a:sym typeface="TT Firs Neue"/>
              </a:rPr>
              <a:t>urmarit</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Totusi</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metadatele</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unui</a:t>
            </a:r>
            <a:r>
              <a:rPr lang="en-US" sz="2499" dirty="0">
                <a:solidFill>
                  <a:srgbClr val="011142"/>
                </a:solidFill>
                <a:latin typeface="TT Firs Neue"/>
                <a:ea typeface="TT Firs Neue"/>
                <a:cs typeface="TT Firs Neue"/>
                <a:sym typeface="TT Firs Neue"/>
              </a:rPr>
              <a:t> document Microsoft Word </a:t>
            </a:r>
            <a:r>
              <a:rPr lang="en-US" sz="2499" dirty="0" err="1">
                <a:solidFill>
                  <a:srgbClr val="011142"/>
                </a:solidFill>
                <a:latin typeface="TT Firs Neue"/>
                <a:ea typeface="TT Firs Neue"/>
                <a:cs typeface="TT Firs Neue"/>
                <a:sym typeface="TT Firs Neue"/>
              </a:rPr>
              <a:t>aflat</a:t>
            </a:r>
            <a:r>
              <a:rPr lang="en-US" sz="2499" dirty="0">
                <a:solidFill>
                  <a:srgbClr val="011142"/>
                </a:solidFill>
                <a:latin typeface="TT Firs Neue"/>
                <a:ea typeface="TT Firs Neue"/>
                <a:cs typeface="TT Firs Neue"/>
                <a:sym typeface="TT Firs Neue"/>
              </a:rPr>
              <a:t> pe </a:t>
            </a:r>
            <a:r>
              <a:rPr lang="en-US" sz="2499" dirty="0" err="1">
                <a:solidFill>
                  <a:srgbClr val="011142"/>
                </a:solidFill>
                <a:latin typeface="TT Firs Neue"/>
                <a:ea typeface="TT Firs Neue"/>
                <a:cs typeface="TT Firs Neue"/>
                <a:sym typeface="TT Firs Neue"/>
              </a:rPr>
              <a:t>discheta</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contineau</a:t>
            </a:r>
            <a:r>
              <a:rPr lang="en-US" sz="2499" dirty="0">
                <a:solidFill>
                  <a:srgbClr val="011142"/>
                </a:solidFill>
                <a:latin typeface="TT Firs Neue"/>
                <a:ea typeface="TT Firs Neue"/>
                <a:cs typeface="TT Firs Neue"/>
                <a:sym typeface="TT Firs Neue"/>
              </a:rPr>
              <a:t>:</a:t>
            </a:r>
          </a:p>
          <a:p>
            <a:pPr marL="539748" lvl="1" indent="-269874" algn="l">
              <a:lnSpc>
                <a:spcPts val="3499"/>
              </a:lnSpc>
              <a:buFont typeface="Arial"/>
              <a:buChar char="•"/>
            </a:pPr>
            <a:r>
              <a:rPr lang="en-US" sz="2499" dirty="0" err="1">
                <a:solidFill>
                  <a:srgbClr val="011142"/>
                </a:solidFill>
                <a:latin typeface="TT Firs Neue"/>
                <a:ea typeface="TT Firs Neue"/>
                <a:cs typeface="TT Firs Neue"/>
                <a:sym typeface="TT Firs Neue"/>
              </a:rPr>
              <a:t>numele</a:t>
            </a:r>
            <a:r>
              <a:rPr lang="en-US" sz="2499" dirty="0">
                <a:solidFill>
                  <a:srgbClr val="011142"/>
                </a:solidFill>
                <a:latin typeface="TT Firs Neue"/>
                <a:ea typeface="TT Firs Neue"/>
                <a:cs typeface="TT Firs Neue"/>
                <a:sym typeface="TT Firs Neue"/>
              </a:rPr>
              <a:t> „Dennis”</a:t>
            </a:r>
          </a:p>
          <a:p>
            <a:pPr marL="539748" lvl="1" indent="-269874" algn="l">
              <a:lnSpc>
                <a:spcPts val="3499"/>
              </a:lnSpc>
              <a:buFont typeface="Arial"/>
              <a:buChar char="•"/>
            </a:pPr>
            <a:r>
              <a:rPr lang="en-US" sz="2499" dirty="0" err="1">
                <a:solidFill>
                  <a:srgbClr val="011142"/>
                </a:solidFill>
                <a:latin typeface="TT Firs Neue"/>
                <a:ea typeface="TT Firs Neue"/>
                <a:cs typeface="TT Firs Neue"/>
                <a:sym typeface="TT Firs Neue"/>
              </a:rPr>
              <a:t>informatii</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asociate</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bisericii</a:t>
            </a:r>
            <a:r>
              <a:rPr lang="en-US" sz="2499" dirty="0">
                <a:solidFill>
                  <a:srgbClr val="011142"/>
                </a:solidFill>
                <a:latin typeface="TT Firs Neue"/>
                <a:ea typeface="TT Firs Neue"/>
                <a:cs typeface="TT Firs Neue"/>
                <a:sym typeface="TT Firs Neue"/>
              </a:rPr>
              <a:t> „Christ Lutheran Church”</a:t>
            </a:r>
          </a:p>
          <a:p>
            <a:pPr algn="l">
              <a:lnSpc>
                <a:spcPts val="3499"/>
              </a:lnSpc>
            </a:pPr>
            <a:r>
              <a:rPr lang="en-US" sz="2499" dirty="0" err="1">
                <a:solidFill>
                  <a:srgbClr val="011142"/>
                </a:solidFill>
                <a:latin typeface="TT Firs Neue"/>
                <a:ea typeface="TT Firs Neue"/>
                <a:cs typeface="TT Firs Neue"/>
                <a:sym typeface="TT Firs Neue"/>
              </a:rPr>
              <a:t>Aceste</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informatii</a:t>
            </a:r>
            <a:r>
              <a:rPr lang="en-US" sz="2499" dirty="0">
                <a:solidFill>
                  <a:srgbClr val="011142"/>
                </a:solidFill>
                <a:latin typeface="TT Firs Neue"/>
                <a:ea typeface="TT Firs Neue"/>
                <a:cs typeface="TT Firs Neue"/>
                <a:sym typeface="TT Firs Neue"/>
              </a:rPr>
              <a:t> au </a:t>
            </a:r>
            <a:r>
              <a:rPr lang="en-US" sz="2499" dirty="0" err="1">
                <a:solidFill>
                  <a:srgbClr val="011142"/>
                </a:solidFill>
                <a:latin typeface="TT Firs Neue"/>
                <a:ea typeface="TT Firs Neue"/>
                <a:cs typeface="TT Firs Neue"/>
                <a:sym typeface="TT Firs Neue"/>
              </a:rPr>
              <a:t>contribuit</a:t>
            </a:r>
            <a:r>
              <a:rPr lang="en-US" sz="2499" dirty="0">
                <a:solidFill>
                  <a:srgbClr val="011142"/>
                </a:solidFill>
                <a:latin typeface="TT Firs Neue"/>
                <a:ea typeface="TT Firs Neue"/>
                <a:cs typeface="TT Firs Neue"/>
                <a:sym typeface="TT Firs Neue"/>
              </a:rPr>
              <a:t> direct la </a:t>
            </a:r>
            <a:r>
              <a:rPr lang="en-US" sz="2499" dirty="0" err="1">
                <a:solidFill>
                  <a:srgbClr val="011142"/>
                </a:solidFill>
                <a:latin typeface="TT Firs Neue"/>
                <a:ea typeface="TT Firs Neue"/>
                <a:cs typeface="TT Firs Neue"/>
                <a:sym typeface="TT Firs Neue"/>
              </a:rPr>
              <a:t>identificarea</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si</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arestarea</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sa</a:t>
            </a:r>
            <a:r>
              <a:rPr lang="en-US" sz="2499" dirty="0">
                <a:solidFill>
                  <a:srgbClr val="011142"/>
                </a:solidFill>
                <a:latin typeface="TT Firs Neue"/>
                <a:ea typeface="TT Firs Neue"/>
                <a:cs typeface="TT Firs Neue"/>
                <a:sym typeface="TT Firs Neue"/>
              </a:rPr>
              <a:t>.</a:t>
            </a:r>
          </a:p>
          <a:p>
            <a:pPr algn="l">
              <a:lnSpc>
                <a:spcPts val="3499"/>
              </a:lnSpc>
            </a:pPr>
            <a:endParaRPr lang="en-US" sz="2499" dirty="0">
              <a:solidFill>
                <a:srgbClr val="011142"/>
              </a:solidFill>
              <a:latin typeface="TT Firs Neue"/>
              <a:ea typeface="TT Firs Neue"/>
              <a:cs typeface="TT Firs Neue"/>
              <a:sym typeface="TT Firs Neue"/>
            </a:endParaRPr>
          </a:p>
        </p:txBody>
      </p:sp>
      <p:sp>
        <p:nvSpPr>
          <p:cNvPr id="4" name="TextBox 4"/>
          <p:cNvSpPr txBox="1"/>
          <p:nvPr/>
        </p:nvSpPr>
        <p:spPr>
          <a:xfrm>
            <a:off x="691503" y="6688461"/>
            <a:ext cx="16798901" cy="3489325"/>
          </a:xfrm>
          <a:prstGeom prst="rect">
            <a:avLst/>
          </a:prstGeom>
        </p:spPr>
        <p:txBody>
          <a:bodyPr lIns="0" tIns="0" rIns="0" bIns="0" rtlCol="0" anchor="t">
            <a:spAutoFit/>
          </a:bodyPr>
          <a:lstStyle/>
          <a:p>
            <a:pPr algn="l">
              <a:lnSpc>
                <a:spcPts val="3499"/>
              </a:lnSpc>
            </a:pPr>
            <a:r>
              <a:rPr lang="en-US" sz="2499" b="1" dirty="0">
                <a:solidFill>
                  <a:srgbClr val="011142"/>
                </a:solidFill>
                <a:latin typeface="TT Firs Neue Bold"/>
                <a:ea typeface="TT Firs Neue Bold"/>
                <a:cs typeface="TT Firs Neue Bold"/>
                <a:sym typeface="TT Firs Neue Bold"/>
              </a:rPr>
              <a:t>Strava Heatmap (2018)</a:t>
            </a:r>
          </a:p>
          <a:p>
            <a:pPr algn="l">
              <a:lnSpc>
                <a:spcPts val="3499"/>
              </a:lnSpc>
            </a:pPr>
            <a:r>
              <a:rPr lang="en-US" sz="2499" dirty="0" err="1">
                <a:solidFill>
                  <a:srgbClr val="011142"/>
                </a:solidFill>
                <a:latin typeface="TT Firs Neue"/>
                <a:ea typeface="TT Firs Neue"/>
                <a:cs typeface="TT Firs Neue"/>
                <a:sym typeface="TT Firs Neue"/>
              </a:rPr>
              <a:t>Aplicația</a:t>
            </a:r>
            <a:r>
              <a:rPr lang="en-US" sz="2499" dirty="0">
                <a:solidFill>
                  <a:srgbClr val="011142"/>
                </a:solidFill>
                <a:latin typeface="TT Firs Neue"/>
                <a:ea typeface="TT Firs Neue"/>
                <a:cs typeface="TT Firs Neue"/>
                <a:sym typeface="TT Firs Neue"/>
              </a:rPr>
              <a:t> de fitness Strava a </a:t>
            </a:r>
            <a:r>
              <a:rPr lang="en-US" sz="2499" dirty="0" err="1">
                <a:solidFill>
                  <a:srgbClr val="011142"/>
                </a:solidFill>
                <a:latin typeface="TT Firs Neue"/>
                <a:ea typeface="TT Firs Neue"/>
                <a:cs typeface="TT Firs Neue"/>
                <a:sym typeface="TT Firs Neue"/>
              </a:rPr>
              <a:t>publicat</a:t>
            </a:r>
            <a:r>
              <a:rPr lang="en-US" sz="2499" dirty="0">
                <a:solidFill>
                  <a:srgbClr val="011142"/>
                </a:solidFill>
                <a:latin typeface="TT Firs Neue"/>
                <a:ea typeface="TT Firs Neue"/>
                <a:cs typeface="TT Firs Neue"/>
                <a:sym typeface="TT Firs Neue"/>
              </a:rPr>
              <a:t> o </a:t>
            </a:r>
            <a:r>
              <a:rPr lang="en-US" sz="2499" dirty="0" err="1">
                <a:solidFill>
                  <a:srgbClr val="011142"/>
                </a:solidFill>
                <a:latin typeface="TT Firs Neue"/>
                <a:ea typeface="TT Firs Neue"/>
                <a:cs typeface="TT Firs Neue"/>
                <a:sym typeface="TT Firs Neue"/>
              </a:rPr>
              <a:t>harta</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globala</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bazata</a:t>
            </a:r>
            <a:r>
              <a:rPr lang="en-US" sz="2499" dirty="0">
                <a:solidFill>
                  <a:srgbClr val="011142"/>
                </a:solidFill>
                <a:latin typeface="TT Firs Neue"/>
                <a:ea typeface="TT Firs Neue"/>
                <a:cs typeface="TT Firs Neue"/>
                <a:sym typeface="TT Firs Neue"/>
              </a:rPr>
              <a:t> pe date </a:t>
            </a:r>
            <a:r>
              <a:rPr lang="en-US" sz="2499" dirty="0" err="1">
                <a:solidFill>
                  <a:srgbClr val="011142"/>
                </a:solidFill>
                <a:latin typeface="TT Firs Neue"/>
                <a:ea typeface="TT Firs Neue"/>
                <a:cs typeface="TT Firs Neue"/>
                <a:sym typeface="TT Firs Neue"/>
              </a:rPr>
              <a:t>agregate</a:t>
            </a:r>
            <a:r>
              <a:rPr lang="en-US" sz="2499" dirty="0">
                <a:solidFill>
                  <a:srgbClr val="011142"/>
                </a:solidFill>
                <a:latin typeface="TT Firs Neue"/>
                <a:ea typeface="TT Firs Neue"/>
                <a:cs typeface="TT Firs Neue"/>
                <a:sym typeface="TT Firs Neue"/>
              </a:rPr>
              <a:t> de </a:t>
            </a:r>
            <a:r>
              <a:rPr lang="en-US" sz="2499" dirty="0" err="1">
                <a:solidFill>
                  <a:srgbClr val="011142"/>
                </a:solidFill>
                <a:latin typeface="TT Firs Neue"/>
                <a:ea typeface="TT Firs Neue"/>
                <a:cs typeface="TT Firs Neue"/>
                <a:sym typeface="TT Firs Neue"/>
              </a:rPr>
              <a:t>activitate</a:t>
            </a:r>
            <a:r>
              <a:rPr lang="en-US" sz="2499" dirty="0">
                <a:solidFill>
                  <a:srgbClr val="011142"/>
                </a:solidFill>
                <a:latin typeface="TT Firs Neue"/>
                <a:ea typeface="TT Firs Neue"/>
                <a:cs typeface="TT Firs Neue"/>
                <a:sym typeface="TT Firs Neue"/>
              </a:rPr>
              <a:t> ale </a:t>
            </a:r>
            <a:r>
              <a:rPr lang="en-US" sz="2499" dirty="0" err="1">
                <a:solidFill>
                  <a:srgbClr val="011142"/>
                </a:solidFill>
                <a:latin typeface="TT Firs Neue"/>
                <a:ea typeface="TT Firs Neue"/>
                <a:cs typeface="TT Firs Neue"/>
                <a:sym typeface="TT Firs Neue"/>
              </a:rPr>
              <a:t>utilizatorilor</a:t>
            </a:r>
            <a:r>
              <a:rPr lang="en-US" sz="2499" dirty="0">
                <a:solidFill>
                  <a:srgbClr val="011142"/>
                </a:solidFill>
                <a:latin typeface="TT Firs Neue"/>
                <a:ea typeface="TT Firs Neue"/>
                <a:cs typeface="TT Firs Neue"/>
                <a:sym typeface="TT Firs Neue"/>
              </a:rPr>
              <a:t>.</a:t>
            </a:r>
          </a:p>
          <a:p>
            <a:pPr algn="l">
              <a:lnSpc>
                <a:spcPts val="3499"/>
              </a:lnSpc>
            </a:pPr>
            <a:r>
              <a:rPr lang="en-US" sz="2499" dirty="0">
                <a:solidFill>
                  <a:srgbClr val="011142"/>
                </a:solidFill>
                <a:latin typeface="TT Firs Neue"/>
                <a:ea typeface="TT Firs Neue"/>
                <a:cs typeface="TT Firs Neue"/>
                <a:sym typeface="TT Firs Neue"/>
              </a:rPr>
              <a:t>Prin </a:t>
            </a:r>
            <a:r>
              <a:rPr lang="en-US" sz="2499" dirty="0" err="1">
                <a:solidFill>
                  <a:srgbClr val="011142"/>
                </a:solidFill>
                <a:latin typeface="TT Firs Neue"/>
                <a:ea typeface="TT Firs Neue"/>
                <a:cs typeface="TT Firs Neue"/>
                <a:sym typeface="TT Firs Neue"/>
              </a:rPr>
              <a:t>analiza</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acestor</a:t>
            </a:r>
            <a:r>
              <a:rPr lang="en-US" sz="2499" dirty="0">
                <a:solidFill>
                  <a:srgbClr val="011142"/>
                </a:solidFill>
                <a:latin typeface="TT Firs Neue"/>
                <a:ea typeface="TT Firs Neue"/>
                <a:cs typeface="TT Firs Neue"/>
                <a:sym typeface="TT Firs Neue"/>
              </a:rPr>
              <a:t> metadate, au </a:t>
            </a:r>
            <a:r>
              <a:rPr lang="en-US" sz="2499" dirty="0" err="1">
                <a:solidFill>
                  <a:srgbClr val="011142"/>
                </a:solidFill>
                <a:latin typeface="TT Firs Neue"/>
                <a:ea typeface="TT Firs Neue"/>
                <a:cs typeface="TT Firs Neue"/>
                <a:sym typeface="TT Firs Neue"/>
              </a:rPr>
              <a:t>fost</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identificate</a:t>
            </a:r>
            <a:r>
              <a:rPr lang="en-US" sz="2499" dirty="0">
                <a:solidFill>
                  <a:srgbClr val="011142"/>
                </a:solidFill>
                <a:latin typeface="TT Firs Neue"/>
                <a:ea typeface="TT Firs Neue"/>
                <a:cs typeface="TT Firs Neue"/>
                <a:sym typeface="TT Firs Neue"/>
              </a:rPr>
              <a:t>:</a:t>
            </a:r>
          </a:p>
          <a:p>
            <a:pPr marL="539748" lvl="1" indent="-269874" algn="l">
              <a:lnSpc>
                <a:spcPts val="3499"/>
              </a:lnSpc>
              <a:buFont typeface="Arial"/>
              <a:buChar char="•"/>
            </a:pPr>
            <a:r>
              <a:rPr lang="en-US" sz="2499" dirty="0" err="1">
                <a:solidFill>
                  <a:srgbClr val="011142"/>
                </a:solidFill>
                <a:latin typeface="TT Firs Neue"/>
                <a:ea typeface="TT Firs Neue"/>
                <a:cs typeface="TT Firs Neue"/>
                <a:sym typeface="TT Firs Neue"/>
              </a:rPr>
              <a:t>baze</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militare</a:t>
            </a:r>
            <a:r>
              <a:rPr lang="en-US" sz="2499" dirty="0">
                <a:solidFill>
                  <a:srgbClr val="011142"/>
                </a:solidFill>
                <a:latin typeface="TT Firs Neue"/>
                <a:ea typeface="TT Firs Neue"/>
                <a:cs typeface="TT Firs Neue"/>
                <a:sym typeface="TT Firs Neue"/>
              </a:rPr>
              <a:t> secrete</a:t>
            </a:r>
          </a:p>
          <a:p>
            <a:pPr marL="539748" lvl="1" indent="-269874" algn="l">
              <a:lnSpc>
                <a:spcPts val="3499"/>
              </a:lnSpc>
              <a:buFont typeface="Arial"/>
              <a:buChar char="•"/>
            </a:pPr>
            <a:r>
              <a:rPr lang="en-US" sz="2499" dirty="0" err="1">
                <a:solidFill>
                  <a:srgbClr val="011142"/>
                </a:solidFill>
                <a:latin typeface="TT Firs Neue"/>
                <a:ea typeface="TT Firs Neue"/>
                <a:cs typeface="TT Firs Neue"/>
                <a:sym typeface="TT Firs Neue"/>
              </a:rPr>
              <a:t>trasee</a:t>
            </a:r>
            <a:r>
              <a:rPr lang="en-US" sz="2499" dirty="0">
                <a:solidFill>
                  <a:srgbClr val="011142"/>
                </a:solidFill>
                <a:latin typeface="TT Firs Neue"/>
                <a:ea typeface="TT Firs Neue"/>
                <a:cs typeface="TT Firs Neue"/>
                <a:sym typeface="TT Firs Neue"/>
              </a:rPr>
              <a:t> de </a:t>
            </a:r>
            <a:r>
              <a:rPr lang="en-US" sz="2499" dirty="0" err="1">
                <a:solidFill>
                  <a:srgbClr val="011142"/>
                </a:solidFill>
                <a:latin typeface="TT Firs Neue"/>
                <a:ea typeface="TT Firs Neue"/>
                <a:cs typeface="TT Firs Neue"/>
                <a:sym typeface="TT Firs Neue"/>
              </a:rPr>
              <a:t>patrulare</a:t>
            </a:r>
            <a:endParaRPr lang="en-US" sz="2499" dirty="0">
              <a:solidFill>
                <a:srgbClr val="011142"/>
              </a:solidFill>
              <a:latin typeface="TT Firs Neue"/>
              <a:ea typeface="TT Firs Neue"/>
              <a:cs typeface="TT Firs Neue"/>
              <a:sym typeface="TT Firs Neue"/>
            </a:endParaRPr>
          </a:p>
          <a:p>
            <a:pPr marL="539748" lvl="1" indent="-269874" algn="l">
              <a:lnSpc>
                <a:spcPts val="3499"/>
              </a:lnSpc>
              <a:buFont typeface="Arial"/>
              <a:buChar char="•"/>
            </a:pPr>
            <a:r>
              <a:rPr lang="en-US" sz="2499" dirty="0">
                <a:solidFill>
                  <a:srgbClr val="011142"/>
                </a:solidFill>
                <a:latin typeface="TT Firs Neue"/>
                <a:ea typeface="TT Firs Neue"/>
                <a:cs typeface="TT Firs Neue"/>
                <a:sym typeface="TT Firs Neue"/>
              </a:rPr>
              <a:t>zone </a:t>
            </a:r>
            <a:r>
              <a:rPr lang="en-US" sz="2499" dirty="0" err="1">
                <a:solidFill>
                  <a:srgbClr val="011142"/>
                </a:solidFill>
                <a:latin typeface="TT Firs Neue"/>
                <a:ea typeface="TT Firs Neue"/>
                <a:cs typeface="TT Firs Neue"/>
                <a:sym typeface="TT Firs Neue"/>
              </a:rPr>
              <a:t>utilizate</a:t>
            </a:r>
            <a:r>
              <a:rPr lang="en-US" sz="2499" dirty="0">
                <a:solidFill>
                  <a:srgbClr val="011142"/>
                </a:solidFill>
                <a:latin typeface="TT Firs Neue"/>
                <a:ea typeface="TT Firs Neue"/>
                <a:cs typeface="TT Firs Neue"/>
                <a:sym typeface="TT Firs Neue"/>
              </a:rPr>
              <a:t> de personal </a:t>
            </a:r>
            <a:r>
              <a:rPr lang="en-US" sz="2499" dirty="0" err="1">
                <a:solidFill>
                  <a:srgbClr val="011142"/>
                </a:solidFill>
                <a:latin typeface="TT Firs Neue"/>
                <a:ea typeface="TT Firs Neue"/>
                <a:cs typeface="TT Firs Neue"/>
                <a:sym typeface="TT Firs Neue"/>
              </a:rPr>
              <a:t>militar</a:t>
            </a:r>
            <a:endParaRPr lang="en-US" sz="2499" dirty="0">
              <a:solidFill>
                <a:srgbClr val="011142"/>
              </a:solidFill>
              <a:latin typeface="TT Firs Neue"/>
              <a:ea typeface="TT Firs Neue"/>
              <a:cs typeface="TT Firs Neue"/>
              <a:sym typeface="TT Firs Neue"/>
            </a:endParaRPr>
          </a:p>
          <a:p>
            <a:pPr algn="l">
              <a:lnSpc>
                <a:spcPts val="3499"/>
              </a:lnSpc>
            </a:pPr>
            <a:r>
              <a:rPr lang="en-US" sz="2499" dirty="0" err="1">
                <a:solidFill>
                  <a:srgbClr val="011142"/>
                </a:solidFill>
                <a:latin typeface="TT Firs Neue"/>
                <a:ea typeface="TT Firs Neue"/>
                <a:cs typeface="TT Firs Neue"/>
                <a:sym typeface="TT Firs Neue"/>
              </a:rPr>
              <a:t>Acest</a:t>
            </a:r>
            <a:r>
              <a:rPr lang="en-US" sz="2499" dirty="0">
                <a:solidFill>
                  <a:srgbClr val="011142"/>
                </a:solidFill>
                <a:latin typeface="TT Firs Neue"/>
                <a:ea typeface="TT Firs Neue"/>
                <a:cs typeface="TT Firs Neue"/>
                <a:sym typeface="TT Firs Neue"/>
              </a:rPr>
              <a:t> incident a </a:t>
            </a:r>
            <a:r>
              <a:rPr lang="en-US" sz="2499" dirty="0" err="1">
                <a:solidFill>
                  <a:srgbClr val="011142"/>
                </a:solidFill>
                <a:latin typeface="TT Firs Neue"/>
                <a:ea typeface="TT Firs Neue"/>
                <a:cs typeface="TT Firs Neue"/>
                <a:sym typeface="TT Firs Neue"/>
              </a:rPr>
              <a:t>demonstrat</a:t>
            </a:r>
            <a:r>
              <a:rPr lang="en-US" sz="2499" dirty="0">
                <a:solidFill>
                  <a:srgbClr val="011142"/>
                </a:solidFill>
                <a:latin typeface="TT Firs Neue"/>
                <a:ea typeface="TT Firs Neue"/>
                <a:cs typeface="TT Firs Neue"/>
                <a:sym typeface="TT Firs Neue"/>
              </a:rPr>
              <a:t> cum date </a:t>
            </a:r>
            <a:r>
              <a:rPr lang="en-US" sz="2499" dirty="0" err="1">
                <a:solidFill>
                  <a:srgbClr val="011142"/>
                </a:solidFill>
                <a:latin typeface="TT Firs Neue"/>
                <a:ea typeface="TT Firs Neue"/>
                <a:cs typeface="TT Firs Neue"/>
                <a:sym typeface="TT Firs Neue"/>
              </a:rPr>
              <a:t>aparent</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anonime</a:t>
            </a:r>
            <a:r>
              <a:rPr lang="en-US" sz="2499" dirty="0">
                <a:solidFill>
                  <a:srgbClr val="011142"/>
                </a:solidFill>
                <a:latin typeface="TT Firs Neue"/>
                <a:ea typeface="TT Firs Neue"/>
                <a:cs typeface="TT Firs Neue"/>
                <a:sym typeface="TT Firs Neue"/>
              </a:rPr>
              <a:t> pot </a:t>
            </a:r>
            <a:r>
              <a:rPr lang="en-US" sz="2499" dirty="0" err="1">
                <a:solidFill>
                  <a:srgbClr val="011142"/>
                </a:solidFill>
                <a:latin typeface="TT Firs Neue"/>
                <a:ea typeface="TT Firs Neue"/>
                <a:cs typeface="TT Firs Neue"/>
                <a:sym typeface="TT Firs Neue"/>
              </a:rPr>
              <a:t>dezvalui</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informatii</a:t>
            </a:r>
            <a:r>
              <a:rPr lang="en-US" sz="2499" dirty="0">
                <a:solidFill>
                  <a:srgbClr val="011142"/>
                </a:solidFill>
                <a:latin typeface="TT Firs Neue"/>
                <a:ea typeface="TT Firs Neue"/>
                <a:cs typeface="TT Firs Neue"/>
                <a:sym typeface="TT Firs Neue"/>
              </a:rPr>
              <a:t> </a:t>
            </a:r>
            <a:r>
              <a:rPr lang="en-US" sz="2499" dirty="0" err="1">
                <a:solidFill>
                  <a:srgbClr val="011142"/>
                </a:solidFill>
                <a:latin typeface="TT Firs Neue"/>
                <a:ea typeface="TT Firs Neue"/>
                <a:cs typeface="TT Firs Neue"/>
                <a:sym typeface="TT Firs Neue"/>
              </a:rPr>
              <a:t>sensibile</a:t>
            </a:r>
            <a:r>
              <a:rPr lang="en-US" sz="2499" dirty="0">
                <a:solidFill>
                  <a:srgbClr val="011142"/>
                </a:solidFill>
                <a:latin typeface="TT Firs Neue"/>
                <a:ea typeface="TT Firs Neue"/>
                <a:cs typeface="TT Firs Neue"/>
                <a:sym typeface="TT Firs Neue"/>
              </a:rPr>
              <a:t>.</a:t>
            </a:r>
          </a:p>
          <a:p>
            <a:pPr algn="l">
              <a:lnSpc>
                <a:spcPts val="3499"/>
              </a:lnSpc>
            </a:pPr>
            <a:endParaRPr lang="en-US" sz="2499" dirty="0">
              <a:solidFill>
                <a:srgbClr val="011142"/>
              </a:solidFill>
              <a:latin typeface="TT Firs Neue"/>
              <a:ea typeface="TT Firs Neue"/>
              <a:cs typeface="TT Firs Neue"/>
              <a:sym typeface="TT Firs Neue"/>
            </a:endParaRPr>
          </a:p>
        </p:txBody>
      </p:sp>
      <p:sp>
        <p:nvSpPr>
          <p:cNvPr id="5" name="Freeform 5"/>
          <p:cNvSpPr/>
          <p:nvPr/>
        </p:nvSpPr>
        <p:spPr>
          <a:xfrm flipH="1">
            <a:off x="13487400" y="8776264"/>
            <a:ext cx="7315200" cy="1064029"/>
          </a:xfrm>
          <a:custGeom>
            <a:avLst/>
            <a:gdLst/>
            <a:ahLst/>
            <a:cxnLst/>
            <a:rect l="l" t="t" r="r" b="b"/>
            <a:pathLst>
              <a:path w="7315200" h="1064029">
                <a:moveTo>
                  <a:pt x="7315200" y="0"/>
                </a:moveTo>
                <a:lnTo>
                  <a:pt x="0" y="0"/>
                </a:lnTo>
                <a:lnTo>
                  <a:pt x="0" y="1064029"/>
                </a:lnTo>
                <a:lnTo>
                  <a:pt x="7315200" y="1064029"/>
                </a:lnTo>
                <a:lnTo>
                  <a:pt x="73152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flipH="1">
            <a:off x="-1981200" y="85862"/>
            <a:ext cx="7315200" cy="1064029"/>
          </a:xfrm>
          <a:custGeom>
            <a:avLst/>
            <a:gdLst/>
            <a:ahLst/>
            <a:cxnLst/>
            <a:rect l="l" t="t" r="r" b="b"/>
            <a:pathLst>
              <a:path w="7315200" h="1064029">
                <a:moveTo>
                  <a:pt x="7315200" y="0"/>
                </a:moveTo>
                <a:lnTo>
                  <a:pt x="0" y="0"/>
                </a:lnTo>
                <a:lnTo>
                  <a:pt x="0" y="1064029"/>
                </a:lnTo>
                <a:lnTo>
                  <a:pt x="7315200" y="1064029"/>
                </a:lnTo>
                <a:lnTo>
                  <a:pt x="731520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dirty="0"/>
          </a:p>
        </p:txBody>
      </p:sp>
      <p:sp>
        <p:nvSpPr>
          <p:cNvPr id="7" name="TextBox 7"/>
          <p:cNvSpPr txBox="1"/>
          <p:nvPr/>
        </p:nvSpPr>
        <p:spPr>
          <a:xfrm>
            <a:off x="691503" y="2137031"/>
            <a:ext cx="17596497" cy="941068"/>
          </a:xfrm>
          <a:prstGeom prst="rect">
            <a:avLst/>
          </a:prstGeom>
        </p:spPr>
        <p:txBody>
          <a:bodyPr lIns="0" tIns="0" rIns="0" bIns="0" rtlCol="0" anchor="t">
            <a:spAutoFit/>
          </a:bodyPr>
          <a:lstStyle/>
          <a:p>
            <a:pPr algn="l">
              <a:lnSpc>
                <a:spcPts val="3780"/>
              </a:lnSpc>
            </a:pPr>
            <a:r>
              <a:rPr lang="en-US" sz="2700" dirty="0">
                <a:solidFill>
                  <a:srgbClr val="011142"/>
                </a:solidFill>
                <a:latin typeface="Canva Sans"/>
                <a:ea typeface="Canva Sans"/>
                <a:cs typeface="Canva Sans"/>
                <a:sym typeface="Canva Sans"/>
              </a:rPr>
              <a:t>Metadata leaks nu </a:t>
            </a:r>
            <a:r>
              <a:rPr lang="en-US" sz="2700" dirty="0" err="1">
                <a:solidFill>
                  <a:srgbClr val="011142"/>
                </a:solidFill>
                <a:latin typeface="Canva Sans"/>
                <a:ea typeface="Canva Sans"/>
                <a:cs typeface="Canva Sans"/>
                <a:sym typeface="Canva Sans"/>
              </a:rPr>
              <a:t>reprezinta</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doar</a:t>
            </a:r>
            <a:r>
              <a:rPr lang="en-US" sz="2700" dirty="0">
                <a:solidFill>
                  <a:srgbClr val="011142"/>
                </a:solidFill>
                <a:latin typeface="Canva Sans"/>
                <a:ea typeface="Canva Sans"/>
                <a:cs typeface="Canva Sans"/>
                <a:sym typeface="Canva Sans"/>
              </a:rPr>
              <a:t> un concept </a:t>
            </a:r>
            <a:r>
              <a:rPr lang="en-US" sz="2700" dirty="0" err="1">
                <a:solidFill>
                  <a:srgbClr val="011142"/>
                </a:solidFill>
                <a:latin typeface="Canva Sans"/>
                <a:ea typeface="Canva Sans"/>
                <a:cs typeface="Canva Sans"/>
                <a:sym typeface="Canva Sans"/>
              </a:rPr>
              <a:t>teoretic</a:t>
            </a:r>
            <a:r>
              <a:rPr lang="en-US" sz="2700" dirty="0">
                <a:solidFill>
                  <a:srgbClr val="011142"/>
                </a:solidFill>
                <a:latin typeface="Canva Sans"/>
                <a:ea typeface="Canva Sans"/>
                <a:cs typeface="Canva Sans"/>
                <a:sym typeface="Canva Sans"/>
              </a:rPr>
              <a:t>. In </a:t>
            </a:r>
            <a:r>
              <a:rPr lang="en-US" sz="2700" dirty="0" err="1">
                <a:solidFill>
                  <a:srgbClr val="011142"/>
                </a:solidFill>
                <a:latin typeface="Canva Sans"/>
                <a:ea typeface="Canva Sans"/>
                <a:cs typeface="Canva Sans"/>
                <a:sym typeface="Canva Sans"/>
              </a:rPr>
              <a:t>numeroase</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situatii</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reale</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metadatele</a:t>
            </a:r>
            <a:r>
              <a:rPr lang="en-US" sz="2700" dirty="0">
                <a:solidFill>
                  <a:srgbClr val="011142"/>
                </a:solidFill>
                <a:latin typeface="Canva Sans"/>
                <a:ea typeface="Canva Sans"/>
                <a:cs typeface="Canva Sans"/>
                <a:sym typeface="Canva Sans"/>
              </a:rPr>
              <a:t> au </a:t>
            </a:r>
            <a:r>
              <a:rPr lang="en-US" sz="2700" dirty="0" err="1">
                <a:solidFill>
                  <a:srgbClr val="011142"/>
                </a:solidFill>
                <a:latin typeface="Canva Sans"/>
                <a:ea typeface="Canva Sans"/>
                <a:cs typeface="Canva Sans"/>
                <a:sym typeface="Canva Sans"/>
              </a:rPr>
              <a:t>fost</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suficiente</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pentru</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identificarea</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unor</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persoane</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localizarea</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acestora</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sau</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expunerea</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unor</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informatii</a:t>
            </a:r>
            <a:r>
              <a:rPr lang="en-US" sz="2700" dirty="0">
                <a:solidFill>
                  <a:srgbClr val="011142"/>
                </a:solidFill>
                <a:latin typeface="Canva Sans"/>
                <a:ea typeface="Canva Sans"/>
                <a:cs typeface="Canva Sans"/>
                <a:sym typeface="Canva Sans"/>
              </a:rPr>
              <a:t> </a:t>
            </a:r>
            <a:r>
              <a:rPr lang="en-US" sz="2700" dirty="0" err="1">
                <a:solidFill>
                  <a:srgbClr val="011142"/>
                </a:solidFill>
                <a:latin typeface="Canva Sans"/>
                <a:ea typeface="Canva Sans"/>
                <a:cs typeface="Canva Sans"/>
                <a:sym typeface="Canva Sans"/>
              </a:rPr>
              <a:t>sensibile</a:t>
            </a:r>
            <a:r>
              <a:rPr lang="en-US" sz="2700" dirty="0">
                <a:solidFill>
                  <a:srgbClr val="011142"/>
                </a:solidFill>
                <a:latin typeface="Canva Sans"/>
                <a:ea typeface="Canva Sans"/>
                <a:cs typeface="Canva Sans"/>
                <a:sym typeface="Canva Sans"/>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sp>
        <p:nvSpPr>
          <p:cNvPr id="2" name="Freeform 2"/>
          <p:cNvSpPr/>
          <p:nvPr/>
        </p:nvSpPr>
        <p:spPr>
          <a:xfrm>
            <a:off x="802573" y="3422174"/>
            <a:ext cx="6755106" cy="5836126"/>
          </a:xfrm>
          <a:custGeom>
            <a:avLst/>
            <a:gdLst/>
            <a:ahLst/>
            <a:cxnLst/>
            <a:rect l="l" t="t" r="r" b="b"/>
            <a:pathLst>
              <a:path w="6755106" h="5836126">
                <a:moveTo>
                  <a:pt x="0" y="0"/>
                </a:moveTo>
                <a:lnTo>
                  <a:pt x="6755107" y="0"/>
                </a:lnTo>
                <a:lnTo>
                  <a:pt x="6755107" y="5836126"/>
                </a:lnTo>
                <a:lnTo>
                  <a:pt x="0" y="5836126"/>
                </a:lnTo>
                <a:lnTo>
                  <a:pt x="0" y="0"/>
                </a:lnTo>
                <a:close/>
              </a:path>
            </a:pathLst>
          </a:custGeom>
          <a:blipFill>
            <a:blip r:embed="rId2"/>
            <a:stretch>
              <a:fillRect l="-56116" r="-8019"/>
            </a:stretch>
          </a:blipFill>
        </p:spPr>
        <p:txBody>
          <a:bodyPr/>
          <a:lstStyle/>
          <a:p>
            <a:endParaRPr lang="en-US"/>
          </a:p>
        </p:txBody>
      </p:sp>
      <p:sp>
        <p:nvSpPr>
          <p:cNvPr id="3" name="TextBox 3"/>
          <p:cNvSpPr txBox="1"/>
          <p:nvPr/>
        </p:nvSpPr>
        <p:spPr>
          <a:xfrm>
            <a:off x="2450545" y="537527"/>
            <a:ext cx="13386911"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Cum folosesc atacatorii metadatele?</a:t>
            </a:r>
          </a:p>
        </p:txBody>
      </p:sp>
      <p:sp>
        <p:nvSpPr>
          <p:cNvPr id="4" name="TextBox 4"/>
          <p:cNvSpPr txBox="1"/>
          <p:nvPr/>
        </p:nvSpPr>
        <p:spPr>
          <a:xfrm>
            <a:off x="1028700" y="1675924"/>
            <a:ext cx="17067269" cy="1746250"/>
          </a:xfrm>
          <a:prstGeom prst="rect">
            <a:avLst/>
          </a:prstGeom>
        </p:spPr>
        <p:txBody>
          <a:bodyPr lIns="0" tIns="0" rIns="0" bIns="0" rtlCol="0" anchor="t">
            <a:spAutoFit/>
          </a:bodyPr>
          <a:lstStyle/>
          <a:p>
            <a:pPr algn="l">
              <a:lnSpc>
                <a:spcPts val="3500"/>
              </a:lnSpc>
            </a:pPr>
            <a:r>
              <a:rPr lang="en-US" sz="2500">
                <a:solidFill>
                  <a:srgbClr val="000000"/>
                </a:solidFill>
                <a:latin typeface="Canva Sans"/>
                <a:ea typeface="Canva Sans"/>
                <a:cs typeface="Canva Sans"/>
                <a:sym typeface="Canva Sans"/>
              </a:rPr>
              <a:t>Atacatorii utilizeaza frecvent metadatele deoarece acestea ofera informatii utile fara a necesita acces direct la sistemele victimei. Procesul de colectare si analiza a informatiilor inaintea unui atac poarta numele de reconnaissance.</a:t>
            </a:r>
          </a:p>
          <a:p>
            <a:pPr algn="l">
              <a:lnSpc>
                <a:spcPts val="3500"/>
              </a:lnSpc>
            </a:pPr>
            <a:endParaRPr lang="en-US" sz="2500">
              <a:solidFill>
                <a:srgbClr val="000000"/>
              </a:solidFill>
              <a:latin typeface="Canva Sans"/>
              <a:ea typeface="Canva Sans"/>
              <a:cs typeface="Canva Sans"/>
              <a:sym typeface="Canva Sans"/>
            </a:endParaRPr>
          </a:p>
        </p:txBody>
      </p:sp>
      <p:sp>
        <p:nvSpPr>
          <p:cNvPr id="5" name="TextBox 5"/>
          <p:cNvSpPr txBox="1"/>
          <p:nvPr/>
        </p:nvSpPr>
        <p:spPr>
          <a:xfrm>
            <a:off x="7925566" y="3109838"/>
            <a:ext cx="10170403" cy="7555658"/>
          </a:xfrm>
          <a:prstGeom prst="rect">
            <a:avLst/>
          </a:prstGeom>
        </p:spPr>
        <p:txBody>
          <a:bodyPr lIns="0" tIns="0" rIns="0" bIns="0" rtlCol="0" anchor="t">
            <a:spAutoFit/>
          </a:bodyPr>
          <a:lstStyle/>
          <a:p>
            <a:pPr marL="474986" lvl="1" indent="-237493" algn="l">
              <a:lnSpc>
                <a:spcPts val="3080"/>
              </a:lnSpc>
              <a:buAutoNum type="arabicPeriod"/>
            </a:pPr>
            <a:r>
              <a:rPr lang="en-US" sz="2200" b="1" dirty="0">
                <a:solidFill>
                  <a:srgbClr val="000000"/>
                </a:solidFill>
                <a:latin typeface="Canva Sans Bold"/>
                <a:ea typeface="Canva Sans Bold"/>
                <a:cs typeface="Canva Sans Bold"/>
                <a:sym typeface="Canva Sans Bold"/>
              </a:rPr>
              <a:t>Phishing </a:t>
            </a:r>
            <a:r>
              <a:rPr lang="en-US" sz="2200" b="1" dirty="0" err="1">
                <a:solidFill>
                  <a:srgbClr val="000000"/>
                </a:solidFill>
                <a:latin typeface="Canva Sans Bold"/>
                <a:ea typeface="Canva Sans Bold"/>
                <a:cs typeface="Canva Sans Bold"/>
                <a:sym typeface="Canva Sans Bold"/>
              </a:rPr>
              <a:t>si</a:t>
            </a:r>
            <a:r>
              <a:rPr lang="en-US" sz="2200" b="1" dirty="0">
                <a:solidFill>
                  <a:srgbClr val="000000"/>
                </a:solidFill>
                <a:latin typeface="Canva Sans Bold"/>
                <a:ea typeface="Canva Sans Bold"/>
                <a:cs typeface="Canva Sans Bold"/>
                <a:sym typeface="Canva Sans Bold"/>
              </a:rPr>
              <a:t> social engineering</a:t>
            </a:r>
          </a:p>
          <a:p>
            <a:pPr algn="just">
              <a:lnSpc>
                <a:spcPts val="3080"/>
              </a:lnSpc>
            </a:pPr>
            <a:r>
              <a:rPr lang="en-US" sz="2200" dirty="0" err="1">
                <a:solidFill>
                  <a:srgbClr val="000000"/>
                </a:solidFill>
                <a:latin typeface="Canva Sans"/>
                <a:ea typeface="Canva Sans"/>
                <a:cs typeface="Canva Sans"/>
                <a:sym typeface="Canva Sans"/>
              </a:rPr>
              <a:t>Metadatele</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documentelor</a:t>
            </a:r>
            <a:r>
              <a:rPr lang="en-US" sz="2200" dirty="0">
                <a:solidFill>
                  <a:srgbClr val="000000"/>
                </a:solidFill>
                <a:latin typeface="Canva Sans"/>
                <a:ea typeface="Canva Sans"/>
                <a:cs typeface="Canva Sans"/>
                <a:sym typeface="Canva Sans"/>
              </a:rPr>
              <a:t> pot </a:t>
            </a:r>
            <a:r>
              <a:rPr lang="en-US" sz="2200" dirty="0" err="1">
                <a:solidFill>
                  <a:srgbClr val="000000"/>
                </a:solidFill>
                <a:latin typeface="Canva Sans"/>
                <a:ea typeface="Canva Sans"/>
                <a:cs typeface="Canva Sans"/>
                <a:sym typeface="Canva Sans"/>
              </a:rPr>
              <a:t>dezvalui</a:t>
            </a:r>
            <a:r>
              <a:rPr lang="en-US" sz="2200" dirty="0">
                <a:solidFill>
                  <a:srgbClr val="000000"/>
                </a:solidFill>
                <a:latin typeface="Canva Sans"/>
                <a:ea typeface="Canva Sans"/>
                <a:cs typeface="Canva Sans"/>
                <a:sym typeface="Canva Sans"/>
              </a:rPr>
              <a:t> date </a:t>
            </a:r>
            <a:r>
              <a:rPr lang="en-US" sz="2200" dirty="0" err="1">
                <a:solidFill>
                  <a:srgbClr val="000000"/>
                </a:solidFill>
                <a:latin typeface="Canva Sans"/>
                <a:ea typeface="Canva Sans"/>
                <a:cs typeface="Canva Sans"/>
                <a:sym typeface="Canva Sans"/>
              </a:rPr>
              <a:t>importante</a:t>
            </a:r>
            <a:r>
              <a:rPr lang="en-US" sz="2200" dirty="0">
                <a:solidFill>
                  <a:srgbClr val="000000"/>
                </a:solidFill>
                <a:latin typeface="Canva Sans"/>
                <a:ea typeface="Canva Sans"/>
                <a:cs typeface="Canva Sans"/>
                <a:sym typeface="Canva Sans"/>
              </a:rPr>
              <a:t> precum </a:t>
            </a:r>
            <a:r>
              <a:rPr lang="en-US" sz="2200" dirty="0" err="1">
                <a:solidFill>
                  <a:srgbClr val="000000"/>
                </a:solidFill>
                <a:latin typeface="Canva Sans"/>
                <a:ea typeface="Canva Sans"/>
                <a:cs typeface="Canva Sans"/>
                <a:sym typeface="Canva Sans"/>
              </a:rPr>
              <a:t>numele</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angajatilor</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functii</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si</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departamente</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si</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denumiri</a:t>
            </a:r>
            <a:r>
              <a:rPr lang="en-US" sz="2200" dirty="0">
                <a:solidFill>
                  <a:srgbClr val="000000"/>
                </a:solidFill>
                <a:latin typeface="Canva Sans"/>
                <a:ea typeface="Canva Sans"/>
                <a:cs typeface="Canva Sans"/>
                <a:sym typeface="Canva Sans"/>
              </a:rPr>
              <a:t> interne ale </a:t>
            </a:r>
            <a:r>
              <a:rPr lang="en-US" sz="2200" dirty="0" err="1">
                <a:solidFill>
                  <a:srgbClr val="000000"/>
                </a:solidFill>
                <a:latin typeface="Canva Sans"/>
                <a:ea typeface="Canva Sans"/>
                <a:cs typeface="Canva Sans"/>
                <a:sym typeface="Canva Sans"/>
              </a:rPr>
              <a:t>proiectelor</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Aceste</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informatii</a:t>
            </a:r>
            <a:r>
              <a:rPr lang="en-US" sz="2200" dirty="0">
                <a:solidFill>
                  <a:srgbClr val="000000"/>
                </a:solidFill>
                <a:latin typeface="Canva Sans"/>
                <a:ea typeface="Canva Sans"/>
                <a:cs typeface="Canva Sans"/>
                <a:sym typeface="Canva Sans"/>
              </a:rPr>
              <a:t> permit </a:t>
            </a:r>
            <a:r>
              <a:rPr lang="en-US" sz="2200" dirty="0" err="1">
                <a:solidFill>
                  <a:srgbClr val="000000"/>
                </a:solidFill>
                <a:latin typeface="Canva Sans"/>
                <a:ea typeface="Canva Sans"/>
                <a:cs typeface="Canva Sans"/>
                <a:sym typeface="Canva Sans"/>
              </a:rPr>
              <a:t>crearea</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unor</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atacuri</a:t>
            </a:r>
            <a:r>
              <a:rPr lang="en-US" sz="2200" dirty="0">
                <a:solidFill>
                  <a:srgbClr val="000000"/>
                </a:solidFill>
                <a:latin typeface="Canva Sans"/>
                <a:ea typeface="Canva Sans"/>
                <a:cs typeface="Canva Sans"/>
                <a:sym typeface="Canva Sans"/>
              </a:rPr>
              <a:t> de phishing </a:t>
            </a:r>
            <a:r>
              <a:rPr lang="en-US" sz="2200" dirty="0" err="1">
                <a:solidFill>
                  <a:srgbClr val="000000"/>
                </a:solidFill>
                <a:latin typeface="Canva Sans"/>
                <a:ea typeface="Canva Sans"/>
                <a:cs typeface="Canva Sans"/>
                <a:sym typeface="Canva Sans"/>
              </a:rPr>
              <a:t>foarte</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convingatoare</a:t>
            </a:r>
            <a:r>
              <a:rPr lang="en-US" sz="2200" dirty="0">
                <a:solidFill>
                  <a:srgbClr val="000000"/>
                </a:solidFill>
                <a:latin typeface="Canva Sans"/>
                <a:ea typeface="Canva Sans"/>
                <a:cs typeface="Canva Sans"/>
                <a:sym typeface="Canva Sans"/>
              </a:rPr>
              <a:t>.</a:t>
            </a:r>
          </a:p>
          <a:p>
            <a:pPr algn="just">
              <a:lnSpc>
                <a:spcPts val="3080"/>
              </a:lnSpc>
            </a:pPr>
            <a:r>
              <a:rPr lang="en-US" sz="2200" dirty="0">
                <a:solidFill>
                  <a:srgbClr val="000000"/>
                </a:solidFill>
                <a:latin typeface="Canva Sans"/>
                <a:ea typeface="Canva Sans"/>
                <a:cs typeface="Canva Sans"/>
                <a:sym typeface="Canva Sans"/>
              </a:rPr>
              <a:t> </a:t>
            </a:r>
          </a:p>
          <a:p>
            <a:pPr algn="just">
              <a:lnSpc>
                <a:spcPts val="3080"/>
              </a:lnSpc>
            </a:pPr>
            <a:r>
              <a:rPr lang="en-US" sz="2200" dirty="0">
                <a:solidFill>
                  <a:srgbClr val="000000"/>
                </a:solidFill>
                <a:latin typeface="Canva Sans"/>
                <a:ea typeface="Canva Sans"/>
                <a:cs typeface="Canva Sans"/>
                <a:sym typeface="Canva Sans"/>
              </a:rPr>
              <a:t>   </a:t>
            </a:r>
            <a:r>
              <a:rPr lang="en-US" sz="2200" b="1" dirty="0">
                <a:solidFill>
                  <a:srgbClr val="000000"/>
                </a:solidFill>
                <a:latin typeface="Canva Sans"/>
                <a:ea typeface="Canva Sans"/>
                <a:cs typeface="Canva Sans"/>
                <a:sym typeface="Canva Sans"/>
              </a:rPr>
              <a:t>2. </a:t>
            </a:r>
            <a:r>
              <a:rPr lang="en-US" sz="2200" b="1" dirty="0" err="1">
                <a:solidFill>
                  <a:srgbClr val="000000"/>
                </a:solidFill>
                <a:latin typeface="Canva Sans Bold"/>
                <a:ea typeface="Canva Sans Bold"/>
                <a:cs typeface="Canva Sans Bold"/>
                <a:sym typeface="Canva Sans Bold"/>
              </a:rPr>
              <a:t>Identificarea</a:t>
            </a:r>
            <a:r>
              <a:rPr lang="en-US" sz="2200" b="1" dirty="0">
                <a:solidFill>
                  <a:srgbClr val="000000"/>
                </a:solidFill>
                <a:latin typeface="Canva Sans Bold"/>
                <a:ea typeface="Canva Sans Bold"/>
                <a:cs typeface="Canva Sans Bold"/>
                <a:sym typeface="Canva Sans Bold"/>
              </a:rPr>
              <a:t> </a:t>
            </a:r>
            <a:r>
              <a:rPr lang="en-US" sz="2200" b="1" dirty="0" err="1">
                <a:solidFill>
                  <a:srgbClr val="000000"/>
                </a:solidFill>
                <a:latin typeface="Canva Sans Bold"/>
                <a:ea typeface="Canva Sans Bold"/>
                <a:cs typeface="Canva Sans Bold"/>
                <a:sym typeface="Canva Sans Bold"/>
              </a:rPr>
              <a:t>vulnerabilitatilor</a:t>
            </a:r>
            <a:endParaRPr lang="en-US" sz="2200" b="1" dirty="0">
              <a:solidFill>
                <a:srgbClr val="000000"/>
              </a:solidFill>
              <a:latin typeface="Canva Sans Bold"/>
              <a:ea typeface="Canva Sans Bold"/>
              <a:cs typeface="Canva Sans Bold"/>
              <a:sym typeface="Canva Sans Bold"/>
            </a:endParaRPr>
          </a:p>
          <a:p>
            <a:pPr algn="just">
              <a:lnSpc>
                <a:spcPts val="3080"/>
              </a:lnSpc>
            </a:pPr>
            <a:r>
              <a:rPr lang="en-US" sz="2200" dirty="0">
                <a:solidFill>
                  <a:srgbClr val="000000"/>
                </a:solidFill>
                <a:latin typeface="Canva Sans"/>
                <a:ea typeface="Canva Sans"/>
                <a:cs typeface="Canva Sans"/>
                <a:sym typeface="Canva Sans"/>
              </a:rPr>
              <a:t>Campurile metadata pot indica </a:t>
            </a:r>
            <a:r>
              <a:rPr lang="en-US" sz="2200" dirty="0" err="1">
                <a:solidFill>
                  <a:srgbClr val="000000"/>
                </a:solidFill>
                <a:latin typeface="Canva Sans"/>
                <a:ea typeface="Canva Sans"/>
                <a:cs typeface="Canva Sans"/>
                <a:sym typeface="Canva Sans"/>
              </a:rPr>
              <a:t>versiuni</a:t>
            </a:r>
            <a:r>
              <a:rPr lang="en-US" sz="2200" dirty="0">
                <a:solidFill>
                  <a:srgbClr val="000000"/>
                </a:solidFill>
                <a:latin typeface="Canva Sans"/>
                <a:ea typeface="Canva Sans"/>
                <a:cs typeface="Canva Sans"/>
                <a:sym typeface="Canva Sans"/>
              </a:rPr>
              <a:t> de software </a:t>
            </a:r>
            <a:r>
              <a:rPr lang="en-US" sz="2200" dirty="0" err="1">
                <a:solidFill>
                  <a:srgbClr val="000000"/>
                </a:solidFill>
                <a:latin typeface="Canva Sans"/>
                <a:ea typeface="Canva Sans"/>
                <a:cs typeface="Canva Sans"/>
                <a:sym typeface="Canva Sans"/>
              </a:rPr>
              <a:t>utilizate</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sisteme</a:t>
            </a:r>
            <a:r>
              <a:rPr lang="en-US" sz="2200" dirty="0">
                <a:solidFill>
                  <a:srgbClr val="000000"/>
                </a:solidFill>
                <a:latin typeface="Canva Sans"/>
                <a:ea typeface="Canva Sans"/>
                <a:cs typeface="Canva Sans"/>
                <a:sym typeface="Canva Sans"/>
              </a:rPr>
              <a:t> de </a:t>
            </a:r>
            <a:r>
              <a:rPr lang="en-US" sz="2200" dirty="0" err="1">
                <a:solidFill>
                  <a:srgbClr val="000000"/>
                </a:solidFill>
                <a:latin typeface="Canva Sans"/>
                <a:ea typeface="Canva Sans"/>
                <a:cs typeface="Canva Sans"/>
                <a:sym typeface="Canva Sans"/>
              </a:rPr>
              <a:t>operare</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folosite</a:t>
            </a:r>
            <a:r>
              <a:rPr lang="en-US" sz="2200" dirty="0">
                <a:solidFill>
                  <a:srgbClr val="000000"/>
                </a:solidFill>
                <a:latin typeface="Canva Sans"/>
                <a:ea typeface="Canva Sans"/>
                <a:cs typeface="Canva Sans"/>
                <a:sym typeface="Canva Sans"/>
              </a:rPr>
              <a:t> in </a:t>
            </a:r>
            <a:r>
              <a:rPr lang="en-US" sz="2200" dirty="0" err="1">
                <a:solidFill>
                  <a:srgbClr val="000000"/>
                </a:solidFill>
                <a:latin typeface="Canva Sans"/>
                <a:ea typeface="Canva Sans"/>
                <a:cs typeface="Canva Sans"/>
                <a:sym typeface="Canva Sans"/>
              </a:rPr>
              <a:t>organizatie</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iar</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atacatorii</a:t>
            </a:r>
            <a:r>
              <a:rPr lang="en-US" sz="2200" dirty="0">
                <a:solidFill>
                  <a:srgbClr val="000000"/>
                </a:solidFill>
                <a:latin typeface="Canva Sans"/>
                <a:ea typeface="Canva Sans"/>
                <a:cs typeface="Canva Sans"/>
                <a:sym typeface="Canva Sans"/>
              </a:rPr>
              <a:t> pot </a:t>
            </a:r>
            <a:r>
              <a:rPr lang="en-US" sz="2200" dirty="0" err="1">
                <a:solidFill>
                  <a:srgbClr val="000000"/>
                </a:solidFill>
                <a:latin typeface="Canva Sans"/>
                <a:ea typeface="Canva Sans"/>
                <a:cs typeface="Canva Sans"/>
                <a:sym typeface="Canva Sans"/>
              </a:rPr>
              <a:t>corela</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aceste</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informatii</a:t>
            </a:r>
            <a:r>
              <a:rPr lang="en-US" sz="2200" dirty="0">
                <a:solidFill>
                  <a:srgbClr val="000000"/>
                </a:solidFill>
                <a:latin typeface="Canva Sans"/>
                <a:ea typeface="Canva Sans"/>
                <a:cs typeface="Canva Sans"/>
                <a:sym typeface="Canva Sans"/>
              </a:rPr>
              <a:t> cu </a:t>
            </a:r>
            <a:r>
              <a:rPr lang="en-US" sz="2200" dirty="0" err="1">
                <a:solidFill>
                  <a:srgbClr val="000000"/>
                </a:solidFill>
                <a:latin typeface="Canva Sans"/>
                <a:ea typeface="Canva Sans"/>
                <a:cs typeface="Canva Sans"/>
                <a:sym typeface="Canva Sans"/>
              </a:rPr>
              <a:t>vulnerabilitati</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cunoscute</a:t>
            </a:r>
            <a:r>
              <a:rPr lang="en-US" sz="2200" dirty="0">
                <a:solidFill>
                  <a:srgbClr val="000000"/>
                </a:solidFill>
                <a:latin typeface="Canva Sans"/>
                <a:ea typeface="Canva Sans"/>
                <a:cs typeface="Canva Sans"/>
                <a:sym typeface="Canva Sans"/>
              </a:rPr>
              <a:t>.</a:t>
            </a:r>
          </a:p>
          <a:p>
            <a:pPr algn="just">
              <a:lnSpc>
                <a:spcPts val="3080"/>
              </a:lnSpc>
            </a:pPr>
            <a:endParaRPr lang="en-US" sz="2200" dirty="0">
              <a:solidFill>
                <a:srgbClr val="000000"/>
              </a:solidFill>
              <a:latin typeface="Canva Sans"/>
              <a:ea typeface="Canva Sans"/>
              <a:cs typeface="Canva Sans"/>
              <a:sym typeface="Canva Sans"/>
            </a:endParaRPr>
          </a:p>
          <a:p>
            <a:pPr marL="237493" lvl="1" algn="l">
              <a:lnSpc>
                <a:spcPts val="3080"/>
              </a:lnSpc>
            </a:pPr>
            <a:r>
              <a:rPr lang="en-US" sz="2200" b="1" dirty="0">
                <a:solidFill>
                  <a:srgbClr val="000000"/>
                </a:solidFill>
                <a:latin typeface="Canva Sans Bold"/>
                <a:ea typeface="Canva Sans Bold"/>
                <a:cs typeface="Canva Sans Bold"/>
                <a:sym typeface="Canva Sans Bold"/>
              </a:rPr>
              <a:t>3. Analiza </a:t>
            </a:r>
            <a:r>
              <a:rPr lang="en-US" sz="2200" b="1" dirty="0" err="1">
                <a:solidFill>
                  <a:srgbClr val="000000"/>
                </a:solidFill>
                <a:latin typeface="Canva Sans Bold"/>
                <a:ea typeface="Canva Sans Bold"/>
                <a:cs typeface="Canva Sans Bold"/>
                <a:sym typeface="Canva Sans Bold"/>
              </a:rPr>
              <a:t>rutinelor</a:t>
            </a:r>
            <a:endParaRPr lang="en-US" sz="2200" b="1" dirty="0">
              <a:solidFill>
                <a:srgbClr val="000000"/>
              </a:solidFill>
              <a:latin typeface="Canva Sans Bold"/>
              <a:ea typeface="Canva Sans Bold"/>
              <a:cs typeface="Canva Sans Bold"/>
              <a:sym typeface="Canva Sans Bold"/>
            </a:endParaRPr>
          </a:p>
          <a:p>
            <a:pPr algn="just">
              <a:lnSpc>
                <a:spcPts val="3080"/>
              </a:lnSpc>
            </a:pPr>
            <a:r>
              <a:rPr lang="en-US" sz="2200" dirty="0">
                <a:solidFill>
                  <a:srgbClr val="000000"/>
                </a:solidFill>
                <a:latin typeface="Canva Sans"/>
                <a:ea typeface="Canva Sans"/>
                <a:cs typeface="Canva Sans"/>
                <a:sym typeface="Canva Sans"/>
              </a:rPr>
              <a:t>Timestamp-urile pot indica </a:t>
            </a:r>
            <a:r>
              <a:rPr lang="en-US" sz="2200" dirty="0" err="1">
                <a:solidFill>
                  <a:srgbClr val="000000"/>
                </a:solidFill>
                <a:latin typeface="Canva Sans"/>
                <a:ea typeface="Canva Sans"/>
                <a:cs typeface="Canva Sans"/>
                <a:sym typeface="Canva Sans"/>
              </a:rPr>
              <a:t>programul</a:t>
            </a:r>
            <a:r>
              <a:rPr lang="en-US" sz="2200" dirty="0">
                <a:solidFill>
                  <a:srgbClr val="000000"/>
                </a:solidFill>
                <a:latin typeface="Canva Sans"/>
                <a:ea typeface="Canva Sans"/>
                <a:cs typeface="Canva Sans"/>
                <a:sym typeface="Canva Sans"/>
              </a:rPr>
              <a:t> de </a:t>
            </a:r>
            <a:r>
              <a:rPr lang="en-US" sz="2200" dirty="0" err="1">
                <a:solidFill>
                  <a:srgbClr val="000000"/>
                </a:solidFill>
                <a:latin typeface="Canva Sans"/>
                <a:ea typeface="Canva Sans"/>
                <a:cs typeface="Canva Sans"/>
                <a:sym typeface="Canva Sans"/>
              </a:rPr>
              <a:t>lucru</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fusul</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orar</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si</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perioadele</a:t>
            </a:r>
            <a:r>
              <a:rPr lang="en-US" sz="2200" dirty="0">
                <a:solidFill>
                  <a:srgbClr val="000000"/>
                </a:solidFill>
                <a:latin typeface="Canva Sans"/>
                <a:ea typeface="Canva Sans"/>
                <a:cs typeface="Canva Sans"/>
                <a:sym typeface="Canva Sans"/>
              </a:rPr>
              <a:t> de </a:t>
            </a:r>
            <a:r>
              <a:rPr lang="en-US" sz="2200" dirty="0" err="1">
                <a:solidFill>
                  <a:srgbClr val="000000"/>
                </a:solidFill>
                <a:latin typeface="Canva Sans"/>
                <a:ea typeface="Canva Sans"/>
                <a:cs typeface="Canva Sans"/>
                <a:sym typeface="Canva Sans"/>
              </a:rPr>
              <a:t>activitate</a:t>
            </a:r>
            <a:r>
              <a:rPr lang="en-US" sz="2200" dirty="0">
                <a:solidFill>
                  <a:srgbClr val="000000"/>
                </a:solidFill>
                <a:latin typeface="Canva Sans"/>
                <a:ea typeface="Canva Sans"/>
                <a:cs typeface="Canva Sans"/>
                <a:sym typeface="Canva Sans"/>
              </a:rPr>
              <a:t> online. </a:t>
            </a:r>
          </a:p>
          <a:p>
            <a:pPr algn="just">
              <a:lnSpc>
                <a:spcPts val="3080"/>
              </a:lnSpc>
            </a:pPr>
            <a:endParaRPr lang="en-US" sz="2200" dirty="0">
              <a:solidFill>
                <a:srgbClr val="000000"/>
              </a:solidFill>
              <a:latin typeface="Canva Sans"/>
              <a:ea typeface="Canva Sans"/>
              <a:cs typeface="Canva Sans"/>
              <a:sym typeface="Canva Sans"/>
            </a:endParaRPr>
          </a:p>
          <a:p>
            <a:pPr marL="237493" lvl="1" algn="l">
              <a:lnSpc>
                <a:spcPts val="3080"/>
              </a:lnSpc>
            </a:pPr>
            <a:r>
              <a:rPr lang="en-US" sz="2200" b="1" dirty="0">
                <a:solidFill>
                  <a:srgbClr val="000000"/>
                </a:solidFill>
                <a:latin typeface="Canva Sans Bold"/>
                <a:ea typeface="Canva Sans Bold"/>
                <a:cs typeface="Canva Sans Bold"/>
                <a:sym typeface="Canva Sans Bold"/>
              </a:rPr>
              <a:t>4. </a:t>
            </a:r>
            <a:r>
              <a:rPr lang="en-US" sz="2200" b="1" dirty="0" err="1">
                <a:solidFill>
                  <a:srgbClr val="000000"/>
                </a:solidFill>
                <a:latin typeface="Canva Sans Bold"/>
                <a:ea typeface="Canva Sans Bold"/>
                <a:cs typeface="Canva Sans Bold"/>
                <a:sym typeface="Canva Sans Bold"/>
              </a:rPr>
              <a:t>Informații</a:t>
            </a:r>
            <a:r>
              <a:rPr lang="en-US" sz="2200" b="1" dirty="0">
                <a:solidFill>
                  <a:srgbClr val="000000"/>
                </a:solidFill>
                <a:latin typeface="Canva Sans Bold"/>
                <a:ea typeface="Canva Sans Bold"/>
                <a:cs typeface="Canva Sans Bold"/>
                <a:sym typeface="Canva Sans Bold"/>
              </a:rPr>
              <a:t> </a:t>
            </a:r>
            <a:r>
              <a:rPr lang="en-US" sz="2200" b="1" dirty="0" err="1">
                <a:solidFill>
                  <a:srgbClr val="000000"/>
                </a:solidFill>
                <a:latin typeface="Canva Sans Bold"/>
                <a:ea typeface="Canva Sans Bold"/>
                <a:cs typeface="Canva Sans Bold"/>
                <a:sym typeface="Canva Sans Bold"/>
              </a:rPr>
              <a:t>despre</a:t>
            </a:r>
            <a:r>
              <a:rPr lang="en-US" sz="2200" b="1" dirty="0">
                <a:solidFill>
                  <a:srgbClr val="000000"/>
                </a:solidFill>
                <a:latin typeface="Canva Sans Bold"/>
                <a:ea typeface="Canva Sans Bold"/>
                <a:cs typeface="Canva Sans Bold"/>
                <a:sym typeface="Canva Sans Bold"/>
              </a:rPr>
              <a:t> </a:t>
            </a:r>
            <a:r>
              <a:rPr lang="en-US" sz="2200" b="1" dirty="0" err="1">
                <a:solidFill>
                  <a:srgbClr val="000000"/>
                </a:solidFill>
                <a:latin typeface="Canva Sans Bold"/>
                <a:ea typeface="Canva Sans Bold"/>
                <a:cs typeface="Canva Sans Bold"/>
                <a:sym typeface="Canva Sans Bold"/>
              </a:rPr>
              <a:t>infrastructura</a:t>
            </a:r>
            <a:endParaRPr lang="en-US" sz="2200" b="1" dirty="0">
              <a:solidFill>
                <a:srgbClr val="000000"/>
              </a:solidFill>
              <a:latin typeface="Canva Sans Bold"/>
              <a:ea typeface="Canva Sans Bold"/>
              <a:cs typeface="Canva Sans Bold"/>
              <a:sym typeface="Canva Sans Bold"/>
            </a:endParaRPr>
          </a:p>
          <a:p>
            <a:pPr algn="just">
              <a:lnSpc>
                <a:spcPts val="3080"/>
              </a:lnSpc>
            </a:pPr>
            <a:r>
              <a:rPr lang="en-US" sz="2200" dirty="0" err="1">
                <a:solidFill>
                  <a:srgbClr val="000000"/>
                </a:solidFill>
                <a:latin typeface="Canva Sans"/>
                <a:ea typeface="Canva Sans"/>
                <a:cs typeface="Canva Sans"/>
                <a:sym typeface="Canva Sans"/>
              </a:rPr>
              <a:t>Unele</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documente</a:t>
            </a:r>
            <a:r>
              <a:rPr lang="en-US" sz="2200" dirty="0">
                <a:solidFill>
                  <a:srgbClr val="000000"/>
                </a:solidFill>
                <a:latin typeface="Canva Sans"/>
                <a:ea typeface="Canva Sans"/>
                <a:cs typeface="Canva Sans"/>
                <a:sym typeface="Canva Sans"/>
              </a:rPr>
              <a:t> pot </a:t>
            </a:r>
            <a:r>
              <a:rPr lang="en-US" sz="2200" dirty="0" err="1">
                <a:solidFill>
                  <a:srgbClr val="000000"/>
                </a:solidFill>
                <a:latin typeface="Canva Sans"/>
                <a:ea typeface="Canva Sans"/>
                <a:cs typeface="Canva Sans"/>
                <a:sym typeface="Canva Sans"/>
              </a:rPr>
              <a:t>dezvalui</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nume</a:t>
            </a:r>
            <a:r>
              <a:rPr lang="en-US" sz="2200" dirty="0">
                <a:solidFill>
                  <a:srgbClr val="000000"/>
                </a:solidFill>
                <a:latin typeface="Canva Sans"/>
                <a:ea typeface="Canva Sans"/>
                <a:cs typeface="Canva Sans"/>
                <a:sym typeface="Canva Sans"/>
              </a:rPr>
              <a:t> de </a:t>
            </a:r>
            <a:r>
              <a:rPr lang="en-US" sz="2200" dirty="0" err="1">
                <a:solidFill>
                  <a:srgbClr val="000000"/>
                </a:solidFill>
                <a:latin typeface="Canva Sans"/>
                <a:ea typeface="Canva Sans"/>
                <a:cs typeface="Canva Sans"/>
                <a:sym typeface="Canva Sans"/>
              </a:rPr>
              <a:t>servere</a:t>
            </a:r>
            <a:r>
              <a:rPr lang="en-US" sz="2200" dirty="0">
                <a:solidFill>
                  <a:srgbClr val="000000"/>
                </a:solidFill>
                <a:latin typeface="Canva Sans"/>
                <a:ea typeface="Canva Sans"/>
                <a:cs typeface="Canva Sans"/>
                <a:sym typeface="Canva Sans"/>
              </a:rPr>
              <a:t> interne, </a:t>
            </a:r>
            <a:r>
              <a:rPr lang="en-US" sz="2200" dirty="0" err="1">
                <a:solidFill>
                  <a:srgbClr val="000000"/>
                </a:solidFill>
                <a:latin typeface="Canva Sans"/>
                <a:ea typeface="Canva Sans"/>
                <a:cs typeface="Canva Sans"/>
                <a:sym typeface="Canva Sans"/>
              </a:rPr>
              <a:t>directoare</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partajate</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conventii</a:t>
            </a:r>
            <a:r>
              <a:rPr lang="en-US" sz="2200" dirty="0">
                <a:solidFill>
                  <a:srgbClr val="000000"/>
                </a:solidFill>
                <a:latin typeface="Canva Sans"/>
                <a:ea typeface="Canva Sans"/>
                <a:cs typeface="Canva Sans"/>
                <a:sym typeface="Canva Sans"/>
              </a:rPr>
              <a:t> de naming </a:t>
            </a:r>
            <a:r>
              <a:rPr lang="en-US" sz="2200" dirty="0" err="1">
                <a:solidFill>
                  <a:srgbClr val="000000"/>
                </a:solidFill>
                <a:latin typeface="Canva Sans"/>
                <a:ea typeface="Canva Sans"/>
                <a:cs typeface="Canva Sans"/>
                <a:sym typeface="Canva Sans"/>
              </a:rPr>
              <a:t>sau</a:t>
            </a:r>
            <a:r>
              <a:rPr lang="en-US" sz="2200" dirty="0">
                <a:solidFill>
                  <a:srgbClr val="000000"/>
                </a:solidFill>
                <a:latin typeface="Canva Sans"/>
                <a:ea typeface="Canva Sans"/>
                <a:cs typeface="Canva Sans"/>
                <a:sym typeface="Canva Sans"/>
              </a:rPr>
              <a:t> </a:t>
            </a:r>
            <a:r>
              <a:rPr lang="en-US" sz="2200" dirty="0" err="1">
                <a:solidFill>
                  <a:srgbClr val="000000"/>
                </a:solidFill>
                <a:latin typeface="Canva Sans"/>
                <a:ea typeface="Canva Sans"/>
                <a:cs typeface="Canva Sans"/>
                <a:sym typeface="Canva Sans"/>
              </a:rPr>
              <a:t>chiar</a:t>
            </a:r>
            <a:r>
              <a:rPr lang="en-US" sz="2200" dirty="0">
                <a:solidFill>
                  <a:srgbClr val="000000"/>
                </a:solidFill>
                <a:latin typeface="Canva Sans"/>
                <a:ea typeface="Canva Sans"/>
                <a:cs typeface="Canva Sans"/>
                <a:sym typeface="Canva Sans"/>
              </a:rPr>
              <a:t> username-</a:t>
            </a:r>
            <a:r>
              <a:rPr lang="en-US" sz="2200" dirty="0" err="1">
                <a:solidFill>
                  <a:srgbClr val="000000"/>
                </a:solidFill>
                <a:latin typeface="Canva Sans"/>
                <a:ea typeface="Canva Sans"/>
                <a:cs typeface="Canva Sans"/>
                <a:sym typeface="Canva Sans"/>
              </a:rPr>
              <a:t>uri</a:t>
            </a:r>
            <a:r>
              <a:rPr lang="en-US" sz="2200" dirty="0">
                <a:solidFill>
                  <a:srgbClr val="000000"/>
                </a:solidFill>
                <a:latin typeface="Canva Sans"/>
                <a:ea typeface="Canva Sans"/>
                <a:cs typeface="Canva Sans"/>
                <a:sym typeface="Canva Sans"/>
              </a:rPr>
              <a:t>.</a:t>
            </a:r>
          </a:p>
          <a:p>
            <a:pPr algn="just">
              <a:lnSpc>
                <a:spcPts val="3360"/>
              </a:lnSpc>
            </a:pPr>
            <a:endParaRPr lang="en-US" sz="2200" dirty="0">
              <a:solidFill>
                <a:srgbClr val="000000"/>
              </a:solidFill>
              <a:latin typeface="Canva Sans"/>
              <a:ea typeface="Canva Sans"/>
              <a:cs typeface="Canva Sans"/>
              <a:sym typeface="Canv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sp>
        <p:nvSpPr>
          <p:cNvPr id="2" name="Freeform 2"/>
          <p:cNvSpPr/>
          <p:nvPr/>
        </p:nvSpPr>
        <p:spPr>
          <a:xfrm>
            <a:off x="627878" y="2429067"/>
            <a:ext cx="8681185" cy="5923917"/>
          </a:xfrm>
          <a:custGeom>
            <a:avLst/>
            <a:gdLst/>
            <a:ahLst/>
            <a:cxnLst/>
            <a:rect l="l" t="t" r="r" b="b"/>
            <a:pathLst>
              <a:path w="8681185" h="5923917">
                <a:moveTo>
                  <a:pt x="0" y="0"/>
                </a:moveTo>
                <a:lnTo>
                  <a:pt x="8681185" y="0"/>
                </a:lnTo>
                <a:lnTo>
                  <a:pt x="8681185" y="5923917"/>
                </a:lnTo>
                <a:lnTo>
                  <a:pt x="0" y="5923917"/>
                </a:lnTo>
                <a:lnTo>
                  <a:pt x="0" y="0"/>
                </a:lnTo>
                <a:close/>
              </a:path>
            </a:pathLst>
          </a:custGeom>
          <a:blipFill>
            <a:blip r:embed="rId2"/>
            <a:stretch>
              <a:fillRect r="-12038"/>
            </a:stretch>
          </a:blipFill>
        </p:spPr>
        <p:txBody>
          <a:bodyPr/>
          <a:lstStyle/>
          <a:p>
            <a:endParaRPr lang="en-US"/>
          </a:p>
        </p:txBody>
      </p:sp>
      <p:sp>
        <p:nvSpPr>
          <p:cNvPr id="3" name="TextBox 3"/>
          <p:cNvSpPr txBox="1"/>
          <p:nvPr/>
        </p:nvSpPr>
        <p:spPr>
          <a:xfrm>
            <a:off x="9953349" y="1971039"/>
            <a:ext cx="7771025" cy="7287261"/>
          </a:xfrm>
          <a:prstGeom prst="rect">
            <a:avLst/>
          </a:prstGeom>
        </p:spPr>
        <p:txBody>
          <a:bodyPr lIns="0" tIns="0" rIns="0" bIns="0" rtlCol="0" anchor="t">
            <a:spAutoFit/>
          </a:bodyPr>
          <a:lstStyle/>
          <a:p>
            <a:pPr algn="just">
              <a:lnSpc>
                <a:spcPts val="5739"/>
              </a:lnSpc>
              <a:spcBef>
                <a:spcPct val="0"/>
              </a:spcBef>
            </a:pPr>
            <a:r>
              <a:rPr lang="en-US" sz="4099" dirty="0" err="1">
                <a:solidFill>
                  <a:srgbClr val="000000"/>
                </a:solidFill>
                <a:latin typeface="TT Firs Neue"/>
                <a:ea typeface="TT Firs Neue"/>
                <a:cs typeface="TT Firs Neue"/>
                <a:sym typeface="TT Firs Neue"/>
              </a:rPr>
              <a:t>Riscuri</a:t>
            </a:r>
            <a:r>
              <a:rPr lang="en-US" sz="4099" dirty="0">
                <a:solidFill>
                  <a:srgbClr val="000000"/>
                </a:solidFill>
                <a:latin typeface="TT Firs Neue"/>
                <a:ea typeface="TT Firs Neue"/>
                <a:cs typeface="TT Firs Neue"/>
                <a:sym typeface="TT Firs Neue"/>
              </a:rPr>
              <a:t> </a:t>
            </a:r>
            <a:r>
              <a:rPr lang="en-US" sz="4099" dirty="0" err="1">
                <a:solidFill>
                  <a:srgbClr val="000000"/>
                </a:solidFill>
                <a:latin typeface="TT Firs Neue"/>
                <a:ea typeface="TT Firs Neue"/>
                <a:cs typeface="TT Firs Neue"/>
                <a:sym typeface="TT Firs Neue"/>
              </a:rPr>
              <a:t>asociate</a:t>
            </a:r>
            <a:endParaRPr lang="en-US" sz="4099" dirty="0">
              <a:solidFill>
                <a:srgbClr val="000000"/>
              </a:solidFill>
              <a:latin typeface="TT Firs Neue"/>
              <a:ea typeface="TT Firs Neue"/>
              <a:cs typeface="TT Firs Neue"/>
              <a:sym typeface="TT Firs Neue"/>
            </a:endParaRPr>
          </a:p>
          <a:p>
            <a:pPr algn="just">
              <a:lnSpc>
                <a:spcPts val="3639"/>
              </a:lnSpc>
              <a:spcBef>
                <a:spcPct val="0"/>
              </a:spcBef>
            </a:pPr>
            <a:r>
              <a:rPr lang="en-US" sz="2599" dirty="0" err="1">
                <a:solidFill>
                  <a:srgbClr val="000000"/>
                </a:solidFill>
                <a:latin typeface="TT Firs Neue"/>
                <a:ea typeface="TT Firs Neue"/>
                <a:cs typeface="TT Firs Neue"/>
                <a:sym typeface="TT Firs Neue"/>
              </a:rPr>
              <a:t>Metadatele</a:t>
            </a:r>
            <a:r>
              <a:rPr lang="en-US" sz="2599" dirty="0">
                <a:solidFill>
                  <a:srgbClr val="000000"/>
                </a:solidFill>
                <a:latin typeface="TT Firs Neue"/>
                <a:ea typeface="TT Firs Neue"/>
                <a:cs typeface="TT Firs Neue"/>
                <a:sym typeface="TT Firs Neue"/>
              </a:rPr>
              <a:t> permit:</a:t>
            </a:r>
          </a:p>
          <a:p>
            <a:pPr marL="561336" lvl="1" indent="-280668" algn="just">
              <a:lnSpc>
                <a:spcPts val="3639"/>
              </a:lnSpc>
              <a:spcBef>
                <a:spcPct val="0"/>
              </a:spcBef>
              <a:buFont typeface="Arial"/>
              <a:buChar char="•"/>
            </a:pPr>
            <a:r>
              <a:rPr lang="en-US" sz="2599" dirty="0" err="1">
                <a:solidFill>
                  <a:srgbClr val="000000"/>
                </a:solidFill>
                <a:latin typeface="TT Firs Neue"/>
                <a:ea typeface="TT Firs Neue"/>
                <a:cs typeface="TT Firs Neue"/>
                <a:sym typeface="TT Firs Neue"/>
              </a:rPr>
              <a:t>profilarea</a:t>
            </a:r>
            <a:r>
              <a:rPr lang="en-US" sz="2599" dirty="0">
                <a:solidFill>
                  <a:srgbClr val="000000"/>
                </a:solidFill>
                <a:latin typeface="TT Firs Neue"/>
                <a:ea typeface="TT Firs Neue"/>
                <a:cs typeface="TT Firs Neue"/>
                <a:sym typeface="TT Firs Neue"/>
              </a:rPr>
              <a:t> </a:t>
            </a:r>
            <a:r>
              <a:rPr lang="en-US" sz="2599" dirty="0" err="1">
                <a:solidFill>
                  <a:srgbClr val="000000"/>
                </a:solidFill>
                <a:latin typeface="TT Firs Neue"/>
                <a:ea typeface="TT Firs Neue"/>
                <a:cs typeface="TT Firs Neue"/>
                <a:sym typeface="TT Firs Neue"/>
              </a:rPr>
              <a:t>utilizatorilor</a:t>
            </a:r>
            <a:endParaRPr lang="en-US" sz="2599" dirty="0">
              <a:solidFill>
                <a:srgbClr val="000000"/>
              </a:solidFill>
              <a:latin typeface="TT Firs Neue"/>
              <a:ea typeface="TT Firs Neue"/>
              <a:cs typeface="TT Firs Neue"/>
              <a:sym typeface="TT Firs Neue"/>
            </a:endParaRPr>
          </a:p>
          <a:p>
            <a:pPr marL="561336" lvl="1" indent="-280668" algn="just">
              <a:lnSpc>
                <a:spcPts val="3639"/>
              </a:lnSpc>
              <a:spcBef>
                <a:spcPct val="0"/>
              </a:spcBef>
              <a:buFont typeface="Arial"/>
              <a:buChar char="•"/>
            </a:pPr>
            <a:r>
              <a:rPr lang="en-US" sz="2599" dirty="0" err="1">
                <a:solidFill>
                  <a:srgbClr val="000000"/>
                </a:solidFill>
                <a:latin typeface="TT Firs Neue"/>
                <a:ea typeface="TT Firs Neue"/>
                <a:cs typeface="TT Firs Neue"/>
                <a:sym typeface="TT Firs Neue"/>
              </a:rPr>
              <a:t>urmarirea</a:t>
            </a:r>
            <a:r>
              <a:rPr lang="en-US" sz="2599" dirty="0">
                <a:solidFill>
                  <a:srgbClr val="000000"/>
                </a:solidFill>
                <a:latin typeface="TT Firs Neue"/>
                <a:ea typeface="TT Firs Neue"/>
                <a:cs typeface="TT Firs Neue"/>
                <a:sym typeface="TT Firs Neue"/>
              </a:rPr>
              <a:t> </a:t>
            </a:r>
            <a:r>
              <a:rPr lang="en-US" sz="2599" dirty="0" err="1">
                <a:solidFill>
                  <a:srgbClr val="000000"/>
                </a:solidFill>
                <a:latin typeface="TT Firs Neue"/>
                <a:ea typeface="TT Firs Neue"/>
                <a:cs typeface="TT Firs Neue"/>
                <a:sym typeface="TT Firs Neue"/>
              </a:rPr>
              <a:t>locatiei</a:t>
            </a:r>
            <a:endParaRPr lang="en-US" sz="2599" dirty="0">
              <a:solidFill>
                <a:srgbClr val="000000"/>
              </a:solidFill>
              <a:latin typeface="TT Firs Neue"/>
              <a:ea typeface="TT Firs Neue"/>
              <a:cs typeface="TT Firs Neue"/>
              <a:sym typeface="TT Firs Neue"/>
            </a:endParaRPr>
          </a:p>
          <a:p>
            <a:pPr marL="561336" lvl="1" indent="-280668" algn="just">
              <a:lnSpc>
                <a:spcPts val="3639"/>
              </a:lnSpc>
              <a:spcBef>
                <a:spcPct val="0"/>
              </a:spcBef>
              <a:buFont typeface="Arial"/>
              <a:buChar char="•"/>
            </a:pPr>
            <a:r>
              <a:rPr lang="en-US" sz="2599" dirty="0" err="1">
                <a:solidFill>
                  <a:srgbClr val="000000"/>
                </a:solidFill>
                <a:latin typeface="TT Firs Neue"/>
                <a:ea typeface="TT Firs Neue"/>
                <a:cs typeface="TT Firs Neue"/>
                <a:sym typeface="TT Firs Neue"/>
              </a:rPr>
              <a:t>identificarea</a:t>
            </a:r>
            <a:r>
              <a:rPr lang="en-US" sz="2599" dirty="0">
                <a:solidFill>
                  <a:srgbClr val="000000"/>
                </a:solidFill>
                <a:latin typeface="TT Firs Neue"/>
                <a:ea typeface="TT Firs Neue"/>
                <a:cs typeface="TT Firs Neue"/>
                <a:sym typeface="TT Firs Neue"/>
              </a:rPr>
              <a:t> </a:t>
            </a:r>
            <a:r>
              <a:rPr lang="en-US" sz="2599" dirty="0" err="1">
                <a:solidFill>
                  <a:srgbClr val="000000"/>
                </a:solidFill>
                <a:latin typeface="TT Firs Neue"/>
                <a:ea typeface="TT Firs Neue"/>
                <a:cs typeface="TT Firs Neue"/>
                <a:sym typeface="TT Firs Neue"/>
              </a:rPr>
              <a:t>relatiilor</a:t>
            </a:r>
            <a:r>
              <a:rPr lang="en-US" sz="2599" dirty="0">
                <a:solidFill>
                  <a:srgbClr val="000000"/>
                </a:solidFill>
                <a:latin typeface="TT Firs Neue"/>
                <a:ea typeface="TT Firs Neue"/>
                <a:cs typeface="TT Firs Neue"/>
                <a:sym typeface="TT Firs Neue"/>
              </a:rPr>
              <a:t> </a:t>
            </a:r>
            <a:r>
              <a:rPr lang="en-US" sz="2599" dirty="0" err="1">
                <a:solidFill>
                  <a:srgbClr val="000000"/>
                </a:solidFill>
                <a:latin typeface="TT Firs Neue"/>
                <a:ea typeface="TT Firs Neue"/>
                <a:cs typeface="TT Firs Neue"/>
                <a:sym typeface="TT Firs Neue"/>
              </a:rPr>
              <a:t>sociale</a:t>
            </a:r>
            <a:endParaRPr lang="en-US" sz="2599" dirty="0">
              <a:solidFill>
                <a:srgbClr val="000000"/>
              </a:solidFill>
              <a:latin typeface="TT Firs Neue"/>
              <a:ea typeface="TT Firs Neue"/>
              <a:cs typeface="TT Firs Neue"/>
              <a:sym typeface="TT Firs Neue"/>
            </a:endParaRPr>
          </a:p>
          <a:p>
            <a:pPr marL="561336" lvl="1" indent="-280668" algn="just">
              <a:lnSpc>
                <a:spcPts val="3639"/>
              </a:lnSpc>
              <a:spcBef>
                <a:spcPct val="0"/>
              </a:spcBef>
              <a:buFont typeface="Arial"/>
              <a:buChar char="•"/>
            </a:pPr>
            <a:r>
              <a:rPr lang="en-US" sz="2599" dirty="0" err="1">
                <a:solidFill>
                  <a:srgbClr val="000000"/>
                </a:solidFill>
                <a:latin typeface="TT Firs Neue"/>
                <a:ea typeface="TT Firs Neue"/>
                <a:cs typeface="TT Firs Neue"/>
                <a:sym typeface="TT Firs Neue"/>
              </a:rPr>
              <a:t>monitorizarea</a:t>
            </a:r>
            <a:r>
              <a:rPr lang="en-US" sz="2599" dirty="0">
                <a:solidFill>
                  <a:srgbClr val="000000"/>
                </a:solidFill>
                <a:latin typeface="TT Firs Neue"/>
                <a:ea typeface="TT Firs Neue"/>
                <a:cs typeface="TT Firs Neue"/>
                <a:sym typeface="TT Firs Neue"/>
              </a:rPr>
              <a:t> </a:t>
            </a:r>
            <a:r>
              <a:rPr lang="en-US" sz="2599" dirty="0" err="1">
                <a:solidFill>
                  <a:srgbClr val="000000"/>
                </a:solidFill>
                <a:latin typeface="TT Firs Neue"/>
                <a:ea typeface="TT Firs Neue"/>
                <a:cs typeface="TT Firs Neue"/>
                <a:sym typeface="TT Firs Neue"/>
              </a:rPr>
              <a:t>activitătilor</a:t>
            </a:r>
            <a:endParaRPr lang="en-US" sz="2599" dirty="0">
              <a:solidFill>
                <a:srgbClr val="000000"/>
              </a:solidFill>
              <a:latin typeface="TT Firs Neue"/>
              <a:ea typeface="TT Firs Neue"/>
              <a:cs typeface="TT Firs Neue"/>
              <a:sym typeface="TT Firs Neue"/>
            </a:endParaRPr>
          </a:p>
          <a:p>
            <a:pPr algn="just">
              <a:lnSpc>
                <a:spcPts val="3639"/>
              </a:lnSpc>
              <a:spcBef>
                <a:spcPct val="0"/>
              </a:spcBef>
            </a:pPr>
            <a:endParaRPr lang="en-US" sz="2599" dirty="0">
              <a:solidFill>
                <a:srgbClr val="000000"/>
              </a:solidFill>
              <a:latin typeface="TT Firs Neue"/>
              <a:ea typeface="TT Firs Neue"/>
              <a:cs typeface="TT Firs Neue"/>
              <a:sym typeface="TT Firs Neue"/>
            </a:endParaRPr>
          </a:p>
          <a:p>
            <a:pPr algn="just">
              <a:lnSpc>
                <a:spcPts val="4899"/>
              </a:lnSpc>
              <a:spcBef>
                <a:spcPct val="0"/>
              </a:spcBef>
            </a:pPr>
            <a:r>
              <a:rPr lang="en-US" sz="3499" dirty="0">
                <a:solidFill>
                  <a:srgbClr val="000000"/>
                </a:solidFill>
                <a:latin typeface="TT Firs Neue"/>
                <a:ea typeface="TT Firs Neue"/>
                <a:cs typeface="TT Firs Neue"/>
                <a:sym typeface="TT Firs Neue"/>
              </a:rPr>
              <a:t>Impact </a:t>
            </a:r>
            <a:r>
              <a:rPr lang="en-US" sz="3499" dirty="0" err="1">
                <a:solidFill>
                  <a:srgbClr val="000000"/>
                </a:solidFill>
                <a:latin typeface="TT Firs Neue"/>
                <a:ea typeface="TT Firs Neue"/>
                <a:cs typeface="TT Firs Neue"/>
                <a:sym typeface="TT Firs Neue"/>
              </a:rPr>
              <a:t>asupra</a:t>
            </a:r>
            <a:r>
              <a:rPr lang="en-US" sz="3499" dirty="0">
                <a:solidFill>
                  <a:srgbClr val="000000"/>
                </a:solidFill>
                <a:latin typeface="TT Firs Neue"/>
                <a:ea typeface="TT Firs Neue"/>
                <a:cs typeface="TT Firs Neue"/>
                <a:sym typeface="TT Firs Neue"/>
              </a:rPr>
              <a:t> </a:t>
            </a:r>
            <a:r>
              <a:rPr lang="en-US" sz="3499" dirty="0" err="1">
                <a:solidFill>
                  <a:srgbClr val="000000"/>
                </a:solidFill>
                <a:latin typeface="TT Firs Neue"/>
                <a:ea typeface="TT Firs Neue"/>
                <a:cs typeface="TT Firs Neue"/>
                <a:sym typeface="TT Firs Neue"/>
              </a:rPr>
              <a:t>confidentialitatii</a:t>
            </a:r>
            <a:r>
              <a:rPr lang="en-US" sz="3499" dirty="0">
                <a:solidFill>
                  <a:srgbClr val="000000"/>
                </a:solidFill>
                <a:latin typeface="TT Firs Neue"/>
                <a:ea typeface="TT Firs Neue"/>
                <a:cs typeface="TT Firs Neue"/>
                <a:sym typeface="TT Firs Neue"/>
              </a:rPr>
              <a:t>:</a:t>
            </a:r>
          </a:p>
          <a:p>
            <a:pPr marL="561336" lvl="1" indent="-280668" algn="just">
              <a:lnSpc>
                <a:spcPts val="3639"/>
              </a:lnSpc>
              <a:spcBef>
                <a:spcPct val="0"/>
              </a:spcBef>
              <a:buFont typeface="Arial"/>
              <a:buChar char="•"/>
            </a:pPr>
            <a:r>
              <a:rPr lang="en-US" sz="2599" dirty="0" err="1">
                <a:solidFill>
                  <a:srgbClr val="000000"/>
                </a:solidFill>
                <a:latin typeface="TT Firs Neue"/>
                <a:ea typeface="TT Firs Neue"/>
                <a:cs typeface="TT Firs Neue"/>
                <a:sym typeface="TT Firs Neue"/>
              </a:rPr>
              <a:t>pierderea</a:t>
            </a:r>
            <a:r>
              <a:rPr lang="en-US" sz="2599" dirty="0">
                <a:solidFill>
                  <a:srgbClr val="000000"/>
                </a:solidFill>
                <a:latin typeface="TT Firs Neue"/>
                <a:ea typeface="TT Firs Neue"/>
                <a:cs typeface="TT Firs Neue"/>
                <a:sym typeface="TT Firs Neue"/>
              </a:rPr>
              <a:t> </a:t>
            </a:r>
            <a:r>
              <a:rPr lang="en-US" sz="2599" dirty="0" err="1">
                <a:solidFill>
                  <a:srgbClr val="000000"/>
                </a:solidFill>
                <a:latin typeface="TT Firs Neue"/>
                <a:ea typeface="TT Firs Neue"/>
                <a:cs typeface="TT Firs Neue"/>
                <a:sym typeface="TT Firs Neue"/>
              </a:rPr>
              <a:t>anonimitatii</a:t>
            </a:r>
            <a:endParaRPr lang="en-US" sz="2599" dirty="0">
              <a:solidFill>
                <a:srgbClr val="000000"/>
              </a:solidFill>
              <a:latin typeface="TT Firs Neue"/>
              <a:ea typeface="TT Firs Neue"/>
              <a:cs typeface="TT Firs Neue"/>
              <a:sym typeface="TT Firs Neue"/>
            </a:endParaRPr>
          </a:p>
          <a:p>
            <a:pPr marL="561336" lvl="1" indent="-280668" algn="just">
              <a:lnSpc>
                <a:spcPts val="3639"/>
              </a:lnSpc>
              <a:spcBef>
                <a:spcPct val="0"/>
              </a:spcBef>
              <a:buFont typeface="Arial"/>
              <a:buChar char="•"/>
            </a:pPr>
            <a:r>
              <a:rPr lang="en-US" sz="2599" dirty="0" err="1">
                <a:solidFill>
                  <a:srgbClr val="000000"/>
                </a:solidFill>
                <a:latin typeface="TT Firs Neue"/>
                <a:ea typeface="TT Firs Neue"/>
                <a:cs typeface="TT Firs Neue"/>
                <a:sym typeface="TT Firs Neue"/>
              </a:rPr>
              <a:t>supraveghere</a:t>
            </a:r>
            <a:r>
              <a:rPr lang="en-US" sz="2599" dirty="0">
                <a:solidFill>
                  <a:srgbClr val="000000"/>
                </a:solidFill>
                <a:latin typeface="TT Firs Neue"/>
                <a:ea typeface="TT Firs Neue"/>
                <a:cs typeface="TT Firs Neue"/>
                <a:sym typeface="TT Firs Neue"/>
              </a:rPr>
              <a:t> in masa</a:t>
            </a:r>
          </a:p>
          <a:p>
            <a:pPr marL="561336" lvl="1" indent="-280668" algn="just">
              <a:lnSpc>
                <a:spcPts val="3639"/>
              </a:lnSpc>
              <a:spcBef>
                <a:spcPct val="0"/>
              </a:spcBef>
              <a:buFont typeface="Arial"/>
              <a:buChar char="•"/>
            </a:pPr>
            <a:r>
              <a:rPr lang="en-US" sz="2599" dirty="0" err="1">
                <a:solidFill>
                  <a:srgbClr val="000000"/>
                </a:solidFill>
                <a:latin typeface="TT Firs Neue"/>
                <a:ea typeface="TT Firs Neue"/>
                <a:cs typeface="TT Firs Neue"/>
                <a:sym typeface="TT Firs Neue"/>
              </a:rPr>
              <a:t>expunerea</a:t>
            </a:r>
            <a:r>
              <a:rPr lang="en-US" sz="2599" dirty="0">
                <a:solidFill>
                  <a:srgbClr val="000000"/>
                </a:solidFill>
                <a:latin typeface="TT Firs Neue"/>
                <a:ea typeface="TT Firs Neue"/>
                <a:cs typeface="TT Firs Neue"/>
                <a:sym typeface="TT Firs Neue"/>
              </a:rPr>
              <a:t> </a:t>
            </a:r>
            <a:r>
              <a:rPr lang="en-US" sz="2599" dirty="0" err="1">
                <a:solidFill>
                  <a:srgbClr val="000000"/>
                </a:solidFill>
                <a:latin typeface="TT Firs Neue"/>
                <a:ea typeface="TT Firs Neue"/>
                <a:cs typeface="TT Firs Neue"/>
                <a:sym typeface="TT Firs Neue"/>
              </a:rPr>
              <a:t>comportamentului</a:t>
            </a:r>
            <a:r>
              <a:rPr lang="en-US" sz="2599" dirty="0">
                <a:solidFill>
                  <a:srgbClr val="000000"/>
                </a:solidFill>
                <a:latin typeface="TT Firs Neue"/>
                <a:ea typeface="TT Firs Neue"/>
                <a:cs typeface="TT Firs Neue"/>
                <a:sym typeface="TT Firs Neue"/>
              </a:rPr>
              <a:t> personal</a:t>
            </a:r>
          </a:p>
          <a:p>
            <a:pPr algn="just">
              <a:lnSpc>
                <a:spcPts val="3639"/>
              </a:lnSpc>
              <a:spcBef>
                <a:spcPct val="0"/>
              </a:spcBef>
            </a:pPr>
            <a:endParaRPr lang="en-US" sz="2599" dirty="0">
              <a:solidFill>
                <a:srgbClr val="000000"/>
              </a:solidFill>
              <a:latin typeface="TT Firs Neue"/>
              <a:ea typeface="TT Firs Neue"/>
              <a:cs typeface="TT Firs Neue"/>
              <a:sym typeface="TT Firs Neue"/>
            </a:endParaRPr>
          </a:p>
          <a:p>
            <a:pPr algn="just">
              <a:lnSpc>
                <a:spcPts val="3639"/>
              </a:lnSpc>
              <a:spcBef>
                <a:spcPct val="0"/>
              </a:spcBef>
            </a:pPr>
            <a:r>
              <a:rPr lang="en-US" sz="2599" dirty="0" err="1">
                <a:solidFill>
                  <a:srgbClr val="000000"/>
                </a:solidFill>
                <a:latin typeface="TT Firs Neue"/>
                <a:ea typeface="TT Firs Neue"/>
                <a:cs typeface="TT Firs Neue"/>
                <a:sym typeface="TT Firs Neue"/>
              </a:rPr>
              <a:t>Uneori</a:t>
            </a:r>
            <a:r>
              <a:rPr lang="en-US" sz="2599" dirty="0">
                <a:solidFill>
                  <a:srgbClr val="000000"/>
                </a:solidFill>
                <a:latin typeface="TT Firs Neue"/>
                <a:ea typeface="TT Firs Neue"/>
                <a:cs typeface="TT Firs Neue"/>
                <a:sym typeface="TT Firs Neue"/>
              </a:rPr>
              <a:t>, </a:t>
            </a:r>
            <a:r>
              <a:rPr lang="en-US" sz="2599" dirty="0" err="1">
                <a:solidFill>
                  <a:srgbClr val="000000"/>
                </a:solidFill>
                <a:latin typeface="TT Firs Neue"/>
                <a:ea typeface="TT Firs Neue"/>
                <a:cs typeface="TT Firs Neue"/>
                <a:sym typeface="TT Firs Neue"/>
              </a:rPr>
              <a:t>metadatele</a:t>
            </a:r>
            <a:r>
              <a:rPr lang="en-US" sz="2599" dirty="0">
                <a:solidFill>
                  <a:srgbClr val="000000"/>
                </a:solidFill>
                <a:latin typeface="TT Firs Neue"/>
                <a:ea typeface="TT Firs Neue"/>
                <a:cs typeface="TT Firs Neue"/>
                <a:sym typeface="TT Firs Neue"/>
              </a:rPr>
              <a:t> pot fi </a:t>
            </a:r>
            <a:r>
              <a:rPr lang="en-US" sz="2599" dirty="0" err="1">
                <a:solidFill>
                  <a:srgbClr val="000000"/>
                </a:solidFill>
                <a:latin typeface="TT Firs Neue"/>
                <a:ea typeface="TT Firs Neue"/>
                <a:cs typeface="TT Firs Neue"/>
                <a:sym typeface="TT Firs Neue"/>
              </a:rPr>
              <a:t>mai</a:t>
            </a:r>
            <a:r>
              <a:rPr lang="en-US" sz="2599" dirty="0">
                <a:solidFill>
                  <a:srgbClr val="000000"/>
                </a:solidFill>
                <a:latin typeface="TT Firs Neue"/>
                <a:ea typeface="TT Firs Neue"/>
                <a:cs typeface="TT Firs Neue"/>
                <a:sym typeface="TT Firs Neue"/>
              </a:rPr>
              <a:t> </a:t>
            </a:r>
            <a:r>
              <a:rPr lang="en-US" sz="2599" dirty="0" err="1">
                <a:solidFill>
                  <a:srgbClr val="000000"/>
                </a:solidFill>
                <a:latin typeface="TT Firs Neue"/>
                <a:ea typeface="TT Firs Neue"/>
                <a:cs typeface="TT Firs Neue"/>
                <a:sym typeface="TT Firs Neue"/>
              </a:rPr>
              <a:t>valoroase</a:t>
            </a:r>
            <a:r>
              <a:rPr lang="en-US" sz="2599" dirty="0">
                <a:solidFill>
                  <a:srgbClr val="000000"/>
                </a:solidFill>
                <a:latin typeface="TT Firs Neue"/>
                <a:ea typeface="TT Firs Neue"/>
                <a:cs typeface="TT Firs Neue"/>
                <a:sym typeface="TT Firs Neue"/>
              </a:rPr>
              <a:t> </a:t>
            </a:r>
            <a:r>
              <a:rPr lang="en-US" sz="2599" dirty="0" err="1">
                <a:solidFill>
                  <a:srgbClr val="000000"/>
                </a:solidFill>
                <a:latin typeface="TT Firs Neue"/>
                <a:ea typeface="TT Firs Neue"/>
                <a:cs typeface="TT Firs Neue"/>
                <a:sym typeface="TT Firs Neue"/>
              </a:rPr>
              <a:t>decat</a:t>
            </a:r>
            <a:r>
              <a:rPr lang="en-US" sz="2599" dirty="0">
                <a:solidFill>
                  <a:srgbClr val="000000"/>
                </a:solidFill>
                <a:latin typeface="TT Firs Neue"/>
                <a:ea typeface="TT Firs Neue"/>
                <a:cs typeface="TT Firs Neue"/>
                <a:sym typeface="TT Firs Neue"/>
              </a:rPr>
              <a:t> </a:t>
            </a:r>
            <a:r>
              <a:rPr lang="en-US" sz="2599" dirty="0" err="1">
                <a:solidFill>
                  <a:srgbClr val="000000"/>
                </a:solidFill>
                <a:latin typeface="TT Firs Neue"/>
                <a:ea typeface="TT Firs Neue"/>
                <a:cs typeface="TT Firs Neue"/>
                <a:sym typeface="TT Firs Neue"/>
              </a:rPr>
              <a:t>continutul</a:t>
            </a:r>
            <a:r>
              <a:rPr lang="en-US" sz="2599" dirty="0">
                <a:solidFill>
                  <a:srgbClr val="000000"/>
                </a:solidFill>
                <a:latin typeface="TT Firs Neue"/>
                <a:ea typeface="TT Firs Neue"/>
                <a:cs typeface="TT Firs Neue"/>
                <a:sym typeface="TT Firs Neue"/>
              </a:rPr>
              <a:t> </a:t>
            </a:r>
            <a:r>
              <a:rPr lang="en-US" sz="2599" dirty="0" err="1">
                <a:solidFill>
                  <a:srgbClr val="000000"/>
                </a:solidFill>
                <a:latin typeface="TT Firs Neue"/>
                <a:ea typeface="TT Firs Neue"/>
                <a:cs typeface="TT Firs Neue"/>
                <a:sym typeface="TT Firs Neue"/>
              </a:rPr>
              <a:t>mesajelor</a:t>
            </a:r>
            <a:r>
              <a:rPr lang="en-US" sz="2599" dirty="0">
                <a:solidFill>
                  <a:srgbClr val="000000"/>
                </a:solidFill>
                <a:latin typeface="TT Firs Neue"/>
                <a:ea typeface="TT Firs Neue"/>
                <a:cs typeface="TT Firs Neue"/>
                <a:sym typeface="TT Firs Neue"/>
              </a:rPr>
              <a:t>.</a:t>
            </a:r>
          </a:p>
          <a:p>
            <a:pPr algn="just">
              <a:lnSpc>
                <a:spcPts val="3639"/>
              </a:lnSpc>
              <a:spcBef>
                <a:spcPct val="0"/>
              </a:spcBef>
            </a:pPr>
            <a:endParaRPr lang="en-US" sz="2599" dirty="0">
              <a:solidFill>
                <a:srgbClr val="000000"/>
              </a:solidFill>
              <a:latin typeface="TT Firs Neue"/>
              <a:ea typeface="TT Firs Neue"/>
              <a:cs typeface="TT Firs Neue"/>
              <a:sym typeface="TT Firs Neue"/>
            </a:endParaRPr>
          </a:p>
        </p:txBody>
      </p:sp>
      <p:sp>
        <p:nvSpPr>
          <p:cNvPr id="4" name="TextBox 4"/>
          <p:cNvSpPr txBox="1"/>
          <p:nvPr/>
        </p:nvSpPr>
        <p:spPr>
          <a:xfrm>
            <a:off x="0" y="914400"/>
            <a:ext cx="11298979" cy="1036835"/>
          </a:xfrm>
          <a:prstGeom prst="rect">
            <a:avLst/>
          </a:prstGeom>
        </p:spPr>
        <p:txBody>
          <a:bodyPr lIns="0" tIns="0" rIns="0" bIns="0" rtlCol="0" anchor="t">
            <a:spAutoFit/>
          </a:bodyPr>
          <a:lstStyle/>
          <a:p>
            <a:pPr algn="ctr">
              <a:lnSpc>
                <a:spcPts val="8517"/>
              </a:lnSpc>
            </a:pPr>
            <a:r>
              <a:rPr lang="en-US" sz="6083" b="1">
                <a:solidFill>
                  <a:srgbClr val="000000"/>
                </a:solidFill>
                <a:latin typeface="Canva Sans Bold"/>
                <a:ea typeface="Canva Sans Bold"/>
                <a:cs typeface="Canva Sans Bold"/>
                <a:sym typeface="Canva Sans Bold"/>
              </a:rPr>
              <a:t>De ce sunt periculoase?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sp>
        <p:nvSpPr>
          <p:cNvPr id="2" name="Freeform 2"/>
          <p:cNvSpPr/>
          <p:nvPr/>
        </p:nvSpPr>
        <p:spPr>
          <a:xfrm>
            <a:off x="11280768" y="3808235"/>
            <a:ext cx="5643891" cy="4176480"/>
          </a:xfrm>
          <a:custGeom>
            <a:avLst/>
            <a:gdLst/>
            <a:ahLst/>
            <a:cxnLst/>
            <a:rect l="l" t="t" r="r" b="b"/>
            <a:pathLst>
              <a:path w="5643891" h="4176480">
                <a:moveTo>
                  <a:pt x="0" y="0"/>
                </a:moveTo>
                <a:lnTo>
                  <a:pt x="5643892" y="0"/>
                </a:lnTo>
                <a:lnTo>
                  <a:pt x="5643892" y="4176480"/>
                </a:lnTo>
                <a:lnTo>
                  <a:pt x="0" y="4176480"/>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3" name="Freeform 3"/>
          <p:cNvSpPr/>
          <p:nvPr/>
        </p:nvSpPr>
        <p:spPr>
          <a:xfrm>
            <a:off x="9932348" y="4835985"/>
            <a:ext cx="2696841" cy="2696841"/>
          </a:xfrm>
          <a:custGeom>
            <a:avLst/>
            <a:gdLst/>
            <a:ahLst/>
            <a:cxnLst/>
            <a:rect l="l" t="t" r="r" b="b"/>
            <a:pathLst>
              <a:path w="2696841" h="2696841">
                <a:moveTo>
                  <a:pt x="0" y="0"/>
                </a:moveTo>
                <a:lnTo>
                  <a:pt x="2696840" y="0"/>
                </a:lnTo>
                <a:lnTo>
                  <a:pt x="2696840" y="2696841"/>
                </a:lnTo>
                <a:lnTo>
                  <a:pt x="0" y="2696841"/>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Freeform 4"/>
          <p:cNvSpPr/>
          <p:nvPr/>
        </p:nvSpPr>
        <p:spPr>
          <a:xfrm>
            <a:off x="15232281" y="2779535"/>
            <a:ext cx="2592336" cy="2592336"/>
          </a:xfrm>
          <a:custGeom>
            <a:avLst/>
            <a:gdLst/>
            <a:ahLst/>
            <a:cxnLst/>
            <a:rect l="l" t="t" r="r" b="b"/>
            <a:pathLst>
              <a:path w="2592336" h="2592336">
                <a:moveTo>
                  <a:pt x="0" y="0"/>
                </a:moveTo>
                <a:lnTo>
                  <a:pt x="2592336" y="0"/>
                </a:lnTo>
                <a:lnTo>
                  <a:pt x="2592336" y="2592336"/>
                </a:lnTo>
                <a:lnTo>
                  <a:pt x="0" y="2592336"/>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5" name="Freeform 5"/>
          <p:cNvSpPr/>
          <p:nvPr/>
        </p:nvSpPr>
        <p:spPr>
          <a:xfrm>
            <a:off x="15335494" y="6764625"/>
            <a:ext cx="2059803" cy="2044823"/>
          </a:xfrm>
          <a:custGeom>
            <a:avLst/>
            <a:gdLst/>
            <a:ahLst/>
            <a:cxnLst/>
            <a:rect l="l" t="t" r="r" b="b"/>
            <a:pathLst>
              <a:path w="2059803" h="2044823">
                <a:moveTo>
                  <a:pt x="0" y="0"/>
                </a:moveTo>
                <a:lnTo>
                  <a:pt x="2059804" y="0"/>
                </a:lnTo>
                <a:lnTo>
                  <a:pt x="2059804" y="2044823"/>
                </a:lnTo>
                <a:lnTo>
                  <a:pt x="0" y="2044823"/>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6" name="Freeform 6"/>
          <p:cNvSpPr/>
          <p:nvPr/>
        </p:nvSpPr>
        <p:spPr>
          <a:xfrm flipH="1">
            <a:off x="13090922" y="8809448"/>
            <a:ext cx="7315200" cy="1064029"/>
          </a:xfrm>
          <a:custGeom>
            <a:avLst/>
            <a:gdLst/>
            <a:ahLst/>
            <a:cxnLst/>
            <a:rect l="l" t="t" r="r" b="b"/>
            <a:pathLst>
              <a:path w="7315200" h="1064029">
                <a:moveTo>
                  <a:pt x="7315200" y="0"/>
                </a:moveTo>
                <a:lnTo>
                  <a:pt x="0" y="0"/>
                </a:lnTo>
                <a:lnTo>
                  <a:pt x="0" y="1064029"/>
                </a:lnTo>
                <a:lnTo>
                  <a:pt x="7315200" y="1064029"/>
                </a:lnTo>
                <a:lnTo>
                  <a:pt x="731520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flipH="1">
            <a:off x="-2118122" y="413523"/>
            <a:ext cx="7315200" cy="1064029"/>
          </a:xfrm>
          <a:custGeom>
            <a:avLst/>
            <a:gdLst/>
            <a:ahLst/>
            <a:cxnLst/>
            <a:rect l="l" t="t" r="r" b="b"/>
            <a:pathLst>
              <a:path w="7315200" h="1064029">
                <a:moveTo>
                  <a:pt x="7315200" y="0"/>
                </a:moveTo>
                <a:lnTo>
                  <a:pt x="0" y="0"/>
                </a:lnTo>
                <a:lnTo>
                  <a:pt x="0" y="1064029"/>
                </a:lnTo>
                <a:lnTo>
                  <a:pt x="7315200" y="1064029"/>
                </a:lnTo>
                <a:lnTo>
                  <a:pt x="7315200" y="0"/>
                </a:lnTo>
                <a:close/>
              </a:path>
            </a:pathLst>
          </a:custGeom>
          <a:blipFill>
            <a:blip>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8" name="TextBox 8"/>
          <p:cNvSpPr txBox="1"/>
          <p:nvPr/>
        </p:nvSpPr>
        <p:spPr>
          <a:xfrm>
            <a:off x="590724" y="1658527"/>
            <a:ext cx="12813773" cy="801392"/>
          </a:xfrm>
          <a:prstGeom prst="rect">
            <a:avLst/>
          </a:prstGeom>
        </p:spPr>
        <p:txBody>
          <a:bodyPr lIns="0" tIns="0" rIns="0" bIns="0" rtlCol="0" anchor="t">
            <a:spAutoFit/>
          </a:bodyPr>
          <a:lstStyle/>
          <a:p>
            <a:pPr algn="l">
              <a:lnSpc>
                <a:spcPts val="5915"/>
              </a:lnSpc>
            </a:pPr>
            <a:r>
              <a:rPr lang="en-US" sz="6500" b="1">
                <a:solidFill>
                  <a:srgbClr val="011142"/>
                </a:solidFill>
                <a:latin typeface="TT Firs Neue Bold"/>
                <a:ea typeface="TT Firs Neue Bold"/>
                <a:cs typeface="TT Firs Neue Bold"/>
                <a:sym typeface="TT Firs Neue Bold"/>
              </a:rPr>
              <a:t>Solutii si metode de protectie</a:t>
            </a:r>
          </a:p>
        </p:txBody>
      </p:sp>
      <p:sp>
        <p:nvSpPr>
          <p:cNvPr id="9" name="TextBox 9"/>
          <p:cNvSpPr txBox="1"/>
          <p:nvPr/>
        </p:nvSpPr>
        <p:spPr>
          <a:xfrm>
            <a:off x="338448" y="2722385"/>
            <a:ext cx="9717260" cy="6866890"/>
          </a:xfrm>
          <a:prstGeom prst="rect">
            <a:avLst/>
          </a:prstGeom>
        </p:spPr>
        <p:txBody>
          <a:bodyPr lIns="0" tIns="0" rIns="0" bIns="0" rtlCol="0" anchor="t">
            <a:spAutoFit/>
          </a:bodyPr>
          <a:lstStyle/>
          <a:p>
            <a:pPr algn="l">
              <a:lnSpc>
                <a:spcPts val="3919"/>
              </a:lnSpc>
            </a:pPr>
            <a:r>
              <a:rPr lang="en-US" sz="2799" b="1">
                <a:solidFill>
                  <a:srgbClr val="011142"/>
                </a:solidFill>
                <a:latin typeface="TT Firs Neue Bold"/>
                <a:ea typeface="TT Firs Neue Bold"/>
                <a:cs typeface="TT Firs Neue Bold"/>
                <a:sym typeface="TT Firs Neue Bold"/>
              </a:rPr>
              <a:t> VPN - </a:t>
            </a:r>
            <a:r>
              <a:rPr lang="en-US" sz="2799">
                <a:solidFill>
                  <a:srgbClr val="011142"/>
                </a:solidFill>
                <a:latin typeface="TT Firs Neue"/>
                <a:ea typeface="TT Firs Neue"/>
                <a:cs typeface="TT Firs Neue"/>
                <a:sym typeface="TT Firs Neue"/>
              </a:rPr>
              <a:t>Ascunde partial traficul fata de furnizorul de internet.</a:t>
            </a:r>
          </a:p>
          <a:p>
            <a:pPr algn="l">
              <a:lnSpc>
                <a:spcPts val="3919"/>
              </a:lnSpc>
            </a:pPr>
            <a:endParaRPr lang="en-US" sz="2799">
              <a:solidFill>
                <a:srgbClr val="011142"/>
              </a:solidFill>
              <a:latin typeface="TT Firs Neue"/>
              <a:ea typeface="TT Firs Neue"/>
              <a:cs typeface="TT Firs Neue"/>
              <a:sym typeface="TT Firs Neue"/>
            </a:endParaRPr>
          </a:p>
          <a:p>
            <a:pPr algn="l">
              <a:lnSpc>
                <a:spcPts val="3919"/>
              </a:lnSpc>
            </a:pPr>
            <a:r>
              <a:rPr lang="en-US" sz="2799" b="1">
                <a:solidFill>
                  <a:srgbClr val="011142"/>
                </a:solidFill>
                <a:latin typeface="TT Firs Neue Bold"/>
                <a:ea typeface="TT Firs Neue Bold"/>
                <a:cs typeface="TT Firs Neue Bold"/>
                <a:sym typeface="TT Firs Neue Bold"/>
              </a:rPr>
              <a:t>Reteaua Tor - </a:t>
            </a:r>
            <a:r>
              <a:rPr lang="en-US" sz="2799">
                <a:solidFill>
                  <a:srgbClr val="011142"/>
                </a:solidFill>
                <a:latin typeface="TT Firs Neue"/>
                <a:ea typeface="TT Firs Neue"/>
                <a:cs typeface="TT Firs Neue"/>
                <a:sym typeface="TT Firs Neue"/>
              </a:rPr>
              <a:t>Redirectioneaza traficul prin mai multe noduri pentru cresterea anonimitatii.</a:t>
            </a:r>
          </a:p>
          <a:p>
            <a:pPr algn="l">
              <a:lnSpc>
                <a:spcPts val="3919"/>
              </a:lnSpc>
            </a:pPr>
            <a:endParaRPr lang="en-US" sz="2799">
              <a:solidFill>
                <a:srgbClr val="011142"/>
              </a:solidFill>
              <a:latin typeface="TT Firs Neue"/>
              <a:ea typeface="TT Firs Neue"/>
              <a:cs typeface="TT Firs Neue"/>
              <a:sym typeface="TT Firs Neue"/>
            </a:endParaRPr>
          </a:p>
          <a:p>
            <a:pPr algn="l">
              <a:lnSpc>
                <a:spcPts val="3919"/>
              </a:lnSpc>
            </a:pPr>
            <a:r>
              <a:rPr lang="en-US" sz="2799" b="1">
                <a:solidFill>
                  <a:srgbClr val="011142"/>
                </a:solidFill>
                <a:latin typeface="TT Firs Neue Bold"/>
                <a:ea typeface="TT Firs Neue Bold"/>
                <a:cs typeface="TT Firs Neue Bold"/>
                <a:sym typeface="TT Firs Neue Bold"/>
              </a:rPr>
              <a:t>Mix Networks - </a:t>
            </a:r>
            <a:r>
              <a:rPr lang="en-US" sz="2799">
                <a:solidFill>
                  <a:srgbClr val="011142"/>
                </a:solidFill>
                <a:latin typeface="TT Firs Neue"/>
                <a:ea typeface="TT Firs Neue"/>
                <a:cs typeface="TT Firs Neue"/>
                <a:sym typeface="TT Firs Neue"/>
              </a:rPr>
              <a:t>Amesteca traficul utilizatorilor pentru reducerea corelarii conexiunilor.</a:t>
            </a:r>
          </a:p>
          <a:p>
            <a:pPr algn="l">
              <a:lnSpc>
                <a:spcPts val="3919"/>
              </a:lnSpc>
            </a:pPr>
            <a:endParaRPr lang="en-US" sz="2799">
              <a:solidFill>
                <a:srgbClr val="011142"/>
              </a:solidFill>
              <a:latin typeface="TT Firs Neue"/>
              <a:ea typeface="TT Firs Neue"/>
              <a:cs typeface="TT Firs Neue"/>
              <a:sym typeface="TT Firs Neue"/>
            </a:endParaRPr>
          </a:p>
          <a:p>
            <a:pPr algn="l">
              <a:lnSpc>
                <a:spcPts val="3919"/>
              </a:lnSpc>
            </a:pPr>
            <a:r>
              <a:rPr lang="en-US" sz="2799" b="1">
                <a:solidFill>
                  <a:srgbClr val="011142"/>
                </a:solidFill>
                <a:latin typeface="TT Firs Neue Bold"/>
                <a:ea typeface="TT Firs Neue Bold"/>
                <a:cs typeface="TT Firs Neue Bold"/>
                <a:sym typeface="TT Firs Neue Bold"/>
              </a:rPr>
              <a:t>Minimizarea colectarii datelor - </a:t>
            </a:r>
            <a:r>
              <a:rPr lang="en-US" sz="2799">
                <a:solidFill>
                  <a:srgbClr val="011142"/>
                </a:solidFill>
                <a:latin typeface="TT Firs Neue"/>
                <a:ea typeface="TT Firs Neue"/>
                <a:cs typeface="TT Firs Neue"/>
                <a:sym typeface="TT Firs Neue"/>
              </a:rPr>
              <a:t>Aplicatiile moderne incearca sa reduca informatiile stocate.</a:t>
            </a:r>
          </a:p>
          <a:p>
            <a:pPr algn="l">
              <a:lnSpc>
                <a:spcPts val="3919"/>
              </a:lnSpc>
            </a:pPr>
            <a:endParaRPr lang="en-US" sz="2799">
              <a:solidFill>
                <a:srgbClr val="011142"/>
              </a:solidFill>
              <a:latin typeface="TT Firs Neue"/>
              <a:ea typeface="TT Firs Neue"/>
              <a:cs typeface="TT Firs Neue"/>
              <a:sym typeface="TT Firs Neue"/>
            </a:endParaRPr>
          </a:p>
          <a:p>
            <a:pPr algn="l">
              <a:lnSpc>
                <a:spcPts val="3919"/>
              </a:lnSpc>
            </a:pPr>
            <a:r>
              <a:rPr lang="en-US" sz="2799">
                <a:solidFill>
                  <a:srgbClr val="011142"/>
                </a:solidFill>
                <a:latin typeface="TT Firs Neue"/>
                <a:ea typeface="TT Firs Neue"/>
                <a:cs typeface="TT Firs Neue"/>
                <a:sym typeface="TT Firs Neue"/>
              </a:rPr>
              <a:t>Eliminarea completa a metadatelor este foarte dificila.</a:t>
            </a:r>
          </a:p>
          <a:p>
            <a:pPr algn="l">
              <a:lnSpc>
                <a:spcPts val="3499"/>
              </a:lnSpc>
            </a:pPr>
            <a:endParaRPr lang="en-US" sz="2799">
              <a:solidFill>
                <a:srgbClr val="011142"/>
              </a:solidFill>
              <a:latin typeface="TT Firs Neue"/>
              <a:ea typeface="TT Firs Neue"/>
              <a:cs typeface="TT Firs Neue"/>
              <a:sym typeface="TT Firs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grpSp>
        <p:nvGrpSpPr>
          <p:cNvPr id="2" name="Group 2"/>
          <p:cNvGrpSpPr/>
          <p:nvPr/>
        </p:nvGrpSpPr>
        <p:grpSpPr>
          <a:xfrm>
            <a:off x="339234" y="2090948"/>
            <a:ext cx="11687690" cy="6356791"/>
            <a:chOff x="0" y="0"/>
            <a:chExt cx="3078239" cy="1674217"/>
          </a:xfrm>
        </p:grpSpPr>
        <p:sp>
          <p:nvSpPr>
            <p:cNvPr id="3" name="Freeform 3"/>
            <p:cNvSpPr/>
            <p:nvPr/>
          </p:nvSpPr>
          <p:spPr>
            <a:xfrm>
              <a:off x="0" y="0"/>
              <a:ext cx="3078239" cy="1674217"/>
            </a:xfrm>
            <a:custGeom>
              <a:avLst/>
              <a:gdLst/>
              <a:ahLst/>
              <a:cxnLst/>
              <a:rect l="l" t="t" r="r" b="b"/>
              <a:pathLst>
                <a:path w="3078239" h="1674217">
                  <a:moveTo>
                    <a:pt x="33782" y="0"/>
                  </a:moveTo>
                  <a:lnTo>
                    <a:pt x="3044457" y="0"/>
                  </a:lnTo>
                  <a:cubicBezTo>
                    <a:pt x="3053417" y="0"/>
                    <a:pt x="3062009" y="3559"/>
                    <a:pt x="3068345" y="9895"/>
                  </a:cubicBezTo>
                  <a:cubicBezTo>
                    <a:pt x="3074680" y="16230"/>
                    <a:pt x="3078239" y="24823"/>
                    <a:pt x="3078239" y="33782"/>
                  </a:cubicBezTo>
                  <a:lnTo>
                    <a:pt x="3078239" y="1640434"/>
                  </a:lnTo>
                  <a:cubicBezTo>
                    <a:pt x="3078239" y="1659092"/>
                    <a:pt x="3063115" y="1674217"/>
                    <a:pt x="3044457" y="1674217"/>
                  </a:cubicBezTo>
                  <a:lnTo>
                    <a:pt x="33782" y="1674217"/>
                  </a:lnTo>
                  <a:cubicBezTo>
                    <a:pt x="24823" y="1674217"/>
                    <a:pt x="16230" y="1670657"/>
                    <a:pt x="9895" y="1664322"/>
                  </a:cubicBezTo>
                  <a:cubicBezTo>
                    <a:pt x="3559" y="1657987"/>
                    <a:pt x="0" y="1649394"/>
                    <a:pt x="0" y="1640434"/>
                  </a:cubicBezTo>
                  <a:lnTo>
                    <a:pt x="0" y="33782"/>
                  </a:lnTo>
                  <a:cubicBezTo>
                    <a:pt x="0" y="24823"/>
                    <a:pt x="3559" y="16230"/>
                    <a:pt x="9895" y="9895"/>
                  </a:cubicBezTo>
                  <a:cubicBezTo>
                    <a:pt x="16230" y="3559"/>
                    <a:pt x="24823" y="0"/>
                    <a:pt x="33782" y="0"/>
                  </a:cubicBezTo>
                  <a:close/>
                </a:path>
              </a:pathLst>
            </a:custGeom>
            <a:solidFill>
              <a:srgbClr val="F1F2F6"/>
            </a:solidFill>
            <a:ln w="19050" cap="rnd">
              <a:solidFill>
                <a:srgbClr val="011142"/>
              </a:solidFill>
              <a:prstDash val="solid"/>
              <a:round/>
            </a:ln>
          </p:spPr>
          <p:txBody>
            <a:bodyPr/>
            <a:lstStyle/>
            <a:p>
              <a:endParaRPr lang="en-US"/>
            </a:p>
          </p:txBody>
        </p:sp>
        <p:sp>
          <p:nvSpPr>
            <p:cNvPr id="4" name="TextBox 4"/>
            <p:cNvSpPr txBox="1"/>
            <p:nvPr/>
          </p:nvSpPr>
          <p:spPr>
            <a:xfrm>
              <a:off x="0" y="-28575"/>
              <a:ext cx="3078239" cy="17027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1400595" y="1930376"/>
            <a:ext cx="5502605" cy="7327924"/>
          </a:xfrm>
          <a:custGeom>
            <a:avLst/>
            <a:gdLst/>
            <a:ahLst/>
            <a:cxnLst/>
            <a:rect l="l" t="t" r="r" b="b"/>
            <a:pathLst>
              <a:path w="5502605" h="7327924">
                <a:moveTo>
                  <a:pt x="0" y="0"/>
                </a:moveTo>
                <a:lnTo>
                  <a:pt x="5502605" y="0"/>
                </a:lnTo>
                <a:lnTo>
                  <a:pt x="5502605" y="7327924"/>
                </a:lnTo>
                <a:lnTo>
                  <a:pt x="0" y="7327924"/>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grpSp>
        <p:nvGrpSpPr>
          <p:cNvPr id="6" name="Group 6"/>
          <p:cNvGrpSpPr/>
          <p:nvPr/>
        </p:nvGrpSpPr>
        <p:grpSpPr>
          <a:xfrm>
            <a:off x="13764948" y="3392449"/>
            <a:ext cx="1903989" cy="3117623"/>
            <a:chOff x="0" y="0"/>
            <a:chExt cx="501462" cy="821102"/>
          </a:xfrm>
        </p:grpSpPr>
        <p:sp>
          <p:nvSpPr>
            <p:cNvPr id="7" name="Freeform 7"/>
            <p:cNvSpPr/>
            <p:nvPr/>
          </p:nvSpPr>
          <p:spPr>
            <a:xfrm>
              <a:off x="0" y="0"/>
              <a:ext cx="501462" cy="821102"/>
            </a:xfrm>
            <a:custGeom>
              <a:avLst/>
              <a:gdLst/>
              <a:ahLst/>
              <a:cxnLst/>
              <a:rect l="l" t="t" r="r" b="b"/>
              <a:pathLst>
                <a:path w="501462" h="821102">
                  <a:moveTo>
                    <a:pt x="0" y="0"/>
                  </a:moveTo>
                  <a:lnTo>
                    <a:pt x="501462" y="0"/>
                  </a:lnTo>
                  <a:lnTo>
                    <a:pt x="501462" y="821102"/>
                  </a:lnTo>
                  <a:lnTo>
                    <a:pt x="0" y="821102"/>
                  </a:lnTo>
                  <a:close/>
                </a:path>
              </a:pathLst>
            </a:custGeom>
            <a:solidFill>
              <a:srgbClr val="F1F2F6"/>
            </a:solidFill>
          </p:spPr>
          <p:txBody>
            <a:bodyPr/>
            <a:lstStyle/>
            <a:p>
              <a:endParaRPr lang="en-US"/>
            </a:p>
          </p:txBody>
        </p:sp>
        <p:sp>
          <p:nvSpPr>
            <p:cNvPr id="8" name="TextBox 8"/>
            <p:cNvSpPr txBox="1"/>
            <p:nvPr/>
          </p:nvSpPr>
          <p:spPr>
            <a:xfrm>
              <a:off x="0" y="-28575"/>
              <a:ext cx="501462" cy="849677"/>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3605590" y="3624049"/>
            <a:ext cx="1937726" cy="1937726"/>
          </a:xfrm>
          <a:custGeom>
            <a:avLst/>
            <a:gdLst/>
            <a:ahLst/>
            <a:cxnLst/>
            <a:rect l="l" t="t" r="r" b="b"/>
            <a:pathLst>
              <a:path w="1937726" h="1937726">
                <a:moveTo>
                  <a:pt x="0" y="0"/>
                </a:moveTo>
                <a:lnTo>
                  <a:pt x="1937727" y="0"/>
                </a:lnTo>
                <a:lnTo>
                  <a:pt x="1937727" y="1937726"/>
                </a:lnTo>
                <a:lnTo>
                  <a:pt x="0" y="19377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10"/>
          <p:cNvSpPr txBox="1"/>
          <p:nvPr/>
        </p:nvSpPr>
        <p:spPr>
          <a:xfrm>
            <a:off x="2638654" y="2822657"/>
            <a:ext cx="7088850" cy="801392"/>
          </a:xfrm>
          <a:prstGeom prst="rect">
            <a:avLst/>
          </a:prstGeom>
        </p:spPr>
        <p:txBody>
          <a:bodyPr lIns="0" tIns="0" rIns="0" bIns="0" rtlCol="0" anchor="t">
            <a:spAutoFit/>
          </a:bodyPr>
          <a:lstStyle/>
          <a:p>
            <a:pPr algn="ctr">
              <a:lnSpc>
                <a:spcPts val="5915"/>
              </a:lnSpc>
            </a:pPr>
            <a:r>
              <a:rPr lang="en-US" sz="6500" b="1">
                <a:solidFill>
                  <a:srgbClr val="011142"/>
                </a:solidFill>
                <a:latin typeface="TT Firs Neue Bold"/>
                <a:ea typeface="TT Firs Neue Bold"/>
                <a:cs typeface="TT Firs Neue Bold"/>
                <a:sym typeface="TT Firs Neue Bold"/>
              </a:rPr>
              <a:t>Concluzii</a:t>
            </a:r>
          </a:p>
        </p:txBody>
      </p:sp>
      <p:sp>
        <p:nvSpPr>
          <p:cNvPr id="11" name="TextBox 11"/>
          <p:cNvSpPr txBox="1"/>
          <p:nvPr/>
        </p:nvSpPr>
        <p:spPr>
          <a:xfrm>
            <a:off x="511601" y="4017455"/>
            <a:ext cx="11342958" cy="1544320"/>
          </a:xfrm>
          <a:prstGeom prst="rect">
            <a:avLst/>
          </a:prstGeom>
        </p:spPr>
        <p:txBody>
          <a:bodyPr lIns="0" tIns="0" rIns="0" bIns="0" rtlCol="0" anchor="t">
            <a:spAutoFit/>
          </a:bodyPr>
          <a:lstStyle/>
          <a:p>
            <a:pPr algn="l">
              <a:lnSpc>
                <a:spcPts val="3079"/>
              </a:lnSpc>
            </a:pPr>
            <a:r>
              <a:rPr lang="en-US" sz="2199">
                <a:solidFill>
                  <a:srgbClr val="011142"/>
                </a:solidFill>
                <a:latin typeface="TT Firs Neue"/>
                <a:ea typeface="TT Firs Neue"/>
                <a:cs typeface="TT Firs Neue"/>
                <a:sym typeface="TT Firs Neue"/>
              </a:rPr>
              <a:t>In concluzie, metadata leaks reprezinta una dintre cele mai importante provocari moderne din domeniul securitatii comunicatiilor. Desi protocoalele actuale utilizeaza mecanisme avansate de criptare pentru protejarea continutului mesajelor, metadatele continua sa ramana expuse intr-o anumita masura.</a:t>
            </a:r>
          </a:p>
        </p:txBody>
      </p:sp>
      <p:sp>
        <p:nvSpPr>
          <p:cNvPr id="12" name="TextBox 12"/>
          <p:cNvSpPr txBox="1"/>
          <p:nvPr/>
        </p:nvSpPr>
        <p:spPr>
          <a:xfrm>
            <a:off x="511601" y="5952300"/>
            <a:ext cx="10700041" cy="1544320"/>
          </a:xfrm>
          <a:prstGeom prst="rect">
            <a:avLst/>
          </a:prstGeom>
        </p:spPr>
        <p:txBody>
          <a:bodyPr lIns="0" tIns="0" rIns="0" bIns="0" rtlCol="0" anchor="t">
            <a:spAutoFit/>
          </a:bodyPr>
          <a:lstStyle/>
          <a:p>
            <a:pPr algn="l">
              <a:lnSpc>
                <a:spcPts val="3079"/>
              </a:lnSpc>
            </a:pPr>
            <a:r>
              <a:rPr lang="en-US" sz="2199">
                <a:solidFill>
                  <a:srgbClr val="011142"/>
                </a:solidFill>
                <a:latin typeface="TT Firs Neue"/>
                <a:ea typeface="TT Firs Neue"/>
                <a:cs typeface="TT Firs Neue"/>
                <a:sym typeface="TT Firs Neue"/>
              </a:rPr>
              <a:t>Analiza metadatelor poate dezvalui informatii sensibile despre utilizatori, precum relatiile sociale, locatiile frecventate sau infrastructura utilizata într-o organizație. In multe situatii, aceste informatii pot avea un impact major chiar și fara acces la continutul efectiv al comunicatiilor.</a:t>
            </a:r>
          </a:p>
        </p:txBody>
      </p:sp>
      <p:sp>
        <p:nvSpPr>
          <p:cNvPr id="13" name="Freeform 13"/>
          <p:cNvSpPr/>
          <p:nvPr/>
        </p:nvSpPr>
        <p:spPr>
          <a:xfrm flipH="1">
            <a:off x="-3318366" y="8726285"/>
            <a:ext cx="7315200" cy="1064029"/>
          </a:xfrm>
          <a:custGeom>
            <a:avLst/>
            <a:gdLst/>
            <a:ahLst/>
            <a:cxnLst/>
            <a:rect l="l" t="t" r="r" b="b"/>
            <a:pathLst>
              <a:path w="7315200" h="1064029">
                <a:moveTo>
                  <a:pt x="7315200" y="0"/>
                </a:moveTo>
                <a:lnTo>
                  <a:pt x="0" y="0"/>
                </a:lnTo>
                <a:lnTo>
                  <a:pt x="0" y="1064030"/>
                </a:lnTo>
                <a:lnTo>
                  <a:pt x="7315200" y="1064030"/>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Freeform 14"/>
          <p:cNvSpPr/>
          <p:nvPr/>
        </p:nvSpPr>
        <p:spPr>
          <a:xfrm flipH="1">
            <a:off x="13764948" y="696050"/>
            <a:ext cx="7315200" cy="1064029"/>
          </a:xfrm>
          <a:custGeom>
            <a:avLst/>
            <a:gdLst/>
            <a:ahLst/>
            <a:cxnLst/>
            <a:rect l="l" t="t" r="r" b="b"/>
            <a:pathLst>
              <a:path w="7315200" h="1064029">
                <a:moveTo>
                  <a:pt x="7315200" y="0"/>
                </a:moveTo>
                <a:lnTo>
                  <a:pt x="0" y="0"/>
                </a:lnTo>
                <a:lnTo>
                  <a:pt x="0" y="1064029"/>
                </a:lnTo>
                <a:lnTo>
                  <a:pt x="7315200" y="1064029"/>
                </a:lnTo>
                <a:lnTo>
                  <a:pt x="731520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sp>
        <p:nvSpPr>
          <p:cNvPr id="2" name="TextBox 2"/>
          <p:cNvSpPr txBox="1"/>
          <p:nvPr/>
        </p:nvSpPr>
        <p:spPr>
          <a:xfrm>
            <a:off x="1028700" y="3306356"/>
            <a:ext cx="16522047" cy="4962397"/>
          </a:xfrm>
          <a:prstGeom prst="rect">
            <a:avLst/>
          </a:prstGeom>
        </p:spPr>
        <p:txBody>
          <a:bodyPr lIns="0" tIns="0" rIns="0" bIns="0" rtlCol="0" anchor="t">
            <a:spAutoFit/>
          </a:bodyPr>
          <a:lstStyle/>
          <a:p>
            <a:pPr marL="669286" lvl="1" indent="-334643" algn="l">
              <a:lnSpc>
                <a:spcPts val="2820"/>
              </a:lnSpc>
              <a:buFont typeface="Arial"/>
              <a:buChar char="•"/>
            </a:pPr>
            <a:r>
              <a:rPr lang="en-US" sz="3099">
                <a:solidFill>
                  <a:srgbClr val="011142"/>
                </a:solidFill>
                <a:latin typeface="TT Firs Neue"/>
                <a:ea typeface="TT Firs Neue"/>
                <a:cs typeface="TT Firs Neue"/>
                <a:sym typeface="TT Firs Neue"/>
              </a:rPr>
              <a:t>https://ro.101-help.com/hdg-explica-ce-sunt-metadatele-si-cum-sunt-utilizate-36982bedf3/</a:t>
            </a:r>
          </a:p>
          <a:p>
            <a:pPr marL="669286" lvl="1" indent="-334643" algn="l">
              <a:lnSpc>
                <a:spcPts val="2820"/>
              </a:lnSpc>
              <a:buFont typeface="Arial"/>
              <a:buChar char="•"/>
            </a:pPr>
            <a:r>
              <a:rPr lang="en-US" sz="3099">
                <a:solidFill>
                  <a:srgbClr val="011142"/>
                </a:solidFill>
                <a:latin typeface="TT Firs Neue"/>
                <a:ea typeface="TT Firs Neue"/>
                <a:cs typeface="TT Firs Neue"/>
                <a:sym typeface="TT Firs Neue"/>
              </a:rPr>
              <a:t>https://ro.peopleperproject.com/posts/27973-what-is-metadata--definition-and-uses</a:t>
            </a:r>
          </a:p>
          <a:p>
            <a:pPr marL="669286" lvl="1" indent="-334643" algn="l">
              <a:lnSpc>
                <a:spcPts val="2820"/>
              </a:lnSpc>
              <a:buFont typeface="Arial"/>
              <a:buChar char="•"/>
            </a:pPr>
            <a:r>
              <a:rPr lang="en-US" sz="3099">
                <a:solidFill>
                  <a:srgbClr val="011142"/>
                </a:solidFill>
                <a:latin typeface="TT Firs Neue"/>
                <a:ea typeface="TT Firs Neue"/>
                <a:cs typeface="TT Firs Neue"/>
                <a:sym typeface="TT Firs Neue"/>
              </a:rPr>
              <a:t>https://www.forbes.com/sites/zakdoffman/2025/09/04/250-million-personal-identities-published-in-massive-data-leak/</a:t>
            </a:r>
          </a:p>
          <a:p>
            <a:pPr marL="669286" lvl="1" indent="-334643" algn="l">
              <a:lnSpc>
                <a:spcPts val="2820"/>
              </a:lnSpc>
              <a:buFont typeface="Arial"/>
              <a:buChar char="•"/>
            </a:pPr>
            <a:r>
              <a:rPr lang="en-US" sz="3099">
                <a:solidFill>
                  <a:srgbClr val="011142"/>
                </a:solidFill>
                <a:latin typeface="TT Firs Neue"/>
                <a:ea typeface="TT Firs Neue"/>
                <a:cs typeface="TT Firs Neue"/>
                <a:sym typeface="TT Firs Neue"/>
              </a:rPr>
              <a:t>https://dev.to/devtechinsights/why-every-developer-should-care-about-metadata-leaks-565e</a:t>
            </a:r>
          </a:p>
          <a:p>
            <a:pPr marL="669286" lvl="1" indent="-334643" algn="l">
              <a:lnSpc>
                <a:spcPts val="2820"/>
              </a:lnSpc>
              <a:buFont typeface="Arial"/>
              <a:buChar char="•"/>
            </a:pPr>
            <a:r>
              <a:rPr lang="en-US" sz="3099">
                <a:solidFill>
                  <a:srgbClr val="011142"/>
                </a:solidFill>
                <a:latin typeface="TT Firs Neue"/>
                <a:ea typeface="TT Firs Neue"/>
                <a:cs typeface="TT Firs Neue"/>
                <a:sym typeface="TT Firs Neue"/>
              </a:rPr>
              <a:t>https://emmatrowbridge.github.io/Excuse-Me-Your-Data-Is-Leaking/2025/05/27/Exposed-by-Metadata.html</a:t>
            </a:r>
          </a:p>
          <a:p>
            <a:pPr marL="669286" lvl="1" indent="-334643" algn="l">
              <a:lnSpc>
                <a:spcPts val="2820"/>
              </a:lnSpc>
              <a:buFont typeface="Arial"/>
              <a:buChar char="•"/>
            </a:pPr>
            <a:r>
              <a:rPr lang="en-US" sz="3099">
                <a:solidFill>
                  <a:srgbClr val="011142"/>
                </a:solidFill>
                <a:latin typeface="TT Firs Neue"/>
                <a:ea typeface="TT Firs Neue"/>
                <a:cs typeface="TT Firs Neue"/>
                <a:sym typeface="TT Firs Neue"/>
              </a:rPr>
              <a:t>https://innovirtuoso.com/cybersecurity/why-metadata-can-betray-you-hidden-file-data-hackers-exploit-and-how-to-remove-it/</a:t>
            </a:r>
          </a:p>
          <a:p>
            <a:pPr marL="669286" lvl="1" indent="-334643" algn="l">
              <a:lnSpc>
                <a:spcPts val="2820"/>
              </a:lnSpc>
              <a:buFont typeface="Arial"/>
              <a:buChar char="•"/>
            </a:pPr>
            <a:r>
              <a:rPr lang="en-US" sz="3099">
                <a:solidFill>
                  <a:srgbClr val="011142"/>
                </a:solidFill>
                <a:latin typeface="TT Firs Neue"/>
                <a:ea typeface="TT Firs Neue"/>
                <a:cs typeface="TT Firs Neue"/>
                <a:sym typeface="TT Firs Neue"/>
              </a:rPr>
              <a:t>https://www.cybersecurity-insiders.com/whatsapp-vulnerability-leaks-meta-data-of-3-5-billion-users/</a:t>
            </a:r>
          </a:p>
        </p:txBody>
      </p:sp>
      <p:sp>
        <p:nvSpPr>
          <p:cNvPr id="3" name="TextBox 3"/>
          <p:cNvSpPr txBox="1"/>
          <p:nvPr/>
        </p:nvSpPr>
        <p:spPr>
          <a:xfrm>
            <a:off x="1517009" y="1088770"/>
            <a:ext cx="8046193" cy="1566544"/>
          </a:xfrm>
          <a:prstGeom prst="rect">
            <a:avLst/>
          </a:prstGeom>
        </p:spPr>
        <p:txBody>
          <a:bodyPr lIns="0" tIns="0" rIns="0" bIns="0" rtlCol="0" anchor="t">
            <a:spAutoFit/>
          </a:bodyPr>
          <a:lstStyle/>
          <a:p>
            <a:pPr algn="ctr">
              <a:lnSpc>
                <a:spcPts val="12880"/>
              </a:lnSpc>
            </a:pPr>
            <a:r>
              <a:rPr lang="en-US" sz="9200" b="1">
                <a:solidFill>
                  <a:srgbClr val="011142"/>
                </a:solidFill>
                <a:latin typeface="Canva Sans Bold"/>
                <a:ea typeface="Canva Sans Bold"/>
                <a:cs typeface="Canva Sans Bold"/>
                <a:sym typeface="Canva Sans Bold"/>
              </a:rPr>
              <a:t>Bibliografie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0CEF1"/>
        </a:solidFill>
        <a:effectLst/>
      </p:bgPr>
    </p:bg>
    <p:spTree>
      <p:nvGrpSpPr>
        <p:cNvPr id="1" name=""/>
        <p:cNvGrpSpPr/>
        <p:nvPr/>
      </p:nvGrpSpPr>
      <p:grpSpPr>
        <a:xfrm>
          <a:off x="0" y="0"/>
          <a:ext cx="0" cy="0"/>
          <a:chOff x="0" y="0"/>
          <a:chExt cx="0" cy="0"/>
        </a:xfrm>
      </p:grpSpPr>
      <p:sp>
        <p:nvSpPr>
          <p:cNvPr id="2" name="Freeform 2"/>
          <p:cNvSpPr/>
          <p:nvPr/>
        </p:nvSpPr>
        <p:spPr>
          <a:xfrm flipH="1">
            <a:off x="13601700" y="8726285"/>
            <a:ext cx="7315200" cy="1064029"/>
          </a:xfrm>
          <a:custGeom>
            <a:avLst/>
            <a:gdLst/>
            <a:ahLst/>
            <a:cxnLst/>
            <a:rect l="l" t="t" r="r" b="b"/>
            <a:pathLst>
              <a:path w="7315200" h="1064029">
                <a:moveTo>
                  <a:pt x="7315200" y="0"/>
                </a:moveTo>
                <a:lnTo>
                  <a:pt x="0" y="0"/>
                </a:lnTo>
                <a:lnTo>
                  <a:pt x="0" y="1064030"/>
                </a:lnTo>
                <a:lnTo>
                  <a:pt x="7315200" y="1064030"/>
                </a:lnTo>
                <a:lnTo>
                  <a:pt x="73152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a:off x="-1607344" y="330360"/>
            <a:ext cx="7315200" cy="1064029"/>
          </a:xfrm>
          <a:custGeom>
            <a:avLst/>
            <a:gdLst/>
            <a:ahLst/>
            <a:cxnLst/>
            <a:rect l="l" t="t" r="r" b="b"/>
            <a:pathLst>
              <a:path w="7315200" h="1064029">
                <a:moveTo>
                  <a:pt x="7315200" y="0"/>
                </a:moveTo>
                <a:lnTo>
                  <a:pt x="0" y="0"/>
                </a:lnTo>
                <a:lnTo>
                  <a:pt x="0" y="1064030"/>
                </a:lnTo>
                <a:lnTo>
                  <a:pt x="7315200" y="1064030"/>
                </a:lnTo>
                <a:lnTo>
                  <a:pt x="73152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9895709" y="2278394"/>
            <a:ext cx="7363591" cy="5730213"/>
          </a:xfrm>
          <a:custGeom>
            <a:avLst/>
            <a:gdLst/>
            <a:ahLst/>
            <a:cxnLst/>
            <a:rect l="l" t="t" r="r" b="b"/>
            <a:pathLst>
              <a:path w="7363591" h="5730213">
                <a:moveTo>
                  <a:pt x="0" y="0"/>
                </a:moveTo>
                <a:lnTo>
                  <a:pt x="7363591" y="0"/>
                </a:lnTo>
                <a:lnTo>
                  <a:pt x="7363591" y="5730212"/>
                </a:lnTo>
                <a:lnTo>
                  <a:pt x="0" y="5730212"/>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Freeform 5"/>
          <p:cNvSpPr/>
          <p:nvPr/>
        </p:nvSpPr>
        <p:spPr>
          <a:xfrm>
            <a:off x="8383586" y="3122107"/>
            <a:ext cx="3792868" cy="4042785"/>
          </a:xfrm>
          <a:custGeom>
            <a:avLst/>
            <a:gdLst/>
            <a:ahLst/>
            <a:cxnLst/>
            <a:rect l="l" t="t" r="r" b="b"/>
            <a:pathLst>
              <a:path w="3792868" h="4042785">
                <a:moveTo>
                  <a:pt x="0" y="0"/>
                </a:moveTo>
                <a:lnTo>
                  <a:pt x="3792868" y="0"/>
                </a:lnTo>
                <a:lnTo>
                  <a:pt x="3792868" y="4042786"/>
                </a:lnTo>
                <a:lnTo>
                  <a:pt x="0" y="4042786"/>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6" name="TextBox 6"/>
          <p:cNvSpPr txBox="1"/>
          <p:nvPr/>
        </p:nvSpPr>
        <p:spPr>
          <a:xfrm>
            <a:off x="632978" y="4677333"/>
            <a:ext cx="7750608" cy="950726"/>
          </a:xfrm>
          <a:prstGeom prst="rect">
            <a:avLst/>
          </a:prstGeom>
        </p:spPr>
        <p:txBody>
          <a:bodyPr lIns="0" tIns="0" rIns="0" bIns="0" rtlCol="0" anchor="t">
            <a:spAutoFit/>
          </a:bodyPr>
          <a:lstStyle/>
          <a:p>
            <a:pPr algn="l">
              <a:lnSpc>
                <a:spcPts val="7016"/>
              </a:lnSpc>
            </a:pPr>
            <a:r>
              <a:rPr lang="en-US" sz="7710" b="1">
                <a:solidFill>
                  <a:srgbClr val="011142"/>
                </a:solidFill>
                <a:latin typeface="TT Firs Neue Bold"/>
                <a:ea typeface="TT Firs Neue Bold"/>
                <a:cs typeface="TT Firs Neue Bold"/>
                <a:sym typeface="TT Firs Neue Bold"/>
              </a:rPr>
              <a:t>Va multumesc!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365</TotalTime>
  <Words>978</Words>
  <Application>Microsoft Office PowerPoint</Application>
  <PresentationFormat>Custom</PresentationFormat>
  <Paragraphs>107</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TT Firs Neue</vt:lpstr>
      <vt:lpstr>Calibri</vt:lpstr>
      <vt:lpstr>TT Firs Neue Bold</vt:lpstr>
      <vt:lpstr>Arial</vt:lpstr>
      <vt:lpstr>Canva Sans Bold</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Cyber Security Presentation</dc:title>
  <cp:lastModifiedBy>Flavia Paula</cp:lastModifiedBy>
  <cp:revision>6</cp:revision>
  <dcterms:created xsi:type="dcterms:W3CDTF">2006-08-16T00:00:00Z</dcterms:created>
  <dcterms:modified xsi:type="dcterms:W3CDTF">2026-05-25T16:51:30Z</dcterms:modified>
  <dc:identifier>DAHJFSnNo8E</dc:identifier>
</cp:coreProperties>
</file>